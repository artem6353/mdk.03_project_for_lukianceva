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61" r:id="rId4"/>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113">
          <p15:clr>
            <a:srgbClr val="A4A3A4"/>
          </p15:clr>
        </p15:guide>
        <p15:guide id="3" orient="horz" pos="3175">
          <p15:clr>
            <a:srgbClr val="A4A3A4"/>
          </p15:clr>
        </p15:guide>
        <p15:guide id="4" pos="2880">
          <p15:clr>
            <a:srgbClr val="A4A3A4"/>
          </p15:clr>
        </p15:guide>
        <p15:guide id="5" pos="5647">
          <p15:clr>
            <a:srgbClr val="A4A3A4"/>
          </p15:clr>
        </p15:guide>
        <p15:guide id="6" orient="horz" pos="31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113"/>
        <p:guide pos="3175" orient="horz"/>
        <p:guide pos="2880"/>
        <p:guide pos="5647"/>
        <p:guide pos="31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46" Type="http://schemas.openxmlformats.org/officeDocument/2006/relationships/slide" Target="slides/slide39.xml"/><Relationship Id="rId23" Type="http://schemas.openxmlformats.org/officeDocument/2006/relationships/slide" Target="slides/slide16.xml"/><Relationship Id="rId45" Type="http://schemas.openxmlformats.org/officeDocument/2006/relationships/slide" Target="slides/slide38.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48" Type="http://schemas.openxmlformats.org/officeDocument/2006/relationships/slide" Target="slides/slide41.xml"/><Relationship Id="rId25" Type="http://schemas.openxmlformats.org/officeDocument/2006/relationships/slide" Target="slides/slide18.xml"/><Relationship Id="rId47" Type="http://schemas.openxmlformats.org/officeDocument/2006/relationships/slide" Target="slides/slide40.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0" name="Shape 70"/>
        <p:cNvGrpSpPr/>
        <p:nvPr/>
      </p:nvGrpSpPr>
      <p:grpSpPr>
        <a:xfrm>
          <a:off x="0" y="0"/>
          <a:ext cx="0" cy="0"/>
          <a:chOff x="0" y="0"/>
          <a:chExt cx="0" cy="0"/>
        </a:xfrm>
      </p:grpSpPr>
      <p:sp>
        <p:nvSpPr>
          <p:cNvPr id="71" name="Google Shape;71;g3e14ea9d35_3_10:notes"/>
          <p:cNvSpPr txBox="1"/>
          <p:nvPr>
            <p:ph idx="1" type="body"/>
          </p:nvPr>
        </p:nvSpPr>
        <p:spPr>
          <a:xfrm>
            <a:off x="685797" y="4343387"/>
            <a:ext cx="5486398" cy="4114794"/>
          </a:xfrm>
          <a:prstGeom prst="rect">
            <a:avLst/>
          </a:prstGeom>
        </p:spPr>
        <p:txBody>
          <a:bodyPr anchorCtr="0" anchor="t" bIns="45425" lIns="45425" spcFirstLastPara="1" rIns="45425" wrap="square" tIns="45425">
            <a:noAutofit/>
          </a:bodyPr>
          <a:lstStyle/>
          <a:p>
            <a:pPr indent="0" lvl="0" marL="0">
              <a:spcBef>
                <a:spcPts val="0"/>
              </a:spcBef>
              <a:spcAft>
                <a:spcPts val="0"/>
              </a:spcAft>
              <a:buNone/>
            </a:pPr>
            <a:r>
              <a:t/>
            </a:r>
            <a:endParaRPr/>
          </a:p>
        </p:txBody>
      </p:sp>
      <p:sp>
        <p:nvSpPr>
          <p:cNvPr id="72" name="Google Shape;72;g3e14ea9d35_3_10:notes"/>
          <p:cNvSpPr/>
          <p:nvPr>
            <p:ph idx="2" type="sldImg"/>
          </p:nvPr>
        </p:nvSpPr>
        <p:spPr>
          <a:xfrm>
            <a:off x="1143067" y="685799"/>
            <a:ext cx="4572548" cy="342899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6" name="Shape 76"/>
        <p:cNvGrpSpPr/>
        <p:nvPr/>
      </p:nvGrpSpPr>
      <p:grpSpPr>
        <a:xfrm>
          <a:off x="0" y="0"/>
          <a:ext cx="0" cy="0"/>
          <a:chOff x="0" y="0"/>
          <a:chExt cx="0" cy="0"/>
        </a:xfrm>
      </p:grpSpPr>
      <p:sp>
        <p:nvSpPr>
          <p:cNvPr id="77" name="Google Shape;77;g3e14ea9d35_3_26:notes"/>
          <p:cNvSpPr txBox="1"/>
          <p:nvPr>
            <p:ph idx="1" type="body"/>
          </p:nvPr>
        </p:nvSpPr>
        <p:spPr>
          <a:xfrm>
            <a:off x="685797" y="4343387"/>
            <a:ext cx="5486398" cy="4114794"/>
          </a:xfrm>
          <a:prstGeom prst="rect">
            <a:avLst/>
          </a:prstGeom>
        </p:spPr>
        <p:txBody>
          <a:bodyPr anchorCtr="0" anchor="t" bIns="45425" lIns="45425" spcFirstLastPara="1" rIns="45425" wrap="square" tIns="45425">
            <a:noAutofit/>
          </a:bodyPr>
          <a:lstStyle/>
          <a:p>
            <a:pPr indent="0" lvl="0" marL="0">
              <a:spcBef>
                <a:spcPts val="0"/>
              </a:spcBef>
              <a:spcAft>
                <a:spcPts val="0"/>
              </a:spcAft>
              <a:buNone/>
            </a:pPr>
            <a:r>
              <a:t/>
            </a:r>
            <a:endParaRPr/>
          </a:p>
        </p:txBody>
      </p:sp>
      <p:sp>
        <p:nvSpPr>
          <p:cNvPr id="78" name="Google Shape;78;g3e14ea9d35_3_26:notes"/>
          <p:cNvSpPr/>
          <p:nvPr>
            <p:ph idx="2" type="sldImg"/>
          </p:nvPr>
        </p:nvSpPr>
        <p:spPr>
          <a:xfrm>
            <a:off x="1143067" y="685799"/>
            <a:ext cx="4572548" cy="342899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 name="Shape 82"/>
        <p:cNvGrpSpPr/>
        <p:nvPr/>
      </p:nvGrpSpPr>
      <p:grpSpPr>
        <a:xfrm>
          <a:off x="0" y="0"/>
          <a:ext cx="0" cy="0"/>
          <a:chOff x="0" y="0"/>
          <a:chExt cx="0" cy="0"/>
        </a:xfrm>
      </p:grpSpPr>
      <p:sp>
        <p:nvSpPr>
          <p:cNvPr id="83" name="Google Shape;83;g3e14ea9d35_3_31:notes"/>
          <p:cNvSpPr txBox="1"/>
          <p:nvPr>
            <p:ph idx="1" type="body"/>
          </p:nvPr>
        </p:nvSpPr>
        <p:spPr>
          <a:xfrm>
            <a:off x="685797" y="4343387"/>
            <a:ext cx="5486398" cy="4114794"/>
          </a:xfrm>
          <a:prstGeom prst="rect">
            <a:avLst/>
          </a:prstGeom>
        </p:spPr>
        <p:txBody>
          <a:bodyPr anchorCtr="0" anchor="t" bIns="45425" lIns="45425" spcFirstLastPara="1" rIns="45425" wrap="square" tIns="45425">
            <a:noAutofit/>
          </a:bodyPr>
          <a:lstStyle/>
          <a:p>
            <a:pPr indent="0" lvl="0" marL="0">
              <a:spcBef>
                <a:spcPts val="0"/>
              </a:spcBef>
              <a:spcAft>
                <a:spcPts val="0"/>
              </a:spcAft>
              <a:buNone/>
            </a:pPr>
            <a:r>
              <a:t/>
            </a:r>
            <a:endParaRPr/>
          </a:p>
        </p:txBody>
      </p:sp>
      <p:sp>
        <p:nvSpPr>
          <p:cNvPr id="84" name="Google Shape;84;g3e14ea9d35_3_31:notes"/>
          <p:cNvSpPr/>
          <p:nvPr>
            <p:ph idx="2" type="sldImg"/>
          </p:nvPr>
        </p:nvSpPr>
        <p:spPr>
          <a:xfrm>
            <a:off x="1143067" y="685799"/>
            <a:ext cx="4572548" cy="342899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 name="Shape 89"/>
        <p:cNvGrpSpPr/>
        <p:nvPr/>
      </p:nvGrpSpPr>
      <p:grpSpPr>
        <a:xfrm>
          <a:off x="0" y="0"/>
          <a:ext cx="0" cy="0"/>
          <a:chOff x="0" y="0"/>
          <a:chExt cx="0" cy="0"/>
        </a:xfrm>
      </p:grpSpPr>
      <p:sp>
        <p:nvSpPr>
          <p:cNvPr id="90" name="Google Shape;90;g3e14ea9d35_3_36:notes"/>
          <p:cNvSpPr txBox="1"/>
          <p:nvPr>
            <p:ph idx="1" type="body"/>
          </p:nvPr>
        </p:nvSpPr>
        <p:spPr>
          <a:xfrm>
            <a:off x="685797" y="4343387"/>
            <a:ext cx="5486398" cy="4114794"/>
          </a:xfrm>
          <a:prstGeom prst="rect">
            <a:avLst/>
          </a:prstGeom>
        </p:spPr>
        <p:txBody>
          <a:bodyPr anchorCtr="0" anchor="t" bIns="45425" lIns="45425" spcFirstLastPara="1" rIns="45425" wrap="square" tIns="45425">
            <a:noAutofit/>
          </a:bodyPr>
          <a:lstStyle/>
          <a:p>
            <a:pPr indent="0" lvl="0" marL="0">
              <a:spcBef>
                <a:spcPts val="0"/>
              </a:spcBef>
              <a:spcAft>
                <a:spcPts val="0"/>
              </a:spcAft>
              <a:buNone/>
            </a:pPr>
            <a:r>
              <a:t/>
            </a:r>
            <a:endParaRPr/>
          </a:p>
        </p:txBody>
      </p:sp>
      <p:sp>
        <p:nvSpPr>
          <p:cNvPr id="91" name="Google Shape;91;g3e14ea9d35_3_36:notes"/>
          <p:cNvSpPr/>
          <p:nvPr>
            <p:ph idx="2" type="sldImg"/>
          </p:nvPr>
        </p:nvSpPr>
        <p:spPr>
          <a:xfrm>
            <a:off x="1143067" y="685799"/>
            <a:ext cx="4572548" cy="342899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6" name="Shape 96"/>
        <p:cNvGrpSpPr/>
        <p:nvPr/>
      </p:nvGrpSpPr>
      <p:grpSpPr>
        <a:xfrm>
          <a:off x="0" y="0"/>
          <a:ext cx="0" cy="0"/>
          <a:chOff x="0" y="0"/>
          <a:chExt cx="0" cy="0"/>
        </a:xfrm>
      </p:grpSpPr>
      <p:sp>
        <p:nvSpPr>
          <p:cNvPr id="97" name="Google Shape;97;g3e14ea9d35_3_46:notes"/>
          <p:cNvSpPr txBox="1"/>
          <p:nvPr>
            <p:ph idx="1" type="body"/>
          </p:nvPr>
        </p:nvSpPr>
        <p:spPr>
          <a:xfrm>
            <a:off x="685797" y="4343387"/>
            <a:ext cx="5486398" cy="4114794"/>
          </a:xfrm>
          <a:prstGeom prst="rect">
            <a:avLst/>
          </a:prstGeom>
        </p:spPr>
        <p:txBody>
          <a:bodyPr anchorCtr="0" anchor="t" bIns="45425" lIns="45425" spcFirstLastPara="1" rIns="45425" wrap="square" tIns="45425">
            <a:noAutofit/>
          </a:bodyPr>
          <a:lstStyle/>
          <a:p>
            <a:pPr indent="0" lvl="0" marL="0">
              <a:spcBef>
                <a:spcPts val="0"/>
              </a:spcBef>
              <a:spcAft>
                <a:spcPts val="0"/>
              </a:spcAft>
              <a:buNone/>
            </a:pPr>
            <a:r>
              <a:t/>
            </a:r>
            <a:endParaRPr/>
          </a:p>
        </p:txBody>
      </p:sp>
      <p:sp>
        <p:nvSpPr>
          <p:cNvPr id="98" name="Google Shape;98;g3e14ea9d35_3_46:notes"/>
          <p:cNvSpPr/>
          <p:nvPr>
            <p:ph idx="2" type="sldImg"/>
          </p:nvPr>
        </p:nvSpPr>
        <p:spPr>
          <a:xfrm>
            <a:off x="1143067" y="685799"/>
            <a:ext cx="4572548" cy="342899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3" name="Shape 103"/>
        <p:cNvGrpSpPr/>
        <p:nvPr/>
      </p:nvGrpSpPr>
      <p:grpSpPr>
        <a:xfrm>
          <a:off x="0" y="0"/>
          <a:ext cx="0" cy="0"/>
          <a:chOff x="0" y="0"/>
          <a:chExt cx="0" cy="0"/>
        </a:xfrm>
      </p:grpSpPr>
      <p:sp>
        <p:nvSpPr>
          <p:cNvPr id="104" name="Google Shape;104;g3e14ea9d35_3_51:notes"/>
          <p:cNvSpPr txBox="1"/>
          <p:nvPr>
            <p:ph idx="1" type="body"/>
          </p:nvPr>
        </p:nvSpPr>
        <p:spPr>
          <a:xfrm>
            <a:off x="685797" y="4343387"/>
            <a:ext cx="5486398" cy="4114794"/>
          </a:xfrm>
          <a:prstGeom prst="rect">
            <a:avLst/>
          </a:prstGeom>
        </p:spPr>
        <p:txBody>
          <a:bodyPr anchorCtr="0" anchor="t" bIns="45425" lIns="45425" spcFirstLastPara="1" rIns="45425" wrap="square" tIns="45425">
            <a:noAutofit/>
          </a:bodyPr>
          <a:lstStyle/>
          <a:p>
            <a:pPr indent="0" lvl="0" marL="0">
              <a:spcBef>
                <a:spcPts val="0"/>
              </a:spcBef>
              <a:spcAft>
                <a:spcPts val="0"/>
              </a:spcAft>
              <a:buNone/>
            </a:pPr>
            <a:r>
              <a:t/>
            </a:r>
            <a:endParaRPr/>
          </a:p>
        </p:txBody>
      </p:sp>
      <p:sp>
        <p:nvSpPr>
          <p:cNvPr id="105" name="Google Shape;105;g3e14ea9d35_3_51:notes"/>
          <p:cNvSpPr/>
          <p:nvPr>
            <p:ph idx="2" type="sldImg"/>
          </p:nvPr>
        </p:nvSpPr>
        <p:spPr>
          <a:xfrm>
            <a:off x="1143067" y="685799"/>
            <a:ext cx="4572548" cy="342899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9" name="Shape 109"/>
        <p:cNvGrpSpPr/>
        <p:nvPr/>
      </p:nvGrpSpPr>
      <p:grpSpPr>
        <a:xfrm>
          <a:off x="0" y="0"/>
          <a:ext cx="0" cy="0"/>
          <a:chOff x="0" y="0"/>
          <a:chExt cx="0" cy="0"/>
        </a:xfrm>
      </p:grpSpPr>
      <p:sp>
        <p:nvSpPr>
          <p:cNvPr id="110" name="Google Shape;110;g3e14ea9d35_1_15: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11" name="Google Shape;111;g3e14ea9d35_1_15: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5" name="Shape 115"/>
        <p:cNvGrpSpPr/>
        <p:nvPr/>
      </p:nvGrpSpPr>
      <p:grpSpPr>
        <a:xfrm>
          <a:off x="0" y="0"/>
          <a:ext cx="0" cy="0"/>
          <a:chOff x="0" y="0"/>
          <a:chExt cx="0" cy="0"/>
        </a:xfrm>
      </p:grpSpPr>
      <p:sp>
        <p:nvSpPr>
          <p:cNvPr id="116" name="Google Shape;116;g3e14ea9d35_1_21: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17" name="Google Shape;117;g3e14ea9d35_1_21: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Google Shape;122;g3e14ea9d35_1_30: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23" name="Google Shape;123;g3e14ea9d35_1_30: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7" name="Shape 127"/>
        <p:cNvGrpSpPr/>
        <p:nvPr/>
      </p:nvGrpSpPr>
      <p:grpSpPr>
        <a:xfrm>
          <a:off x="0" y="0"/>
          <a:ext cx="0" cy="0"/>
          <a:chOff x="0" y="0"/>
          <a:chExt cx="0" cy="0"/>
        </a:xfrm>
      </p:grpSpPr>
      <p:sp>
        <p:nvSpPr>
          <p:cNvPr id="128" name="Google Shape;128;g3e14ea9d35_1_36: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29" name="Google Shape;129;g3e14ea9d35_1_36: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3" name="Shape 133"/>
        <p:cNvGrpSpPr/>
        <p:nvPr/>
      </p:nvGrpSpPr>
      <p:grpSpPr>
        <a:xfrm>
          <a:off x="0" y="0"/>
          <a:ext cx="0" cy="0"/>
          <a:chOff x="0" y="0"/>
          <a:chExt cx="0" cy="0"/>
        </a:xfrm>
      </p:grpSpPr>
      <p:sp>
        <p:nvSpPr>
          <p:cNvPr id="134" name="Google Shape;134;g3ee1a7f609_7_6: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35" name="Google Shape;135;g3ee1a7f609_7_6: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9" name="Shape 139"/>
        <p:cNvGrpSpPr/>
        <p:nvPr/>
      </p:nvGrpSpPr>
      <p:grpSpPr>
        <a:xfrm>
          <a:off x="0" y="0"/>
          <a:ext cx="0" cy="0"/>
          <a:chOff x="0" y="0"/>
          <a:chExt cx="0" cy="0"/>
        </a:xfrm>
      </p:grpSpPr>
      <p:sp>
        <p:nvSpPr>
          <p:cNvPr id="140" name="Google Shape;140;g3ee1a7f609_7_14: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41" name="Google Shape;141;g3ee1a7f609_7_14: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5" name="Shape 145"/>
        <p:cNvGrpSpPr/>
        <p:nvPr/>
      </p:nvGrpSpPr>
      <p:grpSpPr>
        <a:xfrm>
          <a:off x="0" y="0"/>
          <a:ext cx="0" cy="0"/>
          <a:chOff x="0" y="0"/>
          <a:chExt cx="0" cy="0"/>
        </a:xfrm>
      </p:grpSpPr>
      <p:sp>
        <p:nvSpPr>
          <p:cNvPr id="146" name="Google Shape;146;g3e14ea9d35_1_50: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47" name="Google Shape;147;g3e14ea9d35_1_50: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2" name="Shape 152"/>
        <p:cNvGrpSpPr/>
        <p:nvPr/>
      </p:nvGrpSpPr>
      <p:grpSpPr>
        <a:xfrm>
          <a:off x="0" y="0"/>
          <a:ext cx="0" cy="0"/>
          <a:chOff x="0" y="0"/>
          <a:chExt cx="0" cy="0"/>
        </a:xfrm>
      </p:grpSpPr>
      <p:sp>
        <p:nvSpPr>
          <p:cNvPr id="153" name="Google Shape;153;g3e14ea9d35_1_60: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54" name="Google Shape;154;g3e14ea9d35_1_60: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9" name="Shape 159"/>
        <p:cNvGrpSpPr/>
        <p:nvPr/>
      </p:nvGrpSpPr>
      <p:grpSpPr>
        <a:xfrm>
          <a:off x="0" y="0"/>
          <a:ext cx="0" cy="0"/>
          <a:chOff x="0" y="0"/>
          <a:chExt cx="0" cy="0"/>
        </a:xfrm>
      </p:grpSpPr>
      <p:sp>
        <p:nvSpPr>
          <p:cNvPr id="160" name="Google Shape;160;g3e14ea9d35_1_70: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61" name="Google Shape;161;g3e14ea9d35_1_70: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Google Shape;167;g3e14ea9d35_1_79: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68" name="Google Shape;168;g3e14ea9d35_1_79: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2" name="Shape 172"/>
        <p:cNvGrpSpPr/>
        <p:nvPr/>
      </p:nvGrpSpPr>
      <p:grpSpPr>
        <a:xfrm>
          <a:off x="0" y="0"/>
          <a:ext cx="0" cy="0"/>
          <a:chOff x="0" y="0"/>
          <a:chExt cx="0" cy="0"/>
        </a:xfrm>
      </p:grpSpPr>
      <p:sp>
        <p:nvSpPr>
          <p:cNvPr id="173" name="Google Shape;173;g3e14ea9d35_1_91: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74" name="Google Shape;174;g3e14ea9d35_1_91: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8" name="Shape 178"/>
        <p:cNvGrpSpPr/>
        <p:nvPr/>
      </p:nvGrpSpPr>
      <p:grpSpPr>
        <a:xfrm>
          <a:off x="0" y="0"/>
          <a:ext cx="0" cy="0"/>
          <a:chOff x="0" y="0"/>
          <a:chExt cx="0" cy="0"/>
        </a:xfrm>
      </p:grpSpPr>
      <p:sp>
        <p:nvSpPr>
          <p:cNvPr id="179" name="Google Shape;179;g3e14ea9d35_1_97: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80" name="Google Shape;180;g3e14ea9d35_1_97: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6" name="Shape 186"/>
        <p:cNvGrpSpPr/>
        <p:nvPr/>
      </p:nvGrpSpPr>
      <p:grpSpPr>
        <a:xfrm>
          <a:off x="0" y="0"/>
          <a:ext cx="0" cy="0"/>
          <a:chOff x="0" y="0"/>
          <a:chExt cx="0" cy="0"/>
        </a:xfrm>
      </p:grpSpPr>
      <p:sp>
        <p:nvSpPr>
          <p:cNvPr id="187" name="Google Shape;187;g3e14ea9d35_1_104: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88" name="Google Shape;188;g3e14ea9d35_1_104: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2" name="Shape 192"/>
        <p:cNvGrpSpPr/>
        <p:nvPr/>
      </p:nvGrpSpPr>
      <p:grpSpPr>
        <a:xfrm>
          <a:off x="0" y="0"/>
          <a:ext cx="0" cy="0"/>
          <a:chOff x="0" y="0"/>
          <a:chExt cx="0" cy="0"/>
        </a:xfrm>
      </p:grpSpPr>
      <p:sp>
        <p:nvSpPr>
          <p:cNvPr id="193" name="Google Shape;193;g3e14ea9d35_1_112: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194" name="Google Shape;194;g3e14ea9d35_1_112: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8" name="Shape 198"/>
        <p:cNvGrpSpPr/>
        <p:nvPr/>
      </p:nvGrpSpPr>
      <p:grpSpPr>
        <a:xfrm>
          <a:off x="0" y="0"/>
          <a:ext cx="0" cy="0"/>
          <a:chOff x="0" y="0"/>
          <a:chExt cx="0" cy="0"/>
        </a:xfrm>
      </p:grpSpPr>
      <p:sp>
        <p:nvSpPr>
          <p:cNvPr id="199" name="Google Shape;199;g3ee1a7f609_7_0: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00" name="Google Shape;200;g3ee1a7f609_7_0: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4" name="Shape 204"/>
        <p:cNvGrpSpPr/>
        <p:nvPr/>
      </p:nvGrpSpPr>
      <p:grpSpPr>
        <a:xfrm>
          <a:off x="0" y="0"/>
          <a:ext cx="0" cy="0"/>
          <a:chOff x="0" y="0"/>
          <a:chExt cx="0" cy="0"/>
        </a:xfrm>
      </p:grpSpPr>
      <p:sp>
        <p:nvSpPr>
          <p:cNvPr id="205" name="Google Shape;205;g3e14ea9d35_1_124: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06" name="Google Shape;206;g3e14ea9d35_1_124: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g3e14ea9d35_1_133: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12" name="Google Shape;212;g3e14ea9d35_1_133: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6" name="Shape 216"/>
        <p:cNvGrpSpPr/>
        <p:nvPr/>
      </p:nvGrpSpPr>
      <p:grpSpPr>
        <a:xfrm>
          <a:off x="0" y="0"/>
          <a:ext cx="0" cy="0"/>
          <a:chOff x="0" y="0"/>
          <a:chExt cx="0" cy="0"/>
        </a:xfrm>
      </p:grpSpPr>
      <p:sp>
        <p:nvSpPr>
          <p:cNvPr id="217" name="Google Shape;217;g3e14ea9d35_1_142: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18" name="Google Shape;218;g3e14ea9d35_1_142: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3" name="Shape 223"/>
        <p:cNvGrpSpPr/>
        <p:nvPr/>
      </p:nvGrpSpPr>
      <p:grpSpPr>
        <a:xfrm>
          <a:off x="0" y="0"/>
          <a:ext cx="0" cy="0"/>
          <a:chOff x="0" y="0"/>
          <a:chExt cx="0" cy="0"/>
        </a:xfrm>
      </p:grpSpPr>
      <p:sp>
        <p:nvSpPr>
          <p:cNvPr id="224" name="Google Shape;224;g3dd9d7353b_4_0: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25" name="Google Shape;225;g3dd9d7353b_4_0: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9" name="Shape 229"/>
        <p:cNvGrpSpPr/>
        <p:nvPr/>
      </p:nvGrpSpPr>
      <p:grpSpPr>
        <a:xfrm>
          <a:off x="0" y="0"/>
          <a:ext cx="0" cy="0"/>
          <a:chOff x="0" y="0"/>
          <a:chExt cx="0" cy="0"/>
        </a:xfrm>
      </p:grpSpPr>
      <p:sp>
        <p:nvSpPr>
          <p:cNvPr id="230" name="Google Shape;230;g3dd9d7353b_4_9: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31" name="Google Shape;231;g3dd9d7353b_4_9: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5" name="Shape 235"/>
        <p:cNvGrpSpPr/>
        <p:nvPr/>
      </p:nvGrpSpPr>
      <p:grpSpPr>
        <a:xfrm>
          <a:off x="0" y="0"/>
          <a:ext cx="0" cy="0"/>
          <a:chOff x="0" y="0"/>
          <a:chExt cx="0" cy="0"/>
        </a:xfrm>
      </p:grpSpPr>
      <p:sp>
        <p:nvSpPr>
          <p:cNvPr id="236" name="Google Shape;236;g3dd9d7353b_4_18: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37" name="Google Shape;237;g3dd9d7353b_4_18: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1" name="Shape 241"/>
        <p:cNvGrpSpPr/>
        <p:nvPr/>
      </p:nvGrpSpPr>
      <p:grpSpPr>
        <a:xfrm>
          <a:off x="0" y="0"/>
          <a:ext cx="0" cy="0"/>
          <a:chOff x="0" y="0"/>
          <a:chExt cx="0" cy="0"/>
        </a:xfrm>
      </p:grpSpPr>
      <p:sp>
        <p:nvSpPr>
          <p:cNvPr id="242" name="Google Shape;242;g3dd9d7353b_4_26: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43" name="Google Shape;243;g3dd9d7353b_4_26: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7" name="Shape 247"/>
        <p:cNvGrpSpPr/>
        <p:nvPr/>
      </p:nvGrpSpPr>
      <p:grpSpPr>
        <a:xfrm>
          <a:off x="0" y="0"/>
          <a:ext cx="0" cy="0"/>
          <a:chOff x="0" y="0"/>
          <a:chExt cx="0" cy="0"/>
        </a:xfrm>
      </p:grpSpPr>
      <p:sp>
        <p:nvSpPr>
          <p:cNvPr id="248" name="Google Shape;248;g3dd9d7353b_4_32: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49" name="Google Shape;249;g3dd9d7353b_4_32: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4" name="Shape 254"/>
        <p:cNvGrpSpPr/>
        <p:nvPr/>
      </p:nvGrpSpPr>
      <p:grpSpPr>
        <a:xfrm>
          <a:off x="0" y="0"/>
          <a:ext cx="0" cy="0"/>
          <a:chOff x="0" y="0"/>
          <a:chExt cx="0" cy="0"/>
        </a:xfrm>
      </p:grpSpPr>
      <p:sp>
        <p:nvSpPr>
          <p:cNvPr id="255" name="Google Shape;255;g3dd9d7353b_4_40: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56" name="Google Shape;256;g3dd9d7353b_4_40: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0" name="Shape 260"/>
        <p:cNvGrpSpPr/>
        <p:nvPr/>
      </p:nvGrpSpPr>
      <p:grpSpPr>
        <a:xfrm>
          <a:off x="0" y="0"/>
          <a:ext cx="0" cy="0"/>
          <a:chOff x="0" y="0"/>
          <a:chExt cx="0" cy="0"/>
        </a:xfrm>
      </p:grpSpPr>
      <p:sp>
        <p:nvSpPr>
          <p:cNvPr id="261" name="Google Shape;261;g3dd9d7353b_4_48: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62" name="Google Shape;262;g3dd9d7353b_4_48: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7" name="Shape 267"/>
        <p:cNvGrpSpPr/>
        <p:nvPr/>
      </p:nvGrpSpPr>
      <p:grpSpPr>
        <a:xfrm>
          <a:off x="0" y="0"/>
          <a:ext cx="0" cy="0"/>
          <a:chOff x="0" y="0"/>
          <a:chExt cx="0" cy="0"/>
        </a:xfrm>
      </p:grpSpPr>
      <p:sp>
        <p:nvSpPr>
          <p:cNvPr id="268" name="Google Shape;268;g3dd9d7353b_4_56: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69" name="Google Shape;269;g3dd9d7353b_4_56: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3" name="Shape 273"/>
        <p:cNvGrpSpPr/>
        <p:nvPr/>
      </p:nvGrpSpPr>
      <p:grpSpPr>
        <a:xfrm>
          <a:off x="0" y="0"/>
          <a:ext cx="0" cy="0"/>
          <a:chOff x="0" y="0"/>
          <a:chExt cx="0" cy="0"/>
        </a:xfrm>
      </p:grpSpPr>
      <p:sp>
        <p:nvSpPr>
          <p:cNvPr id="274" name="Google Shape;274;g3dd9d7353b_4_64: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75" name="Google Shape;275;g3dd9d7353b_4_64: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9" name="Shape 279"/>
        <p:cNvGrpSpPr/>
        <p:nvPr/>
      </p:nvGrpSpPr>
      <p:grpSpPr>
        <a:xfrm>
          <a:off x="0" y="0"/>
          <a:ext cx="0" cy="0"/>
          <a:chOff x="0" y="0"/>
          <a:chExt cx="0" cy="0"/>
        </a:xfrm>
      </p:grpSpPr>
      <p:sp>
        <p:nvSpPr>
          <p:cNvPr id="280" name="Google Shape;280;g3dd9d7353b_4_70: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81" name="Google Shape;281;g3dd9d7353b_4_70: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5" name="Shape 285"/>
        <p:cNvGrpSpPr/>
        <p:nvPr/>
      </p:nvGrpSpPr>
      <p:grpSpPr>
        <a:xfrm>
          <a:off x="0" y="0"/>
          <a:ext cx="0" cy="0"/>
          <a:chOff x="0" y="0"/>
          <a:chExt cx="0" cy="0"/>
        </a:xfrm>
      </p:grpSpPr>
      <p:sp>
        <p:nvSpPr>
          <p:cNvPr id="286" name="Google Shape;286;g3dd9d7353b_4_76: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87" name="Google Shape;287;g3dd9d7353b_4_76: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2" name="Shape 292"/>
        <p:cNvGrpSpPr/>
        <p:nvPr/>
      </p:nvGrpSpPr>
      <p:grpSpPr>
        <a:xfrm>
          <a:off x="0" y="0"/>
          <a:ext cx="0" cy="0"/>
          <a:chOff x="0" y="0"/>
          <a:chExt cx="0" cy="0"/>
        </a:xfrm>
      </p:grpSpPr>
      <p:sp>
        <p:nvSpPr>
          <p:cNvPr id="293" name="Google Shape;293;g3dd9d7353b_4_83: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294" name="Google Shape;294;g3dd9d7353b_4_83: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8" name="Shape 298"/>
        <p:cNvGrpSpPr/>
        <p:nvPr/>
      </p:nvGrpSpPr>
      <p:grpSpPr>
        <a:xfrm>
          <a:off x="0" y="0"/>
          <a:ext cx="0" cy="0"/>
          <a:chOff x="0" y="0"/>
          <a:chExt cx="0" cy="0"/>
        </a:xfrm>
      </p:grpSpPr>
      <p:sp>
        <p:nvSpPr>
          <p:cNvPr id="299" name="Google Shape;299;g3dd9d7353b_4_105: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300" name="Google Shape;300;g3dd9d7353b_4_105: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4" name="Shape 304"/>
        <p:cNvGrpSpPr/>
        <p:nvPr/>
      </p:nvGrpSpPr>
      <p:grpSpPr>
        <a:xfrm>
          <a:off x="0" y="0"/>
          <a:ext cx="0" cy="0"/>
          <a:chOff x="0" y="0"/>
          <a:chExt cx="0" cy="0"/>
        </a:xfrm>
      </p:grpSpPr>
      <p:sp>
        <p:nvSpPr>
          <p:cNvPr id="305" name="Google Shape;305;g3dd9d7353b_4_91: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306" name="Google Shape;306;g3dd9d7353b_4_91: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0" name="Shape 310"/>
        <p:cNvGrpSpPr/>
        <p:nvPr/>
      </p:nvGrpSpPr>
      <p:grpSpPr>
        <a:xfrm>
          <a:off x="0" y="0"/>
          <a:ext cx="0" cy="0"/>
          <a:chOff x="0" y="0"/>
          <a:chExt cx="0" cy="0"/>
        </a:xfrm>
      </p:grpSpPr>
      <p:sp>
        <p:nvSpPr>
          <p:cNvPr id="311" name="Google Shape;311;g3dd9d7353b_4_98: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312" name="Google Shape;312;g3dd9d7353b_4_98: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7" name="Shape 317"/>
        <p:cNvGrpSpPr/>
        <p:nvPr/>
      </p:nvGrpSpPr>
      <p:grpSpPr>
        <a:xfrm>
          <a:off x="0" y="0"/>
          <a:ext cx="0" cy="0"/>
          <a:chOff x="0" y="0"/>
          <a:chExt cx="0" cy="0"/>
        </a:xfrm>
      </p:grpSpPr>
      <p:sp>
        <p:nvSpPr>
          <p:cNvPr id="318" name="Google Shape;318;g3fda131af6_1_0: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319" name="Google Shape;319;g3fda131af6_1_0: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3" name="Shape 323"/>
        <p:cNvGrpSpPr/>
        <p:nvPr/>
      </p:nvGrpSpPr>
      <p:grpSpPr>
        <a:xfrm>
          <a:off x="0" y="0"/>
          <a:ext cx="0" cy="0"/>
          <a:chOff x="0" y="0"/>
          <a:chExt cx="0" cy="0"/>
        </a:xfrm>
      </p:grpSpPr>
      <p:sp>
        <p:nvSpPr>
          <p:cNvPr id="324" name="Google Shape;324;g3fda131af6_1_6:notes"/>
          <p:cNvSpPr txBox="1"/>
          <p:nvPr>
            <p:ph idx="1" type="body"/>
          </p:nvPr>
        </p:nvSpPr>
        <p:spPr>
          <a:xfrm>
            <a:off x="685797" y="4343387"/>
            <a:ext cx="5486400" cy="4114800"/>
          </a:xfrm>
          <a:prstGeom prst="rect">
            <a:avLst/>
          </a:prstGeom>
        </p:spPr>
        <p:txBody>
          <a:bodyPr anchorCtr="0" anchor="t" bIns="45425" lIns="45425" spcFirstLastPara="1" rIns="45425" wrap="square" tIns="45425">
            <a:noAutofit/>
          </a:bodyPr>
          <a:lstStyle/>
          <a:p>
            <a:pPr indent="0" lvl="0" marL="0" rtl="0">
              <a:spcBef>
                <a:spcPts val="0"/>
              </a:spcBef>
              <a:spcAft>
                <a:spcPts val="0"/>
              </a:spcAft>
              <a:buNone/>
            </a:pPr>
            <a:r>
              <a:t/>
            </a:r>
            <a:endParaRPr/>
          </a:p>
        </p:txBody>
      </p:sp>
      <p:sp>
        <p:nvSpPr>
          <p:cNvPr id="325" name="Google Shape;325;g3fda131af6_1_6:notes"/>
          <p:cNvSpPr/>
          <p:nvPr>
            <p:ph idx="2" type="sldImg"/>
          </p:nvPr>
        </p:nvSpPr>
        <p:spPr>
          <a:xfrm>
            <a:off x="1143067" y="685799"/>
            <a:ext cx="4572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Титульный слайд">
  <p:cSld name="Титульный слайд">
    <p:spTree>
      <p:nvGrpSpPr>
        <p:cNvPr id="57" name="Shape 57"/>
        <p:cNvGrpSpPr/>
        <p:nvPr/>
      </p:nvGrpSpPr>
      <p:grpSpPr>
        <a:xfrm>
          <a:off x="0" y="0"/>
          <a:ext cx="0" cy="0"/>
          <a:chOff x="0" y="0"/>
          <a:chExt cx="0" cy="0"/>
        </a:xfrm>
      </p:grpSpPr>
      <p:sp>
        <p:nvSpPr>
          <p:cNvPr id="58" name="Google Shape;58;p14"/>
          <p:cNvSpPr txBox="1"/>
          <p:nvPr>
            <p:ph type="ctrTitle"/>
          </p:nvPr>
        </p:nvSpPr>
        <p:spPr>
          <a:xfrm>
            <a:off x="1140834" y="2508215"/>
            <a:ext cx="6858000" cy="1311144"/>
          </a:xfrm>
          <a:prstGeom prst="rect">
            <a:avLst/>
          </a:prstGeom>
          <a:noFill/>
          <a:ln>
            <a:noFill/>
          </a:ln>
        </p:spPr>
        <p:txBody>
          <a:bodyPr anchorCtr="0" anchor="b" bIns="20775" lIns="41575" spcFirstLastPara="1" rIns="41575" wrap="square" tIns="20775"/>
          <a:lstStyle>
            <a:lvl1pPr lvl="0" marR="0" rtl="0" algn="ctr">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1pPr>
            <a:lvl2pPr lvl="1"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2pPr>
            <a:lvl3pPr lvl="2"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3pPr>
            <a:lvl4pPr lvl="3"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4pPr>
            <a:lvl5pPr lvl="4"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5pPr>
            <a:lvl6pPr lvl="5"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6pPr>
            <a:lvl7pPr lvl="6"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7pPr>
            <a:lvl8pPr lvl="7"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8pPr>
            <a:lvl9pPr lvl="8"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9pPr>
          </a:lstStyle>
          <a:p/>
        </p:txBody>
      </p:sp>
      <p:sp>
        <p:nvSpPr>
          <p:cNvPr id="59" name="Google Shape;59;p14"/>
          <p:cNvSpPr txBox="1"/>
          <p:nvPr>
            <p:ph idx="11" type="ftr"/>
          </p:nvPr>
        </p:nvSpPr>
        <p:spPr>
          <a:xfrm>
            <a:off x="3028986" y="4757232"/>
            <a:ext cx="3086028" cy="273636"/>
          </a:xfrm>
          <a:prstGeom prst="rect">
            <a:avLst/>
          </a:prstGeom>
          <a:noFill/>
          <a:ln>
            <a:noFill/>
          </a:ln>
        </p:spPr>
        <p:txBody>
          <a:bodyPr anchorCtr="0" anchor="ctr" bIns="20775" lIns="41575" spcFirstLastPara="1" rIns="41575" wrap="square" tIns="20775"/>
          <a:lstStyle>
            <a:lvl1pPr lvl="0" marR="0" rtl="0" algn="l">
              <a:lnSpc>
                <a:spcPct val="100000"/>
              </a:lnSpc>
              <a:spcBef>
                <a:spcPts val="0"/>
              </a:spcBef>
              <a:spcAft>
                <a:spcPts val="0"/>
              </a:spcAft>
              <a:buSzPts val="600"/>
              <a:buNone/>
              <a:defRPr sz="800">
                <a:solidFill>
                  <a:schemeClr val="dk1"/>
                </a:solidFill>
                <a:latin typeface="Calibri"/>
                <a:ea typeface="Calibri"/>
                <a:cs typeface="Calibri"/>
                <a:sym typeface="Calibri"/>
              </a:defRPr>
            </a:lvl1pPr>
            <a:lvl2pPr lvl="1"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Заголовок и объект">
  <p:cSld name="Заголовок и объект">
    <p:spTree>
      <p:nvGrpSpPr>
        <p:cNvPr id="66" name="Shape 66"/>
        <p:cNvGrpSpPr/>
        <p:nvPr/>
      </p:nvGrpSpPr>
      <p:grpSpPr>
        <a:xfrm>
          <a:off x="0" y="0"/>
          <a:ext cx="0" cy="0"/>
          <a:chOff x="0" y="0"/>
          <a:chExt cx="0" cy="0"/>
        </a:xfrm>
      </p:grpSpPr>
      <p:sp>
        <p:nvSpPr>
          <p:cNvPr id="67" name="Google Shape;67;p16"/>
          <p:cNvSpPr txBox="1"/>
          <p:nvPr>
            <p:ph idx="1" type="body"/>
          </p:nvPr>
        </p:nvSpPr>
        <p:spPr>
          <a:xfrm>
            <a:off x="628650" y="734992"/>
            <a:ext cx="7886700" cy="3916107"/>
          </a:xfrm>
          <a:prstGeom prst="rect">
            <a:avLst/>
          </a:prstGeom>
          <a:noFill/>
          <a:ln>
            <a:noFill/>
          </a:ln>
        </p:spPr>
        <p:txBody>
          <a:bodyPr anchorCtr="0" anchor="t" bIns="20775" lIns="41575" spcFirstLastPara="1" rIns="41575" wrap="square" tIns="20775"/>
          <a:lstStyle>
            <a:lvl1pPr indent="-361950" lvl="0" marL="457200" marR="0" rtl="0" algn="l">
              <a:lnSpc>
                <a:spcPct val="90000"/>
              </a:lnSpc>
              <a:spcBef>
                <a:spcPts val="7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68" name="Google Shape;68;p16"/>
          <p:cNvSpPr txBox="1"/>
          <p:nvPr>
            <p:ph idx="2" type="body"/>
          </p:nvPr>
        </p:nvSpPr>
        <p:spPr>
          <a:xfrm>
            <a:off x="0" y="167916"/>
            <a:ext cx="1843386" cy="279413"/>
          </a:xfrm>
          <a:prstGeom prst="rect">
            <a:avLst/>
          </a:prstGeom>
          <a:noFill/>
          <a:ln>
            <a:noFill/>
          </a:ln>
        </p:spPr>
        <p:txBody>
          <a:bodyPr anchorCtr="0" anchor="t" bIns="20775" lIns="41575" spcFirstLastPara="1" rIns="41575" wrap="square" tIns="20775"/>
          <a:lstStyle>
            <a:lvl1pPr indent="-228600" lvl="0" marL="457200" marR="0" rtl="0" algn="l">
              <a:lnSpc>
                <a:spcPct val="90000"/>
              </a:lnSpc>
              <a:spcBef>
                <a:spcPts val="700"/>
              </a:spcBef>
              <a:spcAft>
                <a:spcPts val="0"/>
              </a:spcAft>
              <a:buClr>
                <a:srgbClr val="696E71"/>
              </a:buClr>
              <a:buSzPts val="1600"/>
              <a:buFont typeface="Arial"/>
              <a:buNone/>
              <a:defRPr b="0" i="0" sz="1600" u="none" cap="none" strike="noStrike">
                <a:solidFill>
                  <a:srgbClr val="696E7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69" name="Google Shape;69;p16"/>
          <p:cNvSpPr txBox="1"/>
          <p:nvPr>
            <p:ph idx="11" type="ftr"/>
          </p:nvPr>
        </p:nvSpPr>
        <p:spPr>
          <a:xfrm>
            <a:off x="3028986" y="4757232"/>
            <a:ext cx="3086028" cy="273636"/>
          </a:xfrm>
          <a:prstGeom prst="rect">
            <a:avLst/>
          </a:prstGeom>
          <a:noFill/>
          <a:ln>
            <a:noFill/>
          </a:ln>
        </p:spPr>
        <p:txBody>
          <a:bodyPr anchorCtr="0" anchor="ctr" bIns="20775" lIns="41575" spcFirstLastPara="1" rIns="41575" wrap="square" tIns="20775"/>
          <a:lstStyle>
            <a:lvl1pPr lvl="0" marR="0" rtl="0" algn="l">
              <a:lnSpc>
                <a:spcPct val="100000"/>
              </a:lnSpc>
              <a:spcBef>
                <a:spcPts val="0"/>
              </a:spcBef>
              <a:spcAft>
                <a:spcPts val="0"/>
              </a:spcAft>
              <a:buSzPts val="600"/>
              <a:buNone/>
              <a:defRPr sz="800">
                <a:solidFill>
                  <a:schemeClr val="dk1"/>
                </a:solidFill>
                <a:latin typeface="Calibri"/>
                <a:ea typeface="Calibri"/>
                <a:cs typeface="Calibri"/>
                <a:sym typeface="Calibri"/>
              </a:defRPr>
            </a:lvl1pPr>
            <a:lvl2pPr lvl="1"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0" y="5042421"/>
            <a:ext cx="9144000" cy="101079"/>
          </a:xfrm>
          <a:custGeom>
            <a:rect b="b" l="l" r="r" t="t"/>
            <a:pathLst>
              <a:path extrusionOk="0" h="220979" w="20104100">
                <a:moveTo>
                  <a:pt x="0" y="220799"/>
                </a:moveTo>
                <a:lnTo>
                  <a:pt x="20104099" y="220799"/>
                </a:lnTo>
                <a:lnTo>
                  <a:pt x="20104099" y="0"/>
                </a:lnTo>
                <a:lnTo>
                  <a:pt x="0" y="0"/>
                </a:lnTo>
                <a:lnTo>
                  <a:pt x="0" y="220799"/>
                </a:lnTo>
                <a:close/>
              </a:path>
            </a:pathLst>
          </a:custGeom>
          <a:solidFill>
            <a:srgbClr val="FEDA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800">
              <a:solidFill>
                <a:schemeClr val="dk1"/>
              </a:solidFill>
              <a:latin typeface="Calibri"/>
              <a:ea typeface="Calibri"/>
              <a:cs typeface="Calibri"/>
              <a:sym typeface="Calibri"/>
            </a:endParaRPr>
          </a:p>
        </p:txBody>
      </p:sp>
      <p:sp>
        <p:nvSpPr>
          <p:cNvPr id="52" name="Google Shape;52;p13"/>
          <p:cNvSpPr txBox="1"/>
          <p:nvPr/>
        </p:nvSpPr>
        <p:spPr>
          <a:xfrm>
            <a:off x="3306974" y="1194903"/>
            <a:ext cx="2525719" cy="791308"/>
          </a:xfrm>
          <a:prstGeom prst="rect">
            <a:avLst/>
          </a:prstGeom>
          <a:blipFill rotWithShape="1">
            <a:blip r:embed="rId1">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800">
              <a:solidFill>
                <a:schemeClr val="dk1"/>
              </a:solidFill>
              <a:latin typeface="Calibri"/>
              <a:ea typeface="Calibri"/>
              <a:cs typeface="Calibri"/>
              <a:sym typeface="Calibri"/>
            </a:endParaRPr>
          </a:p>
        </p:txBody>
      </p:sp>
      <p:sp>
        <p:nvSpPr>
          <p:cNvPr id="53" name="Google Shape;53;p13"/>
          <p:cNvSpPr/>
          <p:nvPr/>
        </p:nvSpPr>
        <p:spPr>
          <a:xfrm>
            <a:off x="3857895" y="2259848"/>
            <a:ext cx="1423876" cy="0"/>
          </a:xfrm>
          <a:custGeom>
            <a:rect b="b" l="l" r="r" t="t"/>
            <a:pathLst>
              <a:path extrusionOk="0" h="1" w="3131184">
                <a:moveTo>
                  <a:pt x="0" y="0"/>
                </a:moveTo>
                <a:lnTo>
                  <a:pt x="3130794" y="0"/>
                </a:lnTo>
              </a:path>
            </a:pathLst>
          </a:custGeom>
          <a:noFill/>
          <a:ln cap="flat" cmpd="sng" w="31400">
            <a:solidFill>
              <a:srgbClr val="FEDA00"/>
            </a:solidFill>
            <a:prstDash val="solid"/>
            <a:round/>
            <a:headEnd len="med" w="med" type="none"/>
            <a:tailEnd len="med" w="med"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800">
              <a:solidFill>
                <a:schemeClr val="dk1"/>
              </a:solidFill>
              <a:latin typeface="Calibri"/>
              <a:ea typeface="Calibri"/>
              <a:cs typeface="Calibri"/>
              <a:sym typeface="Calibri"/>
            </a:endParaRPr>
          </a:p>
        </p:txBody>
      </p:sp>
      <p:sp>
        <p:nvSpPr>
          <p:cNvPr id="54" name="Google Shape;54;p13"/>
          <p:cNvSpPr txBox="1"/>
          <p:nvPr>
            <p:ph type="title"/>
          </p:nvPr>
        </p:nvSpPr>
        <p:spPr>
          <a:xfrm>
            <a:off x="628902" y="273636"/>
            <a:ext cx="7886194" cy="994188"/>
          </a:xfrm>
          <a:prstGeom prst="rect">
            <a:avLst/>
          </a:prstGeom>
          <a:noFill/>
          <a:ln>
            <a:noFill/>
          </a:ln>
        </p:spPr>
        <p:txBody>
          <a:bodyPr anchorCtr="0" anchor="ctr" bIns="20775" lIns="41575" spcFirstLastPara="1" rIns="41575" wrap="square" tIns="20775"/>
          <a:lstStyle>
            <a:lvl1pPr lvl="0"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1pPr>
            <a:lvl2pPr lvl="1"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2pPr>
            <a:lvl3pPr lvl="2"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3pPr>
            <a:lvl4pPr lvl="3"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4pPr>
            <a:lvl5pPr lvl="4"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5pPr>
            <a:lvl6pPr lvl="5"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6pPr>
            <a:lvl7pPr lvl="6"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7pPr>
            <a:lvl8pPr lvl="7"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8pPr>
            <a:lvl9pPr lvl="8"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9pPr>
          </a:lstStyle>
          <a:p/>
        </p:txBody>
      </p:sp>
      <p:sp>
        <p:nvSpPr>
          <p:cNvPr id="55" name="Google Shape;55;p13"/>
          <p:cNvSpPr txBox="1"/>
          <p:nvPr>
            <p:ph idx="1" type="body"/>
          </p:nvPr>
        </p:nvSpPr>
        <p:spPr>
          <a:xfrm>
            <a:off x="628902" y="1368905"/>
            <a:ext cx="7886194" cy="3143571"/>
          </a:xfrm>
          <a:prstGeom prst="rect">
            <a:avLst/>
          </a:prstGeom>
          <a:noFill/>
          <a:ln>
            <a:noFill/>
          </a:ln>
        </p:spPr>
        <p:txBody>
          <a:bodyPr anchorCtr="0" anchor="t" bIns="20775" lIns="41575" spcFirstLastPara="1" rIns="41575" wrap="square" tIns="20775"/>
          <a:lstStyle>
            <a:lvl1pPr indent="-361950" lvl="0" marL="457200" marR="0" rtl="0" algn="l">
              <a:lnSpc>
                <a:spcPct val="90000"/>
              </a:lnSpc>
              <a:spcBef>
                <a:spcPts val="7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56" name="Google Shape;56;p13"/>
          <p:cNvSpPr txBox="1"/>
          <p:nvPr>
            <p:ph idx="11" type="ftr"/>
          </p:nvPr>
        </p:nvSpPr>
        <p:spPr>
          <a:xfrm>
            <a:off x="3028986" y="4757232"/>
            <a:ext cx="3086028" cy="273636"/>
          </a:xfrm>
          <a:prstGeom prst="rect">
            <a:avLst/>
          </a:prstGeom>
          <a:noFill/>
          <a:ln>
            <a:noFill/>
          </a:ln>
        </p:spPr>
        <p:txBody>
          <a:bodyPr anchorCtr="0" anchor="ctr" bIns="20775" lIns="41575" spcFirstLastPara="1" rIns="41575" wrap="square" tIns="20775"/>
          <a:lstStyle>
            <a:lvl1pPr lvl="0" marR="0" rtl="0" algn="l">
              <a:lnSpc>
                <a:spcPct val="100000"/>
              </a:lnSpc>
              <a:spcBef>
                <a:spcPts val="0"/>
              </a:spcBef>
              <a:spcAft>
                <a:spcPts val="0"/>
              </a:spcAft>
              <a:buSzPts val="600"/>
              <a:buNone/>
              <a:defRPr sz="800">
                <a:solidFill>
                  <a:schemeClr val="dk1"/>
                </a:solidFill>
                <a:latin typeface="Calibri"/>
                <a:ea typeface="Calibri"/>
                <a:cs typeface="Calibri"/>
                <a:sym typeface="Calibri"/>
              </a:defRPr>
            </a:lvl1pPr>
            <a:lvl2pPr lvl="1"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60" name="Shape 60"/>
        <p:cNvGrpSpPr/>
        <p:nvPr/>
      </p:nvGrpSpPr>
      <p:grpSpPr>
        <a:xfrm>
          <a:off x="0" y="0"/>
          <a:ext cx="0" cy="0"/>
          <a:chOff x="0" y="0"/>
          <a:chExt cx="0" cy="0"/>
        </a:xfrm>
      </p:grpSpPr>
      <p:sp>
        <p:nvSpPr>
          <p:cNvPr id="61" name="Google Shape;61;p15"/>
          <p:cNvSpPr/>
          <p:nvPr/>
        </p:nvSpPr>
        <p:spPr>
          <a:xfrm>
            <a:off x="0" y="5042421"/>
            <a:ext cx="9144000" cy="101079"/>
          </a:xfrm>
          <a:custGeom>
            <a:rect b="b" l="l" r="r" t="t"/>
            <a:pathLst>
              <a:path extrusionOk="0" h="220979" w="20104100">
                <a:moveTo>
                  <a:pt x="0" y="220799"/>
                </a:moveTo>
                <a:lnTo>
                  <a:pt x="20104099" y="220799"/>
                </a:lnTo>
                <a:lnTo>
                  <a:pt x="20104099" y="0"/>
                </a:lnTo>
                <a:lnTo>
                  <a:pt x="0" y="0"/>
                </a:lnTo>
                <a:lnTo>
                  <a:pt x="0" y="220799"/>
                </a:lnTo>
                <a:close/>
              </a:path>
            </a:pathLst>
          </a:custGeom>
          <a:solidFill>
            <a:srgbClr val="FEDA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800">
              <a:solidFill>
                <a:schemeClr val="dk1"/>
              </a:solidFill>
              <a:latin typeface="Calibri"/>
              <a:ea typeface="Calibri"/>
              <a:cs typeface="Calibri"/>
              <a:sym typeface="Calibri"/>
            </a:endParaRPr>
          </a:p>
        </p:txBody>
      </p:sp>
      <p:sp>
        <p:nvSpPr>
          <p:cNvPr id="62" name="Google Shape;62;p15"/>
          <p:cNvSpPr/>
          <p:nvPr/>
        </p:nvSpPr>
        <p:spPr>
          <a:xfrm>
            <a:off x="0" y="109743"/>
            <a:ext cx="1972632" cy="395654"/>
          </a:xfrm>
          <a:custGeom>
            <a:rect b="b" l="l" r="r" t="t"/>
            <a:pathLst>
              <a:path extrusionOk="0" h="869315" w="4052570">
                <a:moveTo>
                  <a:pt x="3982423" y="0"/>
                </a:moveTo>
                <a:lnTo>
                  <a:pt x="0" y="0"/>
                </a:lnTo>
                <a:lnTo>
                  <a:pt x="0" y="869083"/>
                </a:lnTo>
                <a:lnTo>
                  <a:pt x="3982423" y="869083"/>
                </a:lnTo>
                <a:lnTo>
                  <a:pt x="4009529" y="864118"/>
                </a:lnTo>
                <a:lnTo>
                  <a:pt x="4031726" y="850315"/>
                </a:lnTo>
                <a:lnTo>
                  <a:pt x="4046724" y="829313"/>
                </a:lnTo>
                <a:lnTo>
                  <a:pt x="4052232" y="802750"/>
                </a:lnTo>
                <a:lnTo>
                  <a:pt x="4052232" y="69809"/>
                </a:lnTo>
                <a:lnTo>
                  <a:pt x="4046724" y="42703"/>
                </a:lnTo>
                <a:lnTo>
                  <a:pt x="4031726" y="20505"/>
                </a:lnTo>
                <a:lnTo>
                  <a:pt x="4009529" y="5508"/>
                </a:lnTo>
                <a:lnTo>
                  <a:pt x="3982423" y="0"/>
                </a:lnTo>
                <a:close/>
              </a:path>
            </a:pathLst>
          </a:custGeom>
          <a:solidFill>
            <a:srgbClr val="FEDA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800">
              <a:solidFill>
                <a:schemeClr val="dk1"/>
              </a:solidFill>
              <a:latin typeface="Calibri"/>
              <a:ea typeface="Calibri"/>
              <a:cs typeface="Calibri"/>
              <a:sym typeface="Calibri"/>
            </a:endParaRPr>
          </a:p>
        </p:txBody>
      </p:sp>
      <p:sp>
        <p:nvSpPr>
          <p:cNvPr id="63" name="Google Shape;63;p15"/>
          <p:cNvSpPr txBox="1"/>
          <p:nvPr>
            <p:ph type="title"/>
          </p:nvPr>
        </p:nvSpPr>
        <p:spPr>
          <a:xfrm>
            <a:off x="628902" y="273636"/>
            <a:ext cx="7886194" cy="994188"/>
          </a:xfrm>
          <a:prstGeom prst="rect">
            <a:avLst/>
          </a:prstGeom>
          <a:noFill/>
          <a:ln>
            <a:noFill/>
          </a:ln>
        </p:spPr>
        <p:txBody>
          <a:bodyPr anchorCtr="0" anchor="ctr" bIns="20775" lIns="41575" spcFirstLastPara="1" rIns="41575" wrap="square" tIns="20775"/>
          <a:lstStyle>
            <a:lvl1pPr lvl="0"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1pPr>
            <a:lvl2pPr lvl="1"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2pPr>
            <a:lvl3pPr lvl="2"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3pPr>
            <a:lvl4pPr lvl="3"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4pPr>
            <a:lvl5pPr lvl="4"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5pPr>
            <a:lvl6pPr lvl="5"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6pPr>
            <a:lvl7pPr lvl="6"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7pPr>
            <a:lvl8pPr lvl="7"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8pPr>
            <a:lvl9pPr lvl="8" marR="0" rtl="0" algn="l">
              <a:lnSpc>
                <a:spcPct val="90000"/>
              </a:lnSpc>
              <a:spcBef>
                <a:spcPts val="0"/>
              </a:spcBef>
              <a:spcAft>
                <a:spcPts val="0"/>
              </a:spcAft>
              <a:buSzPts val="600"/>
              <a:buNone/>
              <a:defRPr b="0" i="0" sz="4000" u="none" cap="none" strike="noStrike">
                <a:solidFill>
                  <a:srgbClr val="696E71"/>
                </a:solidFill>
                <a:latin typeface="Calibri"/>
                <a:ea typeface="Calibri"/>
                <a:cs typeface="Calibri"/>
                <a:sym typeface="Calibri"/>
              </a:defRPr>
            </a:lvl9pPr>
          </a:lstStyle>
          <a:p/>
        </p:txBody>
      </p:sp>
      <p:sp>
        <p:nvSpPr>
          <p:cNvPr id="64" name="Google Shape;64;p15"/>
          <p:cNvSpPr txBox="1"/>
          <p:nvPr>
            <p:ph idx="1" type="body"/>
          </p:nvPr>
        </p:nvSpPr>
        <p:spPr>
          <a:xfrm>
            <a:off x="628902" y="1368905"/>
            <a:ext cx="7886194" cy="3143571"/>
          </a:xfrm>
          <a:prstGeom prst="rect">
            <a:avLst/>
          </a:prstGeom>
          <a:noFill/>
          <a:ln>
            <a:noFill/>
          </a:ln>
        </p:spPr>
        <p:txBody>
          <a:bodyPr anchorCtr="0" anchor="t" bIns="20775" lIns="41575" spcFirstLastPara="1" rIns="41575" wrap="square" tIns="20775"/>
          <a:lstStyle>
            <a:lvl1pPr indent="-361950" lvl="0" marL="457200" marR="0" rtl="0" algn="l">
              <a:lnSpc>
                <a:spcPct val="90000"/>
              </a:lnSpc>
              <a:spcBef>
                <a:spcPts val="7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lnSpc>
                <a:spcPct val="90000"/>
              </a:lnSpc>
              <a:spcBef>
                <a:spcPts val="4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65" name="Google Shape;65;p15"/>
          <p:cNvSpPr txBox="1"/>
          <p:nvPr>
            <p:ph idx="11" type="ftr"/>
          </p:nvPr>
        </p:nvSpPr>
        <p:spPr>
          <a:xfrm>
            <a:off x="3028986" y="4757232"/>
            <a:ext cx="3086028" cy="273636"/>
          </a:xfrm>
          <a:prstGeom prst="rect">
            <a:avLst/>
          </a:prstGeom>
          <a:noFill/>
          <a:ln>
            <a:noFill/>
          </a:ln>
        </p:spPr>
        <p:txBody>
          <a:bodyPr anchorCtr="0" anchor="ctr" bIns="20775" lIns="41575" spcFirstLastPara="1" rIns="41575" wrap="square" tIns="20775"/>
          <a:lstStyle>
            <a:lvl1pPr lvl="0" marR="0" rtl="0" algn="l">
              <a:lnSpc>
                <a:spcPct val="100000"/>
              </a:lnSpc>
              <a:spcBef>
                <a:spcPts val="0"/>
              </a:spcBef>
              <a:spcAft>
                <a:spcPts val="0"/>
              </a:spcAft>
              <a:buSzPts val="600"/>
              <a:buNone/>
              <a:defRPr sz="800">
                <a:solidFill>
                  <a:schemeClr val="dk1"/>
                </a:solidFill>
                <a:latin typeface="Calibri"/>
                <a:ea typeface="Calibri"/>
                <a:cs typeface="Calibri"/>
                <a:sym typeface="Calibri"/>
              </a:defRPr>
            </a:lvl1pPr>
            <a:lvl2pPr lvl="1"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600"/>
              <a:buNone/>
              <a:defRPr b="0" i="0" sz="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ww.andersenlab.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hyperlink" Target="https://www.andersenlab.co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hyperlink" Target="https://qaevolution.ru/yuzabiliti-testirovanie/kratkij-konspekt-poleznyx-znanij-po-testirovaniyu-dokumentacii/" TargetMode="External"/><Relationship Id="rId4" Type="http://schemas.openxmlformats.org/officeDocument/2006/relationships/hyperlink" Target="https://habr.com/post/346290/" TargetMode="External"/><Relationship Id="rId5" Type="http://schemas.openxmlformats.org/officeDocument/2006/relationships/hyperlink" Target="https://www.altexsoft.com/blog/business/software-documentation-types-and-best-practices/" TargetMode="External"/><Relationship Id="rId6" Type="http://schemas.openxmlformats.org/officeDocument/2006/relationships/hyperlink" Target="https://www.guru99.com/types-of-software-testing.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3" name="Shape 73"/>
        <p:cNvGrpSpPr/>
        <p:nvPr/>
      </p:nvGrpSpPr>
      <p:grpSpPr>
        <a:xfrm>
          <a:off x="0" y="0"/>
          <a:ext cx="0" cy="0"/>
          <a:chOff x="0" y="0"/>
          <a:chExt cx="0" cy="0"/>
        </a:xfrm>
      </p:grpSpPr>
      <p:sp>
        <p:nvSpPr>
          <p:cNvPr id="74" name="Google Shape;74;p17"/>
          <p:cNvSpPr txBox="1"/>
          <p:nvPr>
            <p:ph type="ctrTitle"/>
          </p:nvPr>
        </p:nvSpPr>
        <p:spPr>
          <a:xfrm>
            <a:off x="180000" y="2500800"/>
            <a:ext cx="8784000" cy="1311000"/>
          </a:xfrm>
          <a:prstGeom prst="rect">
            <a:avLst/>
          </a:prstGeom>
          <a:noFill/>
          <a:ln>
            <a:noFill/>
          </a:ln>
        </p:spPr>
        <p:txBody>
          <a:bodyPr anchorCtr="0" anchor="ctr" bIns="20775" lIns="41575" spcFirstLastPara="1" rIns="41575" wrap="square" tIns="20775">
            <a:noAutofit/>
          </a:bodyPr>
          <a:lstStyle/>
          <a:p>
            <a:pPr indent="0" lvl="0" marL="0" marR="0" rtl="0">
              <a:lnSpc>
                <a:spcPct val="100000"/>
              </a:lnSpc>
              <a:spcBef>
                <a:spcPts val="0"/>
              </a:spcBef>
              <a:spcAft>
                <a:spcPts val="0"/>
              </a:spcAft>
              <a:buClr>
                <a:srgbClr val="696E71"/>
              </a:buClr>
              <a:buSzPts val="4000"/>
              <a:buFont typeface="Calibri"/>
              <a:buNone/>
            </a:pPr>
            <a:r>
              <a:rPr lang="ru" sz="3300">
                <a:solidFill>
                  <a:srgbClr val="696E71"/>
                </a:solidFill>
              </a:rPr>
              <a:t>Требования. Анализ требований. Тестирование документации. Виды и направления тестирования.</a:t>
            </a:r>
            <a:endParaRPr sz="3300">
              <a:solidFill>
                <a:srgbClr val="696E71"/>
              </a:solidFill>
            </a:endParaRPr>
          </a:p>
        </p:txBody>
      </p:sp>
      <p:sp>
        <p:nvSpPr>
          <p:cNvPr id="75" name="Google Shape;75;p17"/>
          <p:cNvSpPr txBox="1"/>
          <p:nvPr/>
        </p:nvSpPr>
        <p:spPr>
          <a:xfrm>
            <a:off x="3872336" y="4679256"/>
            <a:ext cx="1398604" cy="189885"/>
          </a:xfrm>
          <a:prstGeom prst="rect">
            <a:avLst/>
          </a:prstGeom>
          <a:noFill/>
          <a:ln>
            <a:noFill/>
          </a:ln>
        </p:spPr>
        <p:txBody>
          <a:bodyPr anchorCtr="0" anchor="t" bIns="0" lIns="0" spcFirstLastPara="1" rIns="0" wrap="square" tIns="6925">
            <a:noAutofit/>
          </a:bodyPr>
          <a:lstStyle/>
          <a:p>
            <a:pPr indent="0" lvl="0" marL="0" marR="0" rtl="0" algn="l">
              <a:lnSpc>
                <a:spcPct val="100000"/>
              </a:lnSpc>
              <a:spcBef>
                <a:spcPts val="0"/>
              </a:spcBef>
              <a:spcAft>
                <a:spcPts val="0"/>
              </a:spcAft>
              <a:buClr>
                <a:srgbClr val="939598"/>
              </a:buClr>
              <a:buSzPts val="1100"/>
              <a:buFont typeface="Calibri"/>
              <a:buNone/>
            </a:pPr>
            <a:r>
              <a:rPr lang="ru" sz="1100" u="sng">
                <a:solidFill>
                  <a:schemeClr val="hlink"/>
                </a:solidFill>
                <a:latin typeface="Calibri"/>
                <a:ea typeface="Calibri"/>
                <a:cs typeface="Calibri"/>
                <a:sym typeface="Calibri"/>
                <a:hlinkClick r:id="rId3"/>
              </a:rPr>
              <a:t>www.andersenlab.com</a:t>
            </a:r>
            <a:endParaRPr sz="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9" name="Shape 79"/>
        <p:cNvGrpSpPr/>
        <p:nvPr/>
      </p:nvGrpSpPr>
      <p:grpSpPr>
        <a:xfrm>
          <a:off x="0" y="0"/>
          <a:ext cx="0" cy="0"/>
          <a:chOff x="0" y="0"/>
          <a:chExt cx="0" cy="0"/>
        </a:xfrm>
      </p:grpSpPr>
      <p:sp>
        <p:nvSpPr>
          <p:cNvPr id="80" name="Google Shape;80;p18"/>
          <p:cNvSpPr txBox="1"/>
          <p:nvPr>
            <p:ph idx="1" type="body"/>
          </p:nvPr>
        </p:nvSpPr>
        <p:spPr>
          <a:xfrm>
            <a:off x="535575" y="503275"/>
            <a:ext cx="8428500" cy="4536600"/>
          </a:xfrm>
          <a:prstGeom prst="rect">
            <a:avLst/>
          </a:prstGeom>
          <a:noFill/>
          <a:ln>
            <a:noFill/>
          </a:ln>
        </p:spPr>
        <p:txBody>
          <a:bodyPr anchorCtr="0" anchor="t" bIns="20775" lIns="41575" spcFirstLastPara="1" rIns="41575" wrap="square" tIns="20775">
            <a:noAutofit/>
          </a:bodyPr>
          <a:lstStyle/>
          <a:p>
            <a:pPr indent="0" lvl="0" marL="0" marR="0" rtl="0" algn="l">
              <a:lnSpc>
                <a:spcPct val="90000"/>
              </a:lnSpc>
              <a:spcBef>
                <a:spcPts val="700"/>
              </a:spcBef>
              <a:spcAft>
                <a:spcPts val="0"/>
              </a:spcAft>
              <a:buNone/>
            </a:pPr>
            <a:r>
              <a:t/>
            </a:r>
            <a:endParaRPr sz="2000"/>
          </a:p>
          <a:p>
            <a:pPr indent="-355600" lvl="0" marL="457200" marR="0" rtl="0" algn="l">
              <a:lnSpc>
                <a:spcPct val="90000"/>
              </a:lnSpc>
              <a:spcBef>
                <a:spcPts val="700"/>
              </a:spcBef>
              <a:spcAft>
                <a:spcPts val="0"/>
              </a:spcAft>
              <a:buClr>
                <a:srgbClr val="333333"/>
              </a:buClr>
              <a:buSzPts val="2000"/>
              <a:buChar char="●"/>
            </a:pPr>
            <a:r>
              <a:rPr lang="ru" sz="2000">
                <a:solidFill>
                  <a:srgbClr val="333333"/>
                </a:solidFill>
              </a:rPr>
              <a:t>Что такое требование?</a:t>
            </a:r>
            <a:endParaRPr sz="2000">
              <a:solidFill>
                <a:srgbClr val="333333"/>
              </a:solidFill>
            </a:endParaRPr>
          </a:p>
          <a:p>
            <a:pPr indent="-355600" lvl="0" marL="457200" marR="0" rtl="0" algn="l">
              <a:lnSpc>
                <a:spcPct val="90000"/>
              </a:lnSpc>
              <a:spcBef>
                <a:spcPts val="0"/>
              </a:spcBef>
              <a:spcAft>
                <a:spcPts val="0"/>
              </a:spcAft>
              <a:buClr>
                <a:srgbClr val="333333"/>
              </a:buClr>
              <a:buSzPts val="2000"/>
              <a:buChar char="●"/>
            </a:pPr>
            <a:r>
              <a:rPr lang="ru" sz="2000">
                <a:solidFill>
                  <a:srgbClr val="333333"/>
                </a:solidFill>
              </a:rPr>
              <a:t>Виды требований</a:t>
            </a:r>
            <a:endParaRPr sz="2000">
              <a:solidFill>
                <a:srgbClr val="333333"/>
              </a:solidFill>
            </a:endParaRPr>
          </a:p>
          <a:p>
            <a:pPr indent="-355600" lvl="0" marL="457200" marR="0" rtl="0" algn="l">
              <a:lnSpc>
                <a:spcPct val="90000"/>
              </a:lnSpc>
              <a:spcBef>
                <a:spcPts val="0"/>
              </a:spcBef>
              <a:spcAft>
                <a:spcPts val="0"/>
              </a:spcAft>
              <a:buClr>
                <a:srgbClr val="333333"/>
              </a:buClr>
              <a:buSzPts val="2000"/>
              <a:buChar char="●"/>
            </a:pPr>
            <a:r>
              <a:rPr lang="ru" sz="2000">
                <a:solidFill>
                  <a:srgbClr val="333333"/>
                </a:solidFill>
              </a:rPr>
              <a:t>Источники и пути выявления требований</a:t>
            </a:r>
            <a:endParaRPr sz="2000">
              <a:solidFill>
                <a:srgbClr val="333333"/>
              </a:solidFill>
            </a:endParaRPr>
          </a:p>
          <a:p>
            <a:pPr indent="-355600" lvl="0" marL="457200" marR="0" rtl="0" algn="l">
              <a:lnSpc>
                <a:spcPct val="90000"/>
              </a:lnSpc>
              <a:spcBef>
                <a:spcPts val="0"/>
              </a:spcBef>
              <a:spcAft>
                <a:spcPts val="0"/>
              </a:spcAft>
              <a:buClr>
                <a:srgbClr val="333333"/>
              </a:buClr>
              <a:buSzPts val="2000"/>
              <a:buChar char="●"/>
            </a:pPr>
            <a:r>
              <a:rPr lang="ru" sz="2000">
                <a:solidFill>
                  <a:srgbClr val="333333"/>
                </a:solidFill>
              </a:rPr>
              <a:t>Анализ требований</a:t>
            </a:r>
            <a:endParaRPr sz="2000">
              <a:solidFill>
                <a:srgbClr val="333333"/>
              </a:solidFill>
            </a:endParaRPr>
          </a:p>
          <a:p>
            <a:pPr indent="-355600" lvl="0" marL="457200" marR="0" rtl="0" algn="l">
              <a:lnSpc>
                <a:spcPct val="90000"/>
              </a:lnSpc>
              <a:spcBef>
                <a:spcPts val="0"/>
              </a:spcBef>
              <a:spcAft>
                <a:spcPts val="0"/>
              </a:spcAft>
              <a:buClr>
                <a:srgbClr val="333333"/>
              </a:buClr>
              <a:buSzPts val="2000"/>
              <a:buChar char="●"/>
            </a:pPr>
            <a:r>
              <a:rPr lang="ru" sz="2000">
                <a:solidFill>
                  <a:srgbClr val="333333"/>
                </a:solidFill>
              </a:rPr>
              <a:t>Тестирование требований</a:t>
            </a:r>
            <a:endParaRPr sz="2000">
              <a:solidFill>
                <a:srgbClr val="333333"/>
              </a:solidFill>
            </a:endParaRPr>
          </a:p>
          <a:p>
            <a:pPr indent="-355600" lvl="0" marL="457200" marR="0" rtl="0" algn="l">
              <a:lnSpc>
                <a:spcPct val="90000"/>
              </a:lnSpc>
              <a:spcBef>
                <a:spcPts val="0"/>
              </a:spcBef>
              <a:spcAft>
                <a:spcPts val="0"/>
              </a:spcAft>
              <a:buClr>
                <a:srgbClr val="333333"/>
              </a:buClr>
              <a:buSzPts val="2000"/>
              <a:buChar char="●"/>
            </a:pPr>
            <a:r>
              <a:rPr lang="ru" sz="2000">
                <a:solidFill>
                  <a:srgbClr val="333333"/>
                </a:solidFill>
              </a:rPr>
              <a:t>Виды документации</a:t>
            </a:r>
            <a:endParaRPr sz="2000">
              <a:solidFill>
                <a:srgbClr val="333333"/>
              </a:solidFill>
            </a:endParaRPr>
          </a:p>
          <a:p>
            <a:pPr indent="-355600" lvl="0" marL="457200" marR="0" rtl="0" algn="l">
              <a:lnSpc>
                <a:spcPct val="90000"/>
              </a:lnSpc>
              <a:spcBef>
                <a:spcPts val="0"/>
              </a:spcBef>
              <a:spcAft>
                <a:spcPts val="0"/>
              </a:spcAft>
              <a:buClr>
                <a:srgbClr val="333333"/>
              </a:buClr>
              <a:buSzPts val="2000"/>
              <a:buChar char="●"/>
            </a:pPr>
            <a:r>
              <a:rPr lang="ru" sz="2000">
                <a:solidFill>
                  <a:srgbClr val="333333"/>
                </a:solidFill>
              </a:rPr>
              <a:t>Методы тестирования</a:t>
            </a:r>
            <a:endParaRPr sz="2000">
              <a:solidFill>
                <a:srgbClr val="333333"/>
              </a:solidFill>
            </a:endParaRPr>
          </a:p>
          <a:p>
            <a:pPr indent="-355600" lvl="0" marL="457200" marR="0" rtl="0" algn="l">
              <a:lnSpc>
                <a:spcPct val="90000"/>
              </a:lnSpc>
              <a:spcBef>
                <a:spcPts val="0"/>
              </a:spcBef>
              <a:spcAft>
                <a:spcPts val="0"/>
              </a:spcAft>
              <a:buClr>
                <a:srgbClr val="333333"/>
              </a:buClr>
              <a:buSzPts val="2000"/>
              <a:buChar char="●"/>
            </a:pPr>
            <a:r>
              <a:rPr lang="ru" sz="2000">
                <a:solidFill>
                  <a:srgbClr val="333333"/>
                </a:solidFill>
              </a:rPr>
              <a:t>Типы тестирования</a:t>
            </a:r>
            <a:endParaRPr sz="2000">
              <a:solidFill>
                <a:srgbClr val="333333"/>
              </a:solidFill>
            </a:endParaRPr>
          </a:p>
          <a:p>
            <a:pPr indent="-355600" lvl="0" marL="457200" marR="0" rtl="0" algn="l">
              <a:lnSpc>
                <a:spcPct val="90000"/>
              </a:lnSpc>
              <a:spcBef>
                <a:spcPts val="0"/>
              </a:spcBef>
              <a:spcAft>
                <a:spcPts val="0"/>
              </a:spcAft>
              <a:buClr>
                <a:srgbClr val="333333"/>
              </a:buClr>
              <a:buSzPts val="2000"/>
              <a:buChar char="●"/>
            </a:pPr>
            <a:r>
              <a:rPr lang="ru" sz="2000">
                <a:solidFill>
                  <a:srgbClr val="333333"/>
                </a:solidFill>
              </a:rPr>
              <a:t>Уровни тестирования</a:t>
            </a:r>
            <a:endParaRPr sz="2000">
              <a:solidFill>
                <a:srgbClr val="333333"/>
              </a:solidFill>
            </a:endParaRPr>
          </a:p>
          <a:p>
            <a:pPr indent="-355600" lvl="0" marL="457200" marR="0" rtl="0" algn="l">
              <a:lnSpc>
                <a:spcPct val="90000"/>
              </a:lnSpc>
              <a:spcBef>
                <a:spcPts val="0"/>
              </a:spcBef>
              <a:spcAft>
                <a:spcPts val="0"/>
              </a:spcAft>
              <a:buClr>
                <a:srgbClr val="333333"/>
              </a:buClr>
              <a:buSzPts val="2000"/>
              <a:buChar char="●"/>
            </a:pPr>
            <a:r>
              <a:rPr lang="ru" sz="2000">
                <a:solidFill>
                  <a:srgbClr val="333333"/>
                </a:solidFill>
              </a:rPr>
              <a:t>Виды тестирования</a:t>
            </a:r>
            <a:endParaRPr sz="2000">
              <a:solidFill>
                <a:srgbClr val="333333"/>
              </a:solidFill>
              <a:latin typeface="Calibri"/>
              <a:ea typeface="Calibri"/>
              <a:cs typeface="Calibri"/>
              <a:sym typeface="Calibri"/>
            </a:endParaRPr>
          </a:p>
        </p:txBody>
      </p:sp>
      <p:sp>
        <p:nvSpPr>
          <p:cNvPr id="81" name="Google Shape;81;p18"/>
          <p:cNvSpPr txBox="1"/>
          <p:nvPr>
            <p:ph idx="1" type="body"/>
          </p:nvPr>
        </p:nvSpPr>
        <p:spPr>
          <a:xfrm>
            <a:off x="0" y="168225"/>
            <a:ext cx="1977000" cy="279300"/>
          </a:xfrm>
          <a:prstGeom prst="rect">
            <a:avLst/>
          </a:prstGeom>
          <a:no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Clr>
                <a:srgbClr val="696E71"/>
              </a:buClr>
              <a:buSzPts val="1500"/>
              <a:buFont typeface="Calibri"/>
              <a:buNone/>
            </a:pPr>
            <a:r>
              <a:rPr b="1" lang="ru" sz="1400">
                <a:solidFill>
                  <a:srgbClr val="696E71"/>
                </a:solidFill>
              </a:rPr>
              <a:t>План лекции</a:t>
            </a:r>
            <a:endParaRPr b="1"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19"/>
          <p:cNvSpPr txBox="1"/>
          <p:nvPr>
            <p:ph idx="1" type="body"/>
          </p:nvPr>
        </p:nvSpPr>
        <p:spPr>
          <a:xfrm>
            <a:off x="180000" y="505550"/>
            <a:ext cx="8784000" cy="45345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700"/>
              </a:spcBef>
              <a:spcAft>
                <a:spcPts val="0"/>
              </a:spcAft>
              <a:buNone/>
            </a:pPr>
            <a:r>
              <a:rPr b="1" lang="ru" sz="2000"/>
              <a:t>Требование</a:t>
            </a:r>
            <a:endParaRPr b="1" sz="2000"/>
          </a:p>
          <a:p>
            <a:pPr indent="0" lvl="0" marL="177800" marR="0" rtl="0">
              <a:lnSpc>
                <a:spcPct val="90000"/>
              </a:lnSpc>
              <a:spcBef>
                <a:spcPts val="700"/>
              </a:spcBef>
              <a:spcAft>
                <a:spcPts val="0"/>
              </a:spcAft>
              <a:buNone/>
            </a:pPr>
            <a:r>
              <a:rPr lang="ru" sz="1600">
                <a:solidFill>
                  <a:srgbClr val="333333"/>
                </a:solidFill>
                <a:highlight>
                  <a:srgbClr val="FFFFFF"/>
                </a:highlight>
              </a:rPr>
              <a:t>это описание того, какие функции и с соблюдением каких условий должно выполнять приложение в процессе решения полезной для пользователя задачи</a:t>
            </a:r>
            <a:endParaRPr sz="1600">
              <a:solidFill>
                <a:srgbClr val="333333"/>
              </a:solidFill>
              <a:highlight>
                <a:srgbClr val="FFFFFF"/>
              </a:highlight>
            </a:endParaRPr>
          </a:p>
          <a:p>
            <a:pPr indent="0" lvl="0" marL="177800" marR="0" rtl="0" algn="ctr">
              <a:lnSpc>
                <a:spcPct val="90000"/>
              </a:lnSpc>
              <a:spcBef>
                <a:spcPts val="700"/>
              </a:spcBef>
              <a:spcAft>
                <a:spcPts val="0"/>
              </a:spcAft>
              <a:buNone/>
            </a:pPr>
            <a:r>
              <a:t/>
            </a:r>
            <a:endParaRPr i="1" sz="1600">
              <a:solidFill>
                <a:srgbClr val="333333"/>
              </a:solidFill>
              <a:highlight>
                <a:srgbClr val="FFFFFF"/>
              </a:highlight>
            </a:endParaRPr>
          </a:p>
          <a:p>
            <a:pPr indent="0" lvl="0" marL="0" marR="0" rtl="0" algn="l">
              <a:lnSpc>
                <a:spcPct val="100000"/>
              </a:lnSpc>
              <a:spcBef>
                <a:spcPts val="0"/>
              </a:spcBef>
              <a:spcAft>
                <a:spcPts val="0"/>
              </a:spcAft>
              <a:buNone/>
            </a:pPr>
            <a:r>
              <a:rPr b="1" lang="ru" sz="1600"/>
              <a:t>Важность требований:</a:t>
            </a:r>
            <a:endParaRPr b="1" sz="1600"/>
          </a:p>
          <a:p>
            <a:pPr indent="-330200" lvl="0" marL="457200" marR="0" rtl="0" algn="l">
              <a:lnSpc>
                <a:spcPct val="100000"/>
              </a:lnSpc>
              <a:spcBef>
                <a:spcPts val="0"/>
              </a:spcBef>
              <a:spcAft>
                <a:spcPts val="0"/>
              </a:spcAft>
              <a:buSzPts val="1600"/>
              <a:buFont typeface="Calibri"/>
              <a:buChar char="●"/>
            </a:pPr>
            <a:r>
              <a:rPr lang="ru" sz="1600"/>
              <a:t>Позволяют понять, что и с соблюдением </a:t>
            </a:r>
            <a:br>
              <a:rPr lang="ru" sz="1600"/>
            </a:br>
            <a:r>
              <a:rPr lang="ru" sz="1600"/>
              <a:t>каких условий система должна делать.</a:t>
            </a:r>
            <a:endParaRPr sz="1600"/>
          </a:p>
          <a:p>
            <a:pPr indent="-330200" lvl="0" marL="457200" marR="0" rtl="0" algn="l">
              <a:lnSpc>
                <a:spcPct val="100000"/>
              </a:lnSpc>
              <a:spcBef>
                <a:spcPts val="0"/>
              </a:spcBef>
              <a:spcAft>
                <a:spcPts val="0"/>
              </a:spcAft>
              <a:buSzPts val="1600"/>
              <a:buFont typeface="Calibri"/>
              <a:buChar char="●"/>
            </a:pPr>
            <a:r>
              <a:rPr lang="ru" sz="1600"/>
              <a:t>Предоставляют возможность оценить масштаб </a:t>
            </a:r>
            <a:br>
              <a:rPr lang="ru" sz="1600"/>
            </a:br>
            <a:r>
              <a:rPr lang="ru" sz="1600"/>
              <a:t>изменений и управлять изменениями.</a:t>
            </a:r>
            <a:endParaRPr sz="1600"/>
          </a:p>
          <a:p>
            <a:pPr indent="-330200" lvl="0" marL="457200" marR="0" rtl="0" algn="l">
              <a:lnSpc>
                <a:spcPct val="100000"/>
              </a:lnSpc>
              <a:spcBef>
                <a:spcPts val="0"/>
              </a:spcBef>
              <a:spcAft>
                <a:spcPts val="0"/>
              </a:spcAft>
              <a:buSzPts val="1600"/>
              <a:buFont typeface="Calibri"/>
              <a:buChar char="●"/>
            </a:pPr>
            <a:r>
              <a:rPr lang="ru" sz="1600"/>
              <a:t>Являются основой для формирования плана </a:t>
            </a:r>
            <a:br>
              <a:rPr lang="ru" sz="1600"/>
            </a:br>
            <a:r>
              <a:rPr lang="ru" sz="1600"/>
              <a:t>проекта (в том числе плана тестирования).</a:t>
            </a:r>
            <a:endParaRPr sz="1600"/>
          </a:p>
          <a:p>
            <a:pPr indent="-330200" lvl="0" marL="457200" marR="0" rtl="0" algn="l">
              <a:lnSpc>
                <a:spcPct val="100000"/>
              </a:lnSpc>
              <a:spcBef>
                <a:spcPts val="0"/>
              </a:spcBef>
              <a:spcAft>
                <a:spcPts val="0"/>
              </a:spcAft>
              <a:buSzPts val="1600"/>
              <a:buFont typeface="Calibri"/>
              <a:buChar char="●"/>
            </a:pPr>
            <a:r>
              <a:rPr lang="ru" sz="1600"/>
              <a:t>Помогают предотвращать или разрешать конфликтные ситуации.</a:t>
            </a:r>
            <a:endParaRPr sz="1600"/>
          </a:p>
          <a:p>
            <a:pPr indent="-330200" lvl="0" marL="457200" marR="0" rtl="0" algn="l">
              <a:lnSpc>
                <a:spcPct val="100000"/>
              </a:lnSpc>
              <a:spcBef>
                <a:spcPts val="0"/>
              </a:spcBef>
              <a:spcAft>
                <a:spcPts val="0"/>
              </a:spcAft>
              <a:buSzPts val="1600"/>
              <a:buFont typeface="Calibri"/>
              <a:buChar char="●"/>
            </a:pPr>
            <a:r>
              <a:rPr lang="ru" sz="1600"/>
              <a:t>Упрощают расстановку приоритетов в наборе задач.</a:t>
            </a:r>
            <a:endParaRPr sz="1600"/>
          </a:p>
          <a:p>
            <a:pPr indent="-330200" lvl="0" marL="457200" marR="0" rtl="0" algn="l">
              <a:lnSpc>
                <a:spcPct val="100000"/>
              </a:lnSpc>
              <a:spcBef>
                <a:spcPts val="0"/>
              </a:spcBef>
              <a:spcAft>
                <a:spcPts val="0"/>
              </a:spcAft>
              <a:buSzPts val="1600"/>
              <a:buFont typeface="Calibri"/>
              <a:buChar char="●"/>
            </a:pPr>
            <a:r>
              <a:rPr lang="ru" sz="1600"/>
              <a:t>Позволяют объективно оценить степень прогресса в разработке проекта.</a:t>
            </a:r>
            <a:endParaRPr sz="1600"/>
          </a:p>
          <a:p>
            <a:pPr indent="0" lvl="0" marL="0" marR="0" rtl="0" algn="l">
              <a:lnSpc>
                <a:spcPct val="100000"/>
              </a:lnSpc>
              <a:spcBef>
                <a:spcPts val="0"/>
              </a:spcBef>
              <a:spcAft>
                <a:spcPts val="0"/>
              </a:spcAft>
              <a:buNone/>
            </a:pPr>
            <a:r>
              <a:t/>
            </a:r>
            <a:endParaRPr sz="1800"/>
          </a:p>
        </p:txBody>
      </p:sp>
      <p:pic>
        <p:nvPicPr>
          <p:cNvPr id="87" name="Google Shape;87;p19"/>
          <p:cNvPicPr preferRelativeResize="0"/>
          <p:nvPr/>
        </p:nvPicPr>
        <p:blipFill>
          <a:blip r:embed="rId3">
            <a:alphaModFix/>
          </a:blip>
          <a:stretch>
            <a:fillRect/>
          </a:stretch>
        </p:blipFill>
        <p:spPr>
          <a:xfrm>
            <a:off x="5807925" y="1583750"/>
            <a:ext cx="3034750" cy="1697800"/>
          </a:xfrm>
          <a:prstGeom prst="rect">
            <a:avLst/>
          </a:prstGeom>
          <a:noFill/>
          <a:ln>
            <a:noFill/>
          </a:ln>
        </p:spPr>
      </p:pic>
      <p:sp>
        <p:nvSpPr>
          <p:cNvPr id="88" name="Google Shape;88;p19"/>
          <p:cNvSpPr/>
          <p:nvPr/>
        </p:nvSpPr>
        <p:spPr>
          <a:xfrm>
            <a:off x="-2000" y="116875"/>
            <a:ext cx="23136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Что такое требование</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2" name="Shape 92"/>
        <p:cNvGrpSpPr/>
        <p:nvPr/>
      </p:nvGrpSpPr>
      <p:grpSpPr>
        <a:xfrm>
          <a:off x="0" y="0"/>
          <a:ext cx="0" cy="0"/>
          <a:chOff x="0" y="0"/>
          <a:chExt cx="0" cy="0"/>
        </a:xfrm>
      </p:grpSpPr>
      <p:sp>
        <p:nvSpPr>
          <p:cNvPr id="93" name="Google Shape;93;p20"/>
          <p:cNvSpPr txBox="1"/>
          <p:nvPr>
            <p:ph idx="1" type="body"/>
          </p:nvPr>
        </p:nvSpPr>
        <p:spPr>
          <a:xfrm>
            <a:off x="2425925" y="1604025"/>
            <a:ext cx="4281900" cy="1789500"/>
          </a:xfrm>
          <a:prstGeom prst="rect">
            <a:avLst/>
          </a:prstGeom>
          <a:noFill/>
          <a:ln>
            <a:noFill/>
          </a:ln>
        </p:spPr>
        <p:txBody>
          <a:bodyPr anchorCtr="0" anchor="t" bIns="20775" lIns="41575" spcFirstLastPara="1" rIns="41575" wrap="square" tIns="20775">
            <a:noAutofit/>
          </a:bodyPr>
          <a:lstStyle/>
          <a:p>
            <a:pPr indent="0" lvl="0" marL="177800" marR="0" rtl="0" algn="l">
              <a:lnSpc>
                <a:spcPct val="90000"/>
              </a:lnSpc>
              <a:spcBef>
                <a:spcPts val="700"/>
              </a:spcBef>
              <a:spcAft>
                <a:spcPts val="0"/>
              </a:spcAft>
              <a:buNone/>
            </a:pPr>
            <a:r>
              <a:t/>
            </a:r>
            <a:endParaRPr sz="600"/>
          </a:p>
        </p:txBody>
      </p:sp>
      <p:pic>
        <p:nvPicPr>
          <p:cNvPr id="94" name="Google Shape;94;p20"/>
          <p:cNvPicPr preferRelativeResize="0"/>
          <p:nvPr/>
        </p:nvPicPr>
        <p:blipFill>
          <a:blip r:embed="rId3">
            <a:alphaModFix/>
          </a:blip>
          <a:stretch>
            <a:fillRect/>
          </a:stretch>
        </p:blipFill>
        <p:spPr>
          <a:xfrm>
            <a:off x="1278875" y="593200"/>
            <a:ext cx="6586250" cy="4255825"/>
          </a:xfrm>
          <a:prstGeom prst="rect">
            <a:avLst/>
          </a:prstGeom>
          <a:noFill/>
          <a:ln>
            <a:noFill/>
          </a:ln>
        </p:spPr>
      </p:pic>
      <p:sp>
        <p:nvSpPr>
          <p:cNvPr id="95" name="Google Shape;95;p20"/>
          <p:cNvSpPr/>
          <p:nvPr/>
        </p:nvSpPr>
        <p:spPr>
          <a:xfrm>
            <a:off x="-2000" y="116875"/>
            <a:ext cx="23136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Важность требований</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9" name="Shape 99"/>
        <p:cNvGrpSpPr/>
        <p:nvPr/>
      </p:nvGrpSpPr>
      <p:grpSpPr>
        <a:xfrm>
          <a:off x="0" y="0"/>
          <a:ext cx="0" cy="0"/>
          <a:chOff x="0" y="0"/>
          <a:chExt cx="0" cy="0"/>
        </a:xfrm>
      </p:grpSpPr>
      <p:sp>
        <p:nvSpPr>
          <p:cNvPr id="100" name="Google Shape;100;p21"/>
          <p:cNvSpPr txBox="1"/>
          <p:nvPr>
            <p:ph idx="1" type="body"/>
          </p:nvPr>
        </p:nvSpPr>
        <p:spPr>
          <a:xfrm>
            <a:off x="180000" y="563875"/>
            <a:ext cx="8784000" cy="44760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b="1" lang="ru" sz="2000"/>
              <a:t>Источники и пути выявления требований</a:t>
            </a:r>
            <a:endParaRPr sz="1600"/>
          </a:p>
          <a:p>
            <a:pPr indent="0" lvl="0" marL="457200" marR="0" rtl="0" algn="l">
              <a:lnSpc>
                <a:spcPct val="115000"/>
              </a:lnSpc>
              <a:spcBef>
                <a:spcPts val="1000"/>
              </a:spcBef>
              <a:spcAft>
                <a:spcPts val="0"/>
              </a:spcAft>
              <a:buNone/>
            </a:pPr>
            <a:r>
              <a:t/>
            </a:r>
            <a:endParaRPr sz="1600"/>
          </a:p>
          <a:p>
            <a:pPr indent="-330200" lvl="0" marL="457200" marR="0" rtl="0" algn="l">
              <a:lnSpc>
                <a:spcPct val="115000"/>
              </a:lnSpc>
              <a:spcBef>
                <a:spcPts val="1000"/>
              </a:spcBef>
              <a:spcAft>
                <a:spcPts val="0"/>
              </a:spcAft>
              <a:buSzPts val="1600"/>
              <a:buFont typeface="Calibri"/>
              <a:buChar char="●"/>
            </a:pPr>
            <a:r>
              <a:rPr lang="ru" sz="1600"/>
              <a:t>Use case.</a:t>
            </a:r>
            <a:endParaRPr sz="1600"/>
          </a:p>
          <a:p>
            <a:pPr indent="-330200" lvl="0" marL="457200" marR="0" rtl="0" algn="l">
              <a:lnSpc>
                <a:spcPct val="115000"/>
              </a:lnSpc>
              <a:spcBef>
                <a:spcPts val="0"/>
              </a:spcBef>
              <a:spcAft>
                <a:spcPts val="0"/>
              </a:spcAft>
              <a:buSzPts val="1600"/>
              <a:buFont typeface="Calibri"/>
              <a:buChar char="●"/>
            </a:pPr>
            <a:r>
              <a:rPr lang="ru" sz="1600"/>
              <a:t>Совещание.</a:t>
            </a:r>
            <a:endParaRPr sz="1600"/>
          </a:p>
          <a:p>
            <a:pPr indent="-330200" lvl="0" marL="457200" marR="0" rtl="0" algn="l">
              <a:lnSpc>
                <a:spcPct val="115000"/>
              </a:lnSpc>
              <a:spcBef>
                <a:spcPts val="0"/>
              </a:spcBef>
              <a:spcAft>
                <a:spcPts val="0"/>
              </a:spcAft>
              <a:buSzPts val="1600"/>
              <a:buFont typeface="Calibri"/>
              <a:buChar char="●"/>
            </a:pPr>
            <a:r>
              <a:rPr lang="ru" sz="1600"/>
              <a:t>Анкетирование.</a:t>
            </a:r>
            <a:endParaRPr sz="1600"/>
          </a:p>
          <a:p>
            <a:pPr indent="-330200" lvl="0" marL="457200" marR="0" rtl="0" algn="l">
              <a:lnSpc>
                <a:spcPct val="115000"/>
              </a:lnSpc>
              <a:spcBef>
                <a:spcPts val="0"/>
              </a:spcBef>
              <a:spcAft>
                <a:spcPts val="0"/>
              </a:spcAft>
              <a:buSzPts val="1600"/>
              <a:buFont typeface="Calibri"/>
              <a:buChar char="●"/>
            </a:pPr>
            <a:r>
              <a:rPr lang="ru" sz="1600"/>
              <a:t>Интервью, опросы.</a:t>
            </a:r>
            <a:endParaRPr sz="1600"/>
          </a:p>
          <a:p>
            <a:pPr indent="-330200" lvl="0" marL="457200" marR="0" rtl="0" algn="l">
              <a:lnSpc>
                <a:spcPct val="115000"/>
              </a:lnSpc>
              <a:spcBef>
                <a:spcPts val="0"/>
              </a:spcBef>
              <a:spcAft>
                <a:spcPts val="0"/>
              </a:spcAft>
              <a:buSzPts val="1600"/>
              <a:buFont typeface="Calibri"/>
              <a:buChar char="●"/>
            </a:pPr>
            <a:r>
              <a:rPr lang="ru" sz="1600"/>
              <a:t>“Мозговой штурм”, семинары.</a:t>
            </a:r>
            <a:endParaRPr sz="1600"/>
          </a:p>
          <a:p>
            <a:pPr indent="-330200" lvl="0" marL="457200" marR="0" rtl="0" algn="l">
              <a:lnSpc>
                <a:spcPct val="115000"/>
              </a:lnSpc>
              <a:spcBef>
                <a:spcPts val="0"/>
              </a:spcBef>
              <a:spcAft>
                <a:spcPts val="0"/>
              </a:spcAft>
              <a:buSzPts val="1600"/>
              <a:buFont typeface="Calibri"/>
              <a:buChar char="●"/>
            </a:pPr>
            <a:r>
              <a:rPr lang="ru" sz="1600"/>
              <a:t>Анализ моделей деятельности.</a:t>
            </a:r>
            <a:endParaRPr sz="1600"/>
          </a:p>
          <a:p>
            <a:pPr indent="-330200" lvl="0" marL="457200" marR="0" rtl="0" algn="l">
              <a:lnSpc>
                <a:spcPct val="115000"/>
              </a:lnSpc>
              <a:spcBef>
                <a:spcPts val="0"/>
              </a:spcBef>
              <a:spcAft>
                <a:spcPts val="0"/>
              </a:spcAft>
              <a:buSzPts val="1600"/>
              <a:buFont typeface="Calibri"/>
              <a:buChar char="●"/>
            </a:pPr>
            <a:r>
              <a:rPr lang="ru" sz="1600"/>
              <a:t>Анализ конкурентных продуктов.</a:t>
            </a:r>
            <a:endParaRPr sz="1600"/>
          </a:p>
          <a:p>
            <a:pPr indent="-330200" lvl="0" marL="457200" marR="0" rtl="0" algn="l">
              <a:lnSpc>
                <a:spcPct val="115000"/>
              </a:lnSpc>
              <a:spcBef>
                <a:spcPts val="0"/>
              </a:spcBef>
              <a:spcAft>
                <a:spcPts val="0"/>
              </a:spcAft>
              <a:buSzPts val="1600"/>
              <a:buFont typeface="Calibri"/>
              <a:buChar char="●"/>
            </a:pPr>
            <a:r>
              <a:rPr lang="ru" sz="1600"/>
              <a:t>Анализ нормативной документации.</a:t>
            </a:r>
            <a:endParaRPr sz="1600"/>
          </a:p>
          <a:p>
            <a:pPr indent="-330200" lvl="0" marL="457200" marR="0" rtl="0" algn="l">
              <a:lnSpc>
                <a:spcPct val="115000"/>
              </a:lnSpc>
              <a:spcBef>
                <a:spcPts val="0"/>
              </a:spcBef>
              <a:spcAft>
                <a:spcPts val="0"/>
              </a:spcAft>
              <a:buSzPts val="1600"/>
              <a:buFont typeface="Calibri"/>
              <a:buChar char="●"/>
            </a:pPr>
            <a:r>
              <a:rPr lang="ru" sz="1600"/>
              <a:t>Наблюдение за производственной деятельностью.</a:t>
            </a:r>
            <a:endParaRPr sz="1600"/>
          </a:p>
          <a:p>
            <a:pPr indent="-330200" lvl="0" marL="457200" marR="0" rtl="0" algn="l">
              <a:lnSpc>
                <a:spcPct val="115000"/>
              </a:lnSpc>
              <a:spcBef>
                <a:spcPts val="0"/>
              </a:spcBef>
              <a:spcAft>
                <a:spcPts val="0"/>
              </a:spcAft>
              <a:buSzPts val="1600"/>
              <a:buFont typeface="Calibri"/>
              <a:buChar char="●"/>
            </a:pPr>
            <a:r>
              <a:rPr lang="ru" sz="1600"/>
              <a:t>Анализ статистики использования предыдущих версий системы.</a:t>
            </a:r>
            <a:endParaRPr sz="1600"/>
          </a:p>
        </p:txBody>
      </p:sp>
      <p:pic>
        <p:nvPicPr>
          <p:cNvPr id="101" name="Google Shape;101;p21"/>
          <p:cNvPicPr preferRelativeResize="0"/>
          <p:nvPr/>
        </p:nvPicPr>
        <p:blipFill>
          <a:blip r:embed="rId3">
            <a:alphaModFix/>
          </a:blip>
          <a:stretch>
            <a:fillRect/>
          </a:stretch>
        </p:blipFill>
        <p:spPr>
          <a:xfrm>
            <a:off x="5260375" y="1427213"/>
            <a:ext cx="3212399" cy="2289075"/>
          </a:xfrm>
          <a:prstGeom prst="rect">
            <a:avLst/>
          </a:prstGeom>
          <a:noFill/>
          <a:ln>
            <a:noFill/>
          </a:ln>
        </p:spPr>
      </p:pic>
      <p:sp>
        <p:nvSpPr>
          <p:cNvPr id="102" name="Google Shape;102;p21"/>
          <p:cNvSpPr/>
          <p:nvPr/>
        </p:nvSpPr>
        <p:spPr>
          <a:xfrm>
            <a:off x="-2000" y="116875"/>
            <a:ext cx="40158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rgbClr val="696E71"/>
              </a:buClr>
              <a:buSzPts val="1000"/>
              <a:buFont typeface="Calibri"/>
              <a:buNone/>
            </a:pPr>
            <a:r>
              <a:rPr b="1" lang="ru">
                <a:solidFill>
                  <a:srgbClr val="696E71"/>
                </a:solidFill>
                <a:latin typeface="Calibri"/>
                <a:ea typeface="Calibri"/>
                <a:cs typeface="Calibri"/>
                <a:sym typeface="Calibri"/>
              </a:rPr>
              <a:t>Источники и пути выявления требований</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6" name="Shape 106"/>
        <p:cNvGrpSpPr/>
        <p:nvPr/>
      </p:nvGrpSpPr>
      <p:grpSpPr>
        <a:xfrm>
          <a:off x="0" y="0"/>
          <a:ext cx="0" cy="0"/>
          <a:chOff x="0" y="0"/>
          <a:chExt cx="0" cy="0"/>
        </a:xfrm>
      </p:grpSpPr>
      <p:sp>
        <p:nvSpPr>
          <p:cNvPr id="107" name="Google Shape;107;p22"/>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b="1" lang="ru" sz="2000"/>
              <a:t>Параметры тестирования требований</a:t>
            </a:r>
            <a:br>
              <a:rPr b="1" lang="ru" sz="2000"/>
            </a:br>
            <a:endParaRPr b="1" sz="1600"/>
          </a:p>
          <a:p>
            <a:pPr indent="-330200" lvl="0" marL="457200" marR="0" rtl="0">
              <a:lnSpc>
                <a:spcPct val="90000"/>
              </a:lnSpc>
              <a:spcBef>
                <a:spcPts val="0"/>
              </a:spcBef>
              <a:spcAft>
                <a:spcPts val="0"/>
              </a:spcAft>
              <a:buSzPts val="1600"/>
              <a:buFont typeface="Calibri"/>
              <a:buChar char="●"/>
            </a:pPr>
            <a:r>
              <a:rPr b="1" lang="ru" sz="1600"/>
              <a:t>Четкость и ясность</a:t>
            </a:r>
            <a:r>
              <a:rPr lang="ru" sz="1600"/>
              <a:t> - требования должны давать предельно ясную информацию о том, как должен работать каждый отдельный модуль и весь продукт в целом.</a:t>
            </a:r>
            <a:br>
              <a:rPr lang="ru" sz="1600"/>
            </a:br>
            <a:endParaRPr sz="1600"/>
          </a:p>
          <a:p>
            <a:pPr indent="-330200" lvl="0" marL="457200" marR="0" rtl="0">
              <a:lnSpc>
                <a:spcPct val="90000"/>
              </a:lnSpc>
              <a:spcBef>
                <a:spcPts val="0"/>
              </a:spcBef>
              <a:spcAft>
                <a:spcPts val="0"/>
              </a:spcAft>
              <a:buSzPts val="1600"/>
              <a:buFont typeface="Calibri"/>
              <a:buChar char="●"/>
            </a:pPr>
            <a:r>
              <a:rPr b="1" lang="ru" sz="1600"/>
              <a:t>Актуальность</a:t>
            </a:r>
            <a:r>
              <a:rPr lang="ru" sz="1600"/>
              <a:t> - необходимость поддержания актуальности требований обусловливается внесением изменений на протяжении разработки ПО.</a:t>
            </a:r>
            <a:br>
              <a:rPr lang="ru" sz="1600"/>
            </a:br>
            <a:endParaRPr sz="1600"/>
          </a:p>
          <a:p>
            <a:pPr indent="-330200" lvl="0" marL="457200" marR="0" rtl="0">
              <a:lnSpc>
                <a:spcPct val="90000"/>
              </a:lnSpc>
              <a:spcBef>
                <a:spcPts val="0"/>
              </a:spcBef>
              <a:spcAft>
                <a:spcPts val="0"/>
              </a:spcAft>
              <a:buSzPts val="1600"/>
              <a:buFont typeface="Calibri"/>
              <a:buChar char="●"/>
            </a:pPr>
            <a:r>
              <a:rPr b="1" lang="ru" sz="1600"/>
              <a:t>Логика</a:t>
            </a:r>
            <a:r>
              <a:rPr lang="ru" sz="1600"/>
              <a:t> - работа системы должна быть логичной.</a:t>
            </a:r>
            <a:br>
              <a:rPr lang="ru" sz="1600"/>
            </a:br>
            <a:endParaRPr sz="1600"/>
          </a:p>
          <a:p>
            <a:pPr indent="-330200" lvl="0" marL="457200" marR="0" rtl="0">
              <a:lnSpc>
                <a:spcPct val="90000"/>
              </a:lnSpc>
              <a:spcBef>
                <a:spcPts val="0"/>
              </a:spcBef>
              <a:spcAft>
                <a:spcPts val="0"/>
              </a:spcAft>
              <a:buSzPts val="1600"/>
              <a:buFont typeface="Calibri"/>
              <a:buChar char="●"/>
            </a:pPr>
            <a:r>
              <a:rPr b="1" lang="ru" sz="1600"/>
              <a:t>Возможные сценарии</a:t>
            </a:r>
            <a:r>
              <a:rPr lang="ru" sz="1600"/>
              <a:t> - требования должны содержать позитивные и негативные варианты использования системы.</a:t>
            </a:r>
            <a:br>
              <a:rPr lang="ru" sz="1600"/>
            </a:br>
            <a:endParaRPr sz="1600"/>
          </a:p>
          <a:p>
            <a:pPr indent="-330200" lvl="0" marL="457200" marR="0" rtl="0">
              <a:lnSpc>
                <a:spcPct val="90000"/>
              </a:lnSpc>
              <a:spcBef>
                <a:spcPts val="0"/>
              </a:spcBef>
              <a:spcAft>
                <a:spcPts val="0"/>
              </a:spcAft>
              <a:buSzPts val="1600"/>
              <a:buFont typeface="Calibri"/>
              <a:buChar char="●"/>
            </a:pPr>
            <a:r>
              <a:rPr b="1" lang="ru" sz="1600"/>
              <a:t>Интеграция</a:t>
            </a:r>
            <a:r>
              <a:rPr lang="ru" sz="1600"/>
              <a:t> - описание схемы взаимодействия разрабатываемого продукта со сторонней системой.</a:t>
            </a:r>
            <a:endParaRPr sz="1600"/>
          </a:p>
        </p:txBody>
      </p:sp>
      <p:sp>
        <p:nvSpPr>
          <p:cNvPr id="108" name="Google Shape;108;p22"/>
          <p:cNvSpPr txBox="1"/>
          <p:nvPr>
            <p:ph idx="1" type="body"/>
          </p:nvPr>
        </p:nvSpPr>
        <p:spPr>
          <a:xfrm>
            <a:off x="0" y="111500"/>
            <a:ext cx="1977000" cy="394500"/>
          </a:xfrm>
          <a:prstGeom prst="rect">
            <a:avLst/>
          </a:prstGeom>
          <a:no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Clr>
                <a:srgbClr val="696E71"/>
              </a:buClr>
              <a:buSzPts val="1000"/>
              <a:buFont typeface="Calibri"/>
              <a:buNone/>
            </a:pPr>
            <a:r>
              <a:rPr b="1" lang="ru" sz="1400">
                <a:solidFill>
                  <a:srgbClr val="696E71"/>
                </a:solidFill>
              </a:rPr>
              <a:t>Анализ требований</a:t>
            </a:r>
            <a:endParaRPr b="1"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 name="Shape 112"/>
        <p:cNvGrpSpPr/>
        <p:nvPr/>
      </p:nvGrpSpPr>
      <p:grpSpPr>
        <a:xfrm>
          <a:off x="0" y="0"/>
          <a:ext cx="0" cy="0"/>
          <a:chOff x="0" y="0"/>
          <a:chExt cx="0" cy="0"/>
        </a:xfrm>
      </p:grpSpPr>
      <p:sp>
        <p:nvSpPr>
          <p:cNvPr id="113" name="Google Shape;113;p23"/>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b="1" lang="ru" sz="2000"/>
              <a:t>Основные принципы тестирования требований</a:t>
            </a:r>
            <a:br>
              <a:rPr b="1" lang="ru" sz="2000"/>
            </a:br>
            <a:endParaRPr b="1" sz="1600"/>
          </a:p>
          <a:p>
            <a:pPr indent="-330200" lvl="0" marL="457200" marR="0" rtl="0">
              <a:lnSpc>
                <a:spcPct val="100000"/>
              </a:lnSpc>
              <a:spcBef>
                <a:spcPts val="0"/>
              </a:spcBef>
              <a:spcAft>
                <a:spcPts val="0"/>
              </a:spcAft>
              <a:buSzPts val="1600"/>
              <a:buFont typeface="Calibri"/>
              <a:buChar char="●"/>
            </a:pPr>
            <a:r>
              <a:rPr lang="ru" sz="1600"/>
              <a:t>Тестирование требований проводиться до старта разработки ПО (ранее тестирование снижает итоговую стоимость проекта).</a:t>
            </a:r>
            <a:endParaRPr sz="1600"/>
          </a:p>
          <a:p>
            <a:pPr indent="-330200" lvl="0" marL="457200" marR="0" rtl="0">
              <a:lnSpc>
                <a:spcPct val="100000"/>
              </a:lnSpc>
              <a:spcBef>
                <a:spcPts val="1000"/>
              </a:spcBef>
              <a:spcAft>
                <a:spcPts val="0"/>
              </a:spcAft>
              <a:buSzPts val="1600"/>
              <a:buFont typeface="Calibri"/>
              <a:buChar char="●"/>
            </a:pPr>
            <a:r>
              <a:rPr lang="ru" sz="1600"/>
              <a:t>Тестирование требований проводится и аналитиками, и тестировщиками (для достижения лучшего результата создание документации и ее тестирование должны проводить разные участники команды).</a:t>
            </a:r>
            <a:endParaRPr sz="1600"/>
          </a:p>
          <a:p>
            <a:pPr indent="-330200" lvl="0" marL="457200" marR="0" rtl="0">
              <a:lnSpc>
                <a:spcPct val="100000"/>
              </a:lnSpc>
              <a:spcBef>
                <a:spcPts val="1000"/>
              </a:spcBef>
              <a:spcAft>
                <a:spcPts val="0"/>
              </a:spcAft>
              <a:buSzPts val="1600"/>
              <a:buFont typeface="Calibri"/>
              <a:buChar char="●"/>
            </a:pPr>
            <a:r>
              <a:rPr lang="ru" sz="1600"/>
              <a:t>Выявленные во время тестирования требований баги должны быть занесены в баг-трекинговую систему.</a:t>
            </a:r>
            <a:endParaRPr sz="1600"/>
          </a:p>
          <a:p>
            <a:pPr indent="-330200" lvl="0" marL="457200" marR="0" rtl="0">
              <a:lnSpc>
                <a:spcPct val="100000"/>
              </a:lnSpc>
              <a:spcBef>
                <a:spcPts val="1000"/>
              </a:spcBef>
              <a:spcAft>
                <a:spcPts val="0"/>
              </a:spcAft>
              <a:buSzPts val="1600"/>
              <a:buFont typeface="Calibri"/>
              <a:buChar char="●"/>
            </a:pPr>
            <a:r>
              <a:rPr lang="ru" sz="1600"/>
              <a:t>О выявленных во время тестирования требований багах необходимо предупредить команду разработчиков (в том случае, если тестирование ведется параллельно с разработкой).</a:t>
            </a:r>
            <a:endParaRPr sz="1600"/>
          </a:p>
          <a:p>
            <a:pPr indent="-330200" lvl="0" marL="457200" marR="0" rtl="0">
              <a:lnSpc>
                <a:spcPct val="100000"/>
              </a:lnSpc>
              <a:spcBef>
                <a:spcPts val="1000"/>
              </a:spcBef>
              <a:spcAft>
                <a:spcPts val="1000"/>
              </a:spcAft>
              <a:buSzPts val="1600"/>
              <a:buFont typeface="Calibri"/>
              <a:buChar char="●"/>
            </a:pPr>
            <a:r>
              <a:rPr lang="ru" sz="1600"/>
              <a:t>Глубина тестирования требований зависит от уровня их детализации (детализация требований зависит от уровня проекта).</a:t>
            </a:r>
            <a:endParaRPr sz="1600"/>
          </a:p>
        </p:txBody>
      </p:sp>
      <p:sp>
        <p:nvSpPr>
          <p:cNvPr id="114" name="Google Shape;114;p23"/>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Тестирование требований</a:t>
            </a:r>
            <a:endParaRPr b="1">
              <a:solidFill>
                <a:srgbClr val="696E7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8" name="Shape 118"/>
        <p:cNvGrpSpPr/>
        <p:nvPr/>
      </p:nvGrpSpPr>
      <p:grpSpPr>
        <a:xfrm>
          <a:off x="0" y="0"/>
          <a:ext cx="0" cy="0"/>
          <a:chOff x="0" y="0"/>
          <a:chExt cx="0" cy="0"/>
        </a:xfrm>
      </p:grpSpPr>
      <p:sp>
        <p:nvSpPr>
          <p:cNvPr id="119" name="Google Shape;119;p24"/>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b="1" lang="ru" sz="2000"/>
              <a:t>Свойства качественных</a:t>
            </a:r>
            <a:r>
              <a:rPr b="1" lang="ru" sz="2000"/>
              <a:t> требований</a:t>
            </a:r>
            <a:br>
              <a:rPr b="1" lang="ru" sz="2000"/>
            </a:br>
            <a:endParaRPr b="1" sz="1600"/>
          </a:p>
          <a:p>
            <a:pPr indent="-330200" lvl="0" marL="457200" marR="0" rtl="0">
              <a:lnSpc>
                <a:spcPct val="90000"/>
              </a:lnSpc>
              <a:spcBef>
                <a:spcPts val="0"/>
              </a:spcBef>
              <a:spcAft>
                <a:spcPts val="0"/>
              </a:spcAft>
              <a:buSzPts val="1600"/>
              <a:buChar char="●"/>
            </a:pPr>
            <a:r>
              <a:rPr b="1" lang="ru" sz="1600"/>
              <a:t>Атомарность, единичность</a:t>
            </a:r>
            <a:r>
              <a:rPr lang="ru" sz="1600"/>
              <a:t> - </a:t>
            </a:r>
            <a:r>
              <a:rPr lang="ru" sz="1600">
                <a:solidFill>
                  <a:srgbClr val="333333"/>
                </a:solidFill>
                <a:highlight>
                  <a:srgbClr val="FFFFFF"/>
                </a:highlight>
              </a:rPr>
              <a:t>требование является атомарным, если его нельзя разбить на отдельные требования без потери завершённости и оно описывает одну и только одну ситуацию.</a:t>
            </a:r>
            <a:endParaRPr sz="1600"/>
          </a:p>
          <a:p>
            <a:pPr indent="-330200" lvl="0" marL="457200" marR="0" rtl="0">
              <a:lnSpc>
                <a:spcPct val="90000"/>
              </a:lnSpc>
              <a:spcBef>
                <a:spcPts val="1000"/>
              </a:spcBef>
              <a:spcAft>
                <a:spcPts val="0"/>
              </a:spcAft>
              <a:buSzPts val="1600"/>
              <a:buChar char="●"/>
            </a:pPr>
            <a:r>
              <a:rPr b="1" lang="ru" sz="1600"/>
              <a:t>Непротиворечивость, последовательность</a:t>
            </a:r>
            <a:r>
              <a:rPr lang="ru" sz="1600"/>
              <a:t> - </a:t>
            </a:r>
            <a:r>
              <a:rPr lang="ru" sz="1600">
                <a:solidFill>
                  <a:srgbClr val="333333"/>
                </a:solidFill>
                <a:highlight>
                  <a:srgbClr val="FFFFFF"/>
                </a:highlight>
              </a:rPr>
              <a:t>требование не должно содержать внутренних противоречий и противоречий другим требованиям и документам.</a:t>
            </a:r>
            <a:endParaRPr sz="1600"/>
          </a:p>
          <a:p>
            <a:pPr indent="-330200" lvl="0" marL="457200" marR="0" rtl="0">
              <a:lnSpc>
                <a:spcPct val="90000"/>
              </a:lnSpc>
              <a:spcBef>
                <a:spcPts val="1000"/>
              </a:spcBef>
              <a:spcAft>
                <a:spcPts val="0"/>
              </a:spcAft>
              <a:buSzPts val="1600"/>
              <a:buChar char="●"/>
            </a:pPr>
            <a:r>
              <a:rPr b="1" lang="ru" sz="1600"/>
              <a:t>Недвусмысленность</a:t>
            </a:r>
            <a:r>
              <a:rPr lang="ru" sz="1600"/>
              <a:t> - </a:t>
            </a:r>
            <a:r>
              <a:rPr lang="ru" sz="1600">
                <a:solidFill>
                  <a:srgbClr val="333333"/>
                </a:solidFill>
                <a:highlight>
                  <a:srgbClr val="FFFFFF"/>
                </a:highlight>
              </a:rPr>
              <a:t>требование должно допускать только однозначное объективное понимание и быть атомарным в плане невозможности различной трактовки сочетания отдельных фраз.</a:t>
            </a:r>
            <a:endParaRPr sz="1600"/>
          </a:p>
          <a:p>
            <a:pPr indent="-330200" lvl="0" marL="457200" marR="0" rtl="0">
              <a:lnSpc>
                <a:spcPct val="90000"/>
              </a:lnSpc>
              <a:spcBef>
                <a:spcPts val="1000"/>
              </a:spcBef>
              <a:spcAft>
                <a:spcPts val="1000"/>
              </a:spcAft>
              <a:buSzPts val="1600"/>
              <a:buChar char="●"/>
            </a:pPr>
            <a:r>
              <a:rPr b="1" lang="ru" sz="1600"/>
              <a:t>Обязательность, нужность, актуальность</a:t>
            </a:r>
            <a:r>
              <a:rPr lang="ru" sz="1600"/>
              <a:t> - </a:t>
            </a:r>
            <a:r>
              <a:rPr lang="ru" sz="1600">
                <a:solidFill>
                  <a:srgbClr val="333333"/>
                </a:solidFill>
                <a:highlight>
                  <a:srgbClr val="FFFFFF"/>
                </a:highlight>
              </a:rPr>
              <a:t>если требование не является обязательным к реализации, то оно должно быть просто исключено из набора требований. Если требование нужное, но «не очень важное», для указания этого факта используется указание приоритета. Также должны быть исключены (или переработаны) требования, утратившие актуальность.</a:t>
            </a:r>
            <a:endParaRPr sz="1600"/>
          </a:p>
        </p:txBody>
      </p:sp>
      <p:sp>
        <p:nvSpPr>
          <p:cNvPr id="120" name="Google Shape;120;p24"/>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Тестирование требований</a:t>
            </a:r>
            <a:endParaRPr b="1">
              <a:solidFill>
                <a:srgbClr val="696E7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4" name="Shape 124"/>
        <p:cNvGrpSpPr/>
        <p:nvPr/>
      </p:nvGrpSpPr>
      <p:grpSpPr>
        <a:xfrm>
          <a:off x="0" y="0"/>
          <a:ext cx="0" cy="0"/>
          <a:chOff x="0" y="0"/>
          <a:chExt cx="0" cy="0"/>
        </a:xfrm>
      </p:grpSpPr>
      <p:sp>
        <p:nvSpPr>
          <p:cNvPr id="125" name="Google Shape;125;p25"/>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0" marR="0" rtl="0">
              <a:lnSpc>
                <a:spcPct val="100000"/>
              </a:lnSpc>
              <a:spcBef>
                <a:spcPts val="0"/>
              </a:spcBef>
              <a:spcAft>
                <a:spcPts val="0"/>
              </a:spcAft>
              <a:buNone/>
            </a:pPr>
            <a:r>
              <a:t/>
            </a:r>
            <a:endParaRPr b="1" i="1" sz="1500"/>
          </a:p>
          <a:p>
            <a:pPr indent="-330200" lvl="0" marL="457200" marR="0" rtl="0">
              <a:lnSpc>
                <a:spcPct val="100000"/>
              </a:lnSpc>
              <a:spcBef>
                <a:spcPts val="0"/>
              </a:spcBef>
              <a:spcAft>
                <a:spcPts val="0"/>
              </a:spcAft>
              <a:buSzPts val="1600"/>
              <a:buFont typeface="Calibri"/>
              <a:buChar char="●"/>
            </a:pPr>
            <a:r>
              <a:rPr b="1" lang="ru" sz="1600"/>
              <a:t>Прослеживаемость</a:t>
            </a:r>
            <a:r>
              <a:rPr lang="ru" sz="1600"/>
              <a:t> - </a:t>
            </a:r>
            <a:r>
              <a:rPr lang="ru" sz="1600">
                <a:solidFill>
                  <a:srgbClr val="333333"/>
                </a:solidFill>
                <a:highlight>
                  <a:srgbClr val="FFFFFF"/>
                </a:highlight>
              </a:rPr>
              <a:t>бывает вертикальной и горизонтальной. Вертикальная прослеживаемость позволяет соотносить между собой требования на различных уровнях требований, горизонтальная - соотносить требование с тест-планом, тест-кейсами, архитектурными решениями</a:t>
            </a:r>
            <a:r>
              <a:rPr lang="ru" sz="1600">
                <a:solidFill>
                  <a:srgbClr val="333333"/>
                </a:solidFill>
                <a:highlight>
                  <a:srgbClr val="FFFFFF"/>
                </a:highlight>
              </a:rPr>
              <a:t>.</a:t>
            </a:r>
            <a:endParaRPr sz="1600"/>
          </a:p>
          <a:p>
            <a:pPr indent="-330200" lvl="0" marL="457200" marR="0" rtl="0">
              <a:lnSpc>
                <a:spcPct val="100000"/>
              </a:lnSpc>
              <a:spcBef>
                <a:spcPts val="0"/>
              </a:spcBef>
              <a:spcAft>
                <a:spcPts val="0"/>
              </a:spcAft>
              <a:buSzPts val="1600"/>
              <a:buFont typeface="Calibri"/>
              <a:buChar char="●"/>
            </a:pPr>
            <a:r>
              <a:rPr b="1" lang="ru" sz="1600"/>
              <a:t>Модифицируемость</a:t>
            </a:r>
            <a:r>
              <a:rPr lang="ru" sz="1600"/>
              <a:t> - </a:t>
            </a:r>
            <a:r>
              <a:rPr lang="ru" sz="1600">
                <a:solidFill>
                  <a:srgbClr val="333333"/>
                </a:solidFill>
                <a:highlight>
                  <a:srgbClr val="FFFFFF"/>
                </a:highlight>
              </a:rPr>
              <a:t>это свойство характеризует внесения изменений в отдельные требования и в набор требований, искомую информацию легко найти, а её изменение не приводит к нарушению иных описанных в этом перечне свойств</a:t>
            </a:r>
            <a:r>
              <a:rPr lang="ru" sz="1600">
                <a:solidFill>
                  <a:srgbClr val="333333"/>
                </a:solidFill>
                <a:highlight>
                  <a:srgbClr val="FFFFFF"/>
                </a:highlight>
              </a:rPr>
              <a:t>.</a:t>
            </a:r>
            <a:endParaRPr sz="1600"/>
          </a:p>
          <a:p>
            <a:pPr indent="-330200" lvl="0" marL="457200" marR="0" rtl="0">
              <a:lnSpc>
                <a:spcPct val="100000"/>
              </a:lnSpc>
              <a:spcBef>
                <a:spcPts val="0"/>
              </a:spcBef>
              <a:spcAft>
                <a:spcPts val="0"/>
              </a:spcAft>
              <a:buSzPts val="1600"/>
              <a:buFont typeface="Calibri"/>
              <a:buChar char="●"/>
            </a:pPr>
            <a:r>
              <a:rPr b="1" lang="ru" sz="1600"/>
              <a:t>Проранжированность по важности, стабильности, срочности</a:t>
            </a:r>
            <a:r>
              <a:rPr lang="ru" sz="1600"/>
              <a:t> - </a:t>
            </a:r>
            <a:r>
              <a:rPr lang="ru" sz="1600">
                <a:solidFill>
                  <a:srgbClr val="333333"/>
                </a:solidFill>
                <a:highlight>
                  <a:srgbClr val="FFFFFF"/>
                </a:highlight>
              </a:rPr>
              <a:t>важность характеризует зависимость успеха проекта от успеха реализации требования. Стабильность характеризует вероятность того, что в ближайшем будущем в требование не будет внесено никаких изменений. Срочность определяет распределение по времени усилий проектной команды по реализации того или иного требования.</a:t>
            </a:r>
            <a:endParaRPr sz="1600"/>
          </a:p>
          <a:p>
            <a:pPr indent="-330200" lvl="0" marL="457200" marR="0" rtl="0">
              <a:lnSpc>
                <a:spcPct val="100000"/>
              </a:lnSpc>
              <a:spcBef>
                <a:spcPts val="0"/>
              </a:spcBef>
              <a:spcAft>
                <a:spcPts val="0"/>
              </a:spcAft>
              <a:buSzPts val="1600"/>
              <a:buFont typeface="Calibri"/>
              <a:buChar char="●"/>
            </a:pPr>
            <a:r>
              <a:rPr b="1" lang="ru" sz="1600"/>
              <a:t>Корректность и проверяемость</a:t>
            </a:r>
            <a:r>
              <a:rPr lang="ru" sz="1600"/>
              <a:t> - </a:t>
            </a:r>
            <a:r>
              <a:rPr lang="ru" sz="1600">
                <a:solidFill>
                  <a:srgbClr val="333333"/>
                </a:solidFill>
                <a:highlight>
                  <a:srgbClr val="FFFFFF"/>
                </a:highlight>
              </a:rPr>
              <a:t>эти свойства вытекают из соблюдения всех вышеперечисленных. Проверяемость подразумевает возможность создания объективного тест-кейса (тест-кейсов), однозначно показывающего, что требование реализовано верно и поведение приложения в точности соответствует требованию</a:t>
            </a:r>
            <a:r>
              <a:rPr lang="ru" sz="1600">
                <a:solidFill>
                  <a:srgbClr val="333333"/>
                </a:solidFill>
                <a:highlight>
                  <a:srgbClr val="FFFFFF"/>
                </a:highlight>
              </a:rPr>
              <a:t>.</a:t>
            </a:r>
            <a:endParaRPr sz="1600"/>
          </a:p>
        </p:txBody>
      </p:sp>
      <p:sp>
        <p:nvSpPr>
          <p:cNvPr id="126" name="Google Shape;126;p25"/>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Тестирование требований</a:t>
            </a:r>
            <a:endParaRPr b="1">
              <a:solidFill>
                <a:srgbClr val="696E7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 name="Shape 130"/>
        <p:cNvGrpSpPr/>
        <p:nvPr/>
      </p:nvGrpSpPr>
      <p:grpSpPr>
        <a:xfrm>
          <a:off x="0" y="0"/>
          <a:ext cx="0" cy="0"/>
          <a:chOff x="0" y="0"/>
          <a:chExt cx="0" cy="0"/>
        </a:xfrm>
      </p:grpSpPr>
      <p:sp>
        <p:nvSpPr>
          <p:cNvPr id="131" name="Google Shape;131;p26"/>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b="1" lang="ru" sz="2000"/>
              <a:t>Техники тестирования</a:t>
            </a:r>
            <a:r>
              <a:rPr b="1" lang="ru" sz="2000"/>
              <a:t> требований</a:t>
            </a:r>
            <a:endParaRPr b="1" sz="2000"/>
          </a:p>
          <a:p>
            <a:pPr indent="0" lvl="0" marL="177800" marR="0" rtl="0" algn="ctr">
              <a:lnSpc>
                <a:spcPct val="90000"/>
              </a:lnSpc>
              <a:spcBef>
                <a:spcPts val="0"/>
              </a:spcBef>
              <a:spcAft>
                <a:spcPts val="0"/>
              </a:spcAft>
              <a:buNone/>
            </a:pPr>
            <a:r>
              <a:t/>
            </a:r>
            <a:endParaRPr b="1" sz="2000"/>
          </a:p>
          <a:p>
            <a:pPr indent="0" lvl="0" marL="0" marR="0" rtl="0">
              <a:lnSpc>
                <a:spcPct val="90000"/>
              </a:lnSpc>
              <a:spcBef>
                <a:spcPts val="0"/>
              </a:spcBef>
              <a:spcAft>
                <a:spcPts val="0"/>
              </a:spcAft>
              <a:buNone/>
            </a:pPr>
            <a:r>
              <a:rPr lang="ru" sz="1600"/>
              <a:t>Тестирование документации и требований относится к разряду нефункционального тестирования. </a:t>
            </a:r>
            <a:endParaRPr sz="1600"/>
          </a:p>
          <a:p>
            <a:pPr indent="0" lvl="0" marL="0" marR="0" rtl="0">
              <a:lnSpc>
                <a:spcPct val="90000"/>
              </a:lnSpc>
              <a:spcBef>
                <a:spcPts val="0"/>
              </a:spcBef>
              <a:spcAft>
                <a:spcPts val="0"/>
              </a:spcAft>
              <a:buNone/>
            </a:pPr>
            <a:r>
              <a:rPr lang="ru" sz="1600"/>
              <a:t>Основные техники такого тестирования в контексте требований:</a:t>
            </a:r>
            <a:endParaRPr sz="1600"/>
          </a:p>
          <a:p>
            <a:pPr indent="0" lvl="0" marL="0" marR="0" rtl="0">
              <a:lnSpc>
                <a:spcPct val="90000"/>
              </a:lnSpc>
              <a:spcBef>
                <a:spcPts val="0"/>
              </a:spcBef>
              <a:spcAft>
                <a:spcPts val="0"/>
              </a:spcAft>
              <a:buNone/>
            </a:pPr>
            <a:r>
              <a:t/>
            </a:r>
            <a:endParaRPr sz="1600"/>
          </a:p>
          <a:p>
            <a:pPr indent="-330200" lvl="0" marL="457200" marR="0" rtl="0">
              <a:lnSpc>
                <a:spcPct val="100000"/>
              </a:lnSpc>
              <a:spcBef>
                <a:spcPts val="0"/>
              </a:spcBef>
              <a:spcAft>
                <a:spcPts val="0"/>
              </a:spcAft>
              <a:buClr>
                <a:srgbClr val="000000"/>
              </a:buClr>
              <a:buSzPts val="1600"/>
              <a:buChar char="●"/>
            </a:pPr>
            <a:r>
              <a:rPr b="1" lang="ru" sz="1600">
                <a:solidFill>
                  <a:srgbClr val="000000"/>
                </a:solidFill>
              </a:rPr>
              <a:t>Взаимный просмотр </a:t>
            </a:r>
            <a:r>
              <a:rPr lang="ru" sz="1600">
                <a:solidFill>
                  <a:srgbClr val="000000"/>
                </a:solidFill>
              </a:rPr>
              <a:t>- </a:t>
            </a:r>
            <a:r>
              <a:rPr lang="ru" sz="1600">
                <a:solidFill>
                  <a:srgbClr val="000000"/>
                </a:solidFill>
                <a:highlight>
                  <a:srgbClr val="FFFFFF"/>
                </a:highlight>
              </a:rPr>
              <a:t>является одной из наиболее активно используемых техник тестирования требований и может быть представлен в одной из трёх следующих форм:</a:t>
            </a:r>
            <a:endParaRPr sz="1600">
              <a:solidFill>
                <a:srgbClr val="000000"/>
              </a:solidFill>
              <a:highlight>
                <a:srgbClr val="FFFFFF"/>
              </a:highlight>
            </a:endParaRPr>
          </a:p>
          <a:p>
            <a:pPr indent="0" lvl="0" marL="457200" marR="0" rtl="0">
              <a:lnSpc>
                <a:spcPct val="100000"/>
              </a:lnSpc>
              <a:spcBef>
                <a:spcPts val="0"/>
              </a:spcBef>
              <a:spcAft>
                <a:spcPts val="0"/>
              </a:spcAft>
              <a:buNone/>
            </a:pPr>
            <a:br>
              <a:rPr lang="ru" sz="700">
                <a:solidFill>
                  <a:srgbClr val="000000"/>
                </a:solidFill>
                <a:highlight>
                  <a:srgbClr val="FFFFFF"/>
                </a:highlight>
              </a:rPr>
            </a:br>
            <a:r>
              <a:rPr lang="ru" sz="1600">
                <a:solidFill>
                  <a:srgbClr val="000000"/>
                </a:solidFill>
              </a:rPr>
              <a:t>- Беглый </a:t>
            </a:r>
            <a:r>
              <a:rPr lang="ru" sz="1600">
                <a:solidFill>
                  <a:srgbClr val="000000"/>
                </a:solidFill>
              </a:rPr>
              <a:t>просмотр - о</a:t>
            </a:r>
            <a:r>
              <a:rPr lang="ru" sz="1600">
                <a:solidFill>
                  <a:srgbClr val="000000"/>
                </a:solidFill>
                <a:highlight>
                  <a:srgbClr val="FFFFFF"/>
                </a:highlight>
              </a:rPr>
              <a:t>бмен результатами работы между двумя и более авторами с тем, чтобы коллега высказал свои вопросы и замечания;</a:t>
            </a:r>
            <a:br>
              <a:rPr lang="ru" sz="1600">
                <a:solidFill>
                  <a:srgbClr val="000000"/>
                </a:solidFill>
                <a:highlight>
                  <a:srgbClr val="FFFFFF"/>
                </a:highlight>
              </a:rPr>
            </a:br>
            <a:r>
              <a:rPr lang="ru" sz="1600">
                <a:solidFill>
                  <a:srgbClr val="000000"/>
                </a:solidFill>
                <a:highlight>
                  <a:srgbClr val="FFFFFF"/>
                </a:highlight>
              </a:rPr>
              <a:t>- Технический просмотр - выполняется группой специалистов;</a:t>
            </a:r>
            <a:br>
              <a:rPr lang="ru" sz="1600">
                <a:solidFill>
                  <a:srgbClr val="000000"/>
                </a:solidFill>
                <a:highlight>
                  <a:srgbClr val="FFFFFF"/>
                </a:highlight>
              </a:rPr>
            </a:br>
            <a:r>
              <a:rPr lang="ru" sz="1600">
                <a:solidFill>
                  <a:srgbClr val="000000"/>
                </a:solidFill>
                <a:highlight>
                  <a:srgbClr val="FFFFFF"/>
                </a:highlight>
              </a:rPr>
              <a:t>- Формальная инспекция - структурированный, систематизированный и документируемый подход к анализу документации, с привличением большого количества специалистов.</a:t>
            </a:r>
            <a:endParaRPr sz="1600">
              <a:solidFill>
                <a:srgbClr val="000000"/>
              </a:solidFill>
              <a:highlight>
                <a:srgbClr val="FFFFFF"/>
              </a:highlight>
            </a:endParaRPr>
          </a:p>
          <a:p>
            <a:pPr indent="-330200" lvl="0" marL="457200" rtl="0">
              <a:lnSpc>
                <a:spcPct val="100000"/>
              </a:lnSpc>
              <a:spcBef>
                <a:spcPts val="1000"/>
              </a:spcBef>
              <a:spcAft>
                <a:spcPts val="0"/>
              </a:spcAft>
              <a:buClr>
                <a:srgbClr val="000000"/>
              </a:buClr>
              <a:buSzPts val="1600"/>
              <a:buChar char="●"/>
            </a:pPr>
            <a:r>
              <a:rPr b="1" lang="ru" sz="1600">
                <a:solidFill>
                  <a:srgbClr val="000000"/>
                </a:solidFill>
              </a:rPr>
              <a:t>Вопросы</a:t>
            </a:r>
            <a:r>
              <a:rPr lang="ru" sz="1600">
                <a:solidFill>
                  <a:srgbClr val="000000"/>
                </a:solidFill>
              </a:rPr>
              <a:t> - Вопросы к представителям заказчика или обращения к справочной информации.</a:t>
            </a:r>
            <a:endParaRPr sz="1600">
              <a:solidFill>
                <a:srgbClr val="000000"/>
              </a:solidFill>
            </a:endParaRPr>
          </a:p>
        </p:txBody>
      </p:sp>
      <p:sp>
        <p:nvSpPr>
          <p:cNvPr id="132" name="Google Shape;132;p26"/>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Тестирование требований</a:t>
            </a:r>
            <a:endParaRPr b="1">
              <a:solidFill>
                <a:srgbClr val="696E7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6" name="Shape 136"/>
        <p:cNvGrpSpPr/>
        <p:nvPr/>
      </p:nvGrpSpPr>
      <p:grpSpPr>
        <a:xfrm>
          <a:off x="0" y="0"/>
          <a:ext cx="0" cy="0"/>
          <a:chOff x="0" y="0"/>
          <a:chExt cx="0" cy="0"/>
        </a:xfrm>
      </p:grpSpPr>
      <p:sp>
        <p:nvSpPr>
          <p:cNvPr id="137" name="Google Shape;137;p27"/>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b="1" lang="ru" sz="2000">
                <a:solidFill>
                  <a:srgbClr val="333333"/>
                </a:solidFill>
              </a:rPr>
              <a:t>Виды документации</a:t>
            </a:r>
            <a:endParaRPr b="1" sz="2000">
              <a:solidFill>
                <a:srgbClr val="333333"/>
              </a:solidFill>
            </a:endParaRPr>
          </a:p>
          <a:p>
            <a:pPr indent="0" lvl="0" marL="177800" marR="0" rtl="0" algn="ctr">
              <a:lnSpc>
                <a:spcPct val="90000"/>
              </a:lnSpc>
              <a:spcBef>
                <a:spcPts val="0"/>
              </a:spcBef>
              <a:spcAft>
                <a:spcPts val="0"/>
              </a:spcAft>
              <a:buNone/>
            </a:pPr>
            <a:r>
              <a:t/>
            </a:r>
            <a:endParaRPr b="1" sz="2000"/>
          </a:p>
          <a:p>
            <a:pPr indent="457200" lvl="0" marL="0" rtl="0">
              <a:lnSpc>
                <a:spcPct val="115000"/>
              </a:lnSpc>
              <a:spcBef>
                <a:spcPts val="1000"/>
              </a:spcBef>
              <a:spcAft>
                <a:spcPts val="0"/>
              </a:spcAft>
              <a:buNone/>
            </a:pPr>
            <a:r>
              <a:rPr b="1" lang="ru" sz="1600">
                <a:solidFill>
                  <a:srgbClr val="333333"/>
                </a:solidFill>
                <a:highlight>
                  <a:srgbClr val="FFFFFF"/>
                </a:highlight>
              </a:rPr>
              <a:t>Продуктная документация </a:t>
            </a:r>
            <a:r>
              <a:rPr lang="ru" sz="1600">
                <a:solidFill>
                  <a:srgbClr val="333333"/>
                </a:solidFill>
                <a:highlight>
                  <a:srgbClr val="FFFFFF"/>
                </a:highlight>
              </a:rPr>
              <a:t>(product documentation, development documentation) используется проектной командой во время разработки и поддержки продукта. Она включает:</a:t>
            </a:r>
            <a:endParaRPr sz="1600">
              <a:solidFill>
                <a:srgbClr val="333333"/>
              </a:solidFill>
              <a:highlight>
                <a:srgbClr val="FFFFFF"/>
              </a:highlight>
            </a:endParaRPr>
          </a:p>
          <a:p>
            <a:pPr indent="-330200" lvl="0" marL="457200" rtl="0">
              <a:lnSpc>
                <a:spcPct val="115000"/>
              </a:lnSpc>
              <a:spcBef>
                <a:spcPts val="1000"/>
              </a:spcBef>
              <a:spcAft>
                <a:spcPts val="0"/>
              </a:spcAft>
              <a:buClr>
                <a:srgbClr val="333333"/>
              </a:buClr>
              <a:buSzPts val="1600"/>
              <a:buChar char="●"/>
            </a:pPr>
            <a:r>
              <a:rPr b="1" lang="ru" sz="1600">
                <a:solidFill>
                  <a:srgbClr val="333333"/>
                </a:solidFill>
              </a:rPr>
              <a:t>План проекта</a:t>
            </a:r>
            <a:r>
              <a:rPr lang="ru" sz="1600">
                <a:solidFill>
                  <a:srgbClr val="333333"/>
                </a:solidFill>
              </a:rPr>
              <a:t> (project management) и в том числе тестовый план (test).</a:t>
            </a:r>
            <a:endParaRPr sz="1600">
              <a:solidFill>
                <a:srgbClr val="333333"/>
              </a:solidFill>
            </a:endParaRPr>
          </a:p>
          <a:p>
            <a:pPr indent="-330200" lvl="0" marL="457200" rtl="0">
              <a:lnSpc>
                <a:spcPct val="115000"/>
              </a:lnSpc>
              <a:spcBef>
                <a:spcPts val="1000"/>
              </a:spcBef>
              <a:spcAft>
                <a:spcPts val="0"/>
              </a:spcAft>
              <a:buClr>
                <a:srgbClr val="333333"/>
              </a:buClr>
              <a:buSzPts val="1600"/>
              <a:buChar char="●"/>
            </a:pPr>
            <a:r>
              <a:rPr b="1" lang="ru" sz="1600">
                <a:solidFill>
                  <a:srgbClr val="333333"/>
                </a:solidFill>
              </a:rPr>
              <a:t>Требования к программному продукту </a:t>
            </a:r>
            <a:r>
              <a:rPr lang="ru" sz="1600">
                <a:solidFill>
                  <a:srgbClr val="333333"/>
                </a:solidFill>
              </a:rPr>
              <a:t>(product requirements document) и функциональные спецификации (functional specifications document, FSD; software requirements specification, SRS).</a:t>
            </a:r>
            <a:endParaRPr sz="1600">
              <a:solidFill>
                <a:srgbClr val="333333"/>
              </a:solidFill>
            </a:endParaRPr>
          </a:p>
          <a:p>
            <a:pPr indent="-330200" lvl="0" marL="457200" rtl="0">
              <a:lnSpc>
                <a:spcPct val="115000"/>
              </a:lnSpc>
              <a:spcBef>
                <a:spcPts val="1000"/>
              </a:spcBef>
              <a:spcAft>
                <a:spcPts val="0"/>
              </a:spcAft>
              <a:buClr>
                <a:srgbClr val="333333"/>
              </a:buClr>
              <a:buSzPts val="1600"/>
              <a:buChar char="●"/>
            </a:pPr>
            <a:r>
              <a:rPr b="1" lang="ru" sz="1600">
                <a:solidFill>
                  <a:srgbClr val="333333"/>
                </a:solidFill>
              </a:rPr>
              <a:t>Архитектуру и дизайн </a:t>
            </a:r>
            <a:r>
              <a:rPr lang="ru" sz="1600">
                <a:solidFill>
                  <a:srgbClr val="333333"/>
                </a:solidFill>
              </a:rPr>
              <a:t>(architecture and design).</a:t>
            </a:r>
            <a:endParaRPr sz="1600">
              <a:solidFill>
                <a:srgbClr val="333333"/>
              </a:solidFill>
            </a:endParaRPr>
          </a:p>
          <a:p>
            <a:pPr indent="-330200" lvl="0" marL="457200" rtl="0">
              <a:lnSpc>
                <a:spcPct val="115000"/>
              </a:lnSpc>
              <a:spcBef>
                <a:spcPts val="1000"/>
              </a:spcBef>
              <a:spcAft>
                <a:spcPts val="0"/>
              </a:spcAft>
              <a:buClr>
                <a:srgbClr val="333333"/>
              </a:buClr>
              <a:buSzPts val="1600"/>
              <a:buChar char="●"/>
            </a:pPr>
            <a:r>
              <a:rPr b="1" lang="ru" sz="1600">
                <a:solidFill>
                  <a:srgbClr val="333333"/>
                </a:solidFill>
              </a:rPr>
              <a:t>Тест-кейсы и наборы тест-кейсов </a:t>
            </a:r>
            <a:r>
              <a:rPr lang="ru" sz="1600">
                <a:solidFill>
                  <a:srgbClr val="333333"/>
                </a:solidFill>
              </a:rPr>
              <a:t>(test cases, test suites).</a:t>
            </a:r>
            <a:endParaRPr sz="1600">
              <a:solidFill>
                <a:srgbClr val="333333"/>
              </a:solidFill>
            </a:endParaRPr>
          </a:p>
          <a:p>
            <a:pPr indent="-330200" lvl="0" marL="457200" rtl="0">
              <a:lnSpc>
                <a:spcPct val="115000"/>
              </a:lnSpc>
              <a:spcBef>
                <a:spcPts val="1000"/>
              </a:spcBef>
              <a:spcAft>
                <a:spcPts val="0"/>
              </a:spcAft>
              <a:buClr>
                <a:srgbClr val="333333"/>
              </a:buClr>
              <a:buSzPts val="1600"/>
              <a:buChar char="●"/>
            </a:pPr>
            <a:r>
              <a:rPr b="1" lang="ru" sz="1600">
                <a:solidFill>
                  <a:srgbClr val="333333"/>
                </a:solidFill>
              </a:rPr>
              <a:t>Технические спецификации</a:t>
            </a:r>
            <a:r>
              <a:rPr lang="ru" sz="1600">
                <a:solidFill>
                  <a:srgbClr val="333333"/>
                </a:solidFill>
              </a:rPr>
              <a:t> (technical specifications), такие как схемы баз данных, описания алгоритмов, интерфейсов и т.д.</a:t>
            </a:r>
            <a:endParaRPr sz="1600">
              <a:solidFill>
                <a:srgbClr val="333333"/>
              </a:solidFill>
            </a:endParaRPr>
          </a:p>
          <a:p>
            <a:pPr indent="0" lvl="0" marL="457200" rtl="0">
              <a:lnSpc>
                <a:spcPct val="115000"/>
              </a:lnSpc>
              <a:spcBef>
                <a:spcPts val="1000"/>
              </a:spcBef>
              <a:spcAft>
                <a:spcPts val="0"/>
              </a:spcAft>
              <a:buNone/>
            </a:pPr>
            <a:r>
              <a:t/>
            </a:r>
            <a:endParaRPr sz="1200">
              <a:solidFill>
                <a:srgbClr val="333333"/>
              </a:solidFill>
              <a:latin typeface="Arial"/>
              <a:ea typeface="Arial"/>
              <a:cs typeface="Arial"/>
              <a:sym typeface="Arial"/>
            </a:endParaRPr>
          </a:p>
          <a:p>
            <a:pPr indent="0" lvl="0" marL="914400" rtl="0">
              <a:lnSpc>
                <a:spcPct val="100000"/>
              </a:lnSpc>
              <a:spcBef>
                <a:spcPts val="1000"/>
              </a:spcBef>
              <a:spcAft>
                <a:spcPts val="0"/>
              </a:spcAft>
              <a:buNone/>
            </a:pPr>
            <a:r>
              <a:t/>
            </a:r>
            <a:endParaRPr sz="1200">
              <a:solidFill>
                <a:srgbClr val="333333"/>
              </a:solidFill>
              <a:highlight>
                <a:srgbClr val="FFFFFF"/>
              </a:highlight>
              <a:latin typeface="Arial"/>
              <a:ea typeface="Arial"/>
              <a:cs typeface="Arial"/>
              <a:sym typeface="Arial"/>
            </a:endParaRPr>
          </a:p>
        </p:txBody>
      </p:sp>
      <p:sp>
        <p:nvSpPr>
          <p:cNvPr id="138" name="Google Shape;138;p27"/>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ru">
                <a:solidFill>
                  <a:srgbClr val="696E71"/>
                </a:solidFill>
                <a:latin typeface="Calibri"/>
                <a:ea typeface="Calibri"/>
                <a:cs typeface="Calibri"/>
                <a:sym typeface="Calibri"/>
              </a:rPr>
              <a:t>Виды документации</a:t>
            </a:r>
            <a:endParaRPr b="1">
              <a:solidFill>
                <a:srgbClr val="696E7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2" name="Shape 142"/>
        <p:cNvGrpSpPr/>
        <p:nvPr/>
      </p:nvGrpSpPr>
      <p:grpSpPr>
        <a:xfrm>
          <a:off x="0" y="0"/>
          <a:ext cx="0" cy="0"/>
          <a:chOff x="0" y="0"/>
          <a:chExt cx="0" cy="0"/>
        </a:xfrm>
      </p:grpSpPr>
      <p:sp>
        <p:nvSpPr>
          <p:cNvPr id="143" name="Google Shape;143;p28"/>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b="1" lang="ru" sz="2000">
                <a:solidFill>
                  <a:srgbClr val="333333"/>
                </a:solidFill>
              </a:rPr>
              <a:t>Виды документации</a:t>
            </a:r>
            <a:endParaRPr b="1" sz="2000">
              <a:solidFill>
                <a:srgbClr val="333333"/>
              </a:solidFill>
            </a:endParaRPr>
          </a:p>
          <a:p>
            <a:pPr indent="0" lvl="0" marL="177800" marR="0" rtl="0" algn="ctr">
              <a:lnSpc>
                <a:spcPct val="90000"/>
              </a:lnSpc>
              <a:spcBef>
                <a:spcPts val="0"/>
              </a:spcBef>
              <a:spcAft>
                <a:spcPts val="0"/>
              </a:spcAft>
              <a:buNone/>
            </a:pPr>
            <a:r>
              <a:t/>
            </a:r>
            <a:endParaRPr b="1" sz="2000"/>
          </a:p>
          <a:p>
            <a:pPr indent="457200" lvl="0" marL="0" rtl="0">
              <a:lnSpc>
                <a:spcPct val="115000"/>
              </a:lnSpc>
              <a:spcBef>
                <a:spcPts val="0"/>
              </a:spcBef>
              <a:spcAft>
                <a:spcPts val="0"/>
              </a:spcAft>
              <a:buClr>
                <a:srgbClr val="000000"/>
              </a:buClr>
              <a:buSzPts val="1100"/>
              <a:buFont typeface="Arial"/>
              <a:buNone/>
            </a:pPr>
            <a:r>
              <a:rPr b="1" lang="ru" sz="1600">
                <a:solidFill>
                  <a:srgbClr val="333333"/>
                </a:solidFill>
              </a:rPr>
              <a:t>Проектная документация </a:t>
            </a:r>
            <a:r>
              <a:rPr lang="ru" sz="1600">
                <a:solidFill>
                  <a:srgbClr val="333333"/>
                </a:solidFill>
              </a:rPr>
              <a:t>(project documentation) включает в себя как продуктную документацию, так и некоторые дополнительные виды документации и используется не только на стадии разработки, но и на более ранних и поздних стадиях (например, на стадии внедрения и эксплуатации).</a:t>
            </a:r>
            <a:endParaRPr sz="1600">
              <a:solidFill>
                <a:srgbClr val="333333"/>
              </a:solidFill>
            </a:endParaRPr>
          </a:p>
          <a:p>
            <a:pPr indent="-330200" lvl="0" marL="457200" rtl="0">
              <a:lnSpc>
                <a:spcPct val="115000"/>
              </a:lnSpc>
              <a:spcBef>
                <a:spcPts val="1000"/>
              </a:spcBef>
              <a:spcAft>
                <a:spcPts val="0"/>
              </a:spcAft>
              <a:buClr>
                <a:srgbClr val="333333"/>
              </a:buClr>
              <a:buSzPts val="1600"/>
              <a:buChar char="●"/>
            </a:pPr>
            <a:r>
              <a:rPr b="1" lang="ru" sz="1600">
                <a:solidFill>
                  <a:srgbClr val="333333"/>
                </a:solidFill>
              </a:rPr>
              <a:t>Пользовательскую и сопроводительную документацию</a:t>
            </a:r>
            <a:r>
              <a:rPr lang="ru" sz="1600">
                <a:solidFill>
                  <a:srgbClr val="333333"/>
                </a:solidFill>
              </a:rPr>
              <a:t> (user and accompanying documentation), такую как встроенная помощь, руководство по установке и использованию, лицензионные соглашения и т.д.</a:t>
            </a:r>
            <a:endParaRPr sz="1600">
              <a:solidFill>
                <a:srgbClr val="333333"/>
              </a:solidFill>
            </a:endParaRPr>
          </a:p>
          <a:p>
            <a:pPr indent="-330200" lvl="0" marL="457200" rtl="0">
              <a:lnSpc>
                <a:spcPct val="115000"/>
              </a:lnSpc>
              <a:spcBef>
                <a:spcPts val="1000"/>
              </a:spcBef>
              <a:spcAft>
                <a:spcPts val="0"/>
              </a:spcAft>
              <a:buClr>
                <a:srgbClr val="333333"/>
              </a:buClr>
              <a:buSzPts val="1600"/>
              <a:buChar char="●"/>
            </a:pPr>
            <a:r>
              <a:rPr b="1" lang="ru" sz="1600">
                <a:solidFill>
                  <a:srgbClr val="333333"/>
                </a:solidFill>
              </a:rPr>
              <a:t>Маркетинговую документацию</a:t>
            </a:r>
            <a:r>
              <a:rPr lang="ru" sz="1600">
                <a:solidFill>
                  <a:srgbClr val="333333"/>
                </a:solidFill>
              </a:rPr>
              <a:t> (market requirements document, MRD),которую представители разработчика или заказчика используют как на начальных этапах (для уточнения сути и концепции проекта), так и на финальных этапах развития проекта (для продвижения продукта на рынке).</a:t>
            </a:r>
            <a:endParaRPr sz="1600">
              <a:solidFill>
                <a:srgbClr val="333333"/>
              </a:solidFill>
            </a:endParaRPr>
          </a:p>
          <a:p>
            <a:pPr indent="0" lvl="0" marL="457200" marR="38100" rtl="0" algn="l">
              <a:lnSpc>
                <a:spcPct val="133333"/>
              </a:lnSpc>
              <a:spcBef>
                <a:spcPts val="2000"/>
              </a:spcBef>
              <a:spcAft>
                <a:spcPts val="0"/>
              </a:spcAft>
              <a:buNone/>
            </a:pPr>
            <a:r>
              <a:t/>
            </a:r>
            <a:endParaRPr b="1" sz="1200">
              <a:solidFill>
                <a:srgbClr val="333333"/>
              </a:solidFill>
              <a:highlight>
                <a:srgbClr val="FFFFFF"/>
              </a:highlight>
              <a:latin typeface="Arial"/>
              <a:ea typeface="Arial"/>
              <a:cs typeface="Arial"/>
              <a:sym typeface="Arial"/>
            </a:endParaRPr>
          </a:p>
          <a:p>
            <a:pPr indent="0" lvl="0" marL="457200" rtl="0">
              <a:lnSpc>
                <a:spcPct val="115000"/>
              </a:lnSpc>
              <a:spcBef>
                <a:spcPts val="1000"/>
              </a:spcBef>
              <a:spcAft>
                <a:spcPts val="0"/>
              </a:spcAft>
              <a:buNone/>
            </a:pPr>
            <a:r>
              <a:t/>
            </a:r>
            <a:endParaRPr sz="1200">
              <a:solidFill>
                <a:srgbClr val="333333"/>
              </a:solidFill>
              <a:latin typeface="Arial"/>
              <a:ea typeface="Arial"/>
              <a:cs typeface="Arial"/>
              <a:sym typeface="Arial"/>
            </a:endParaRPr>
          </a:p>
          <a:p>
            <a:pPr indent="0" lvl="0" marL="914400" rtl="0">
              <a:lnSpc>
                <a:spcPct val="100000"/>
              </a:lnSpc>
              <a:spcBef>
                <a:spcPts val="1000"/>
              </a:spcBef>
              <a:spcAft>
                <a:spcPts val="0"/>
              </a:spcAft>
              <a:buNone/>
            </a:pPr>
            <a:r>
              <a:t/>
            </a:r>
            <a:endParaRPr sz="1200">
              <a:solidFill>
                <a:srgbClr val="333333"/>
              </a:solidFill>
              <a:highlight>
                <a:srgbClr val="FFFFFF"/>
              </a:highlight>
              <a:latin typeface="Arial"/>
              <a:ea typeface="Arial"/>
              <a:cs typeface="Arial"/>
              <a:sym typeface="Arial"/>
            </a:endParaRPr>
          </a:p>
        </p:txBody>
      </p:sp>
      <p:sp>
        <p:nvSpPr>
          <p:cNvPr id="144" name="Google Shape;144;p28"/>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Виды документации</a:t>
            </a:r>
            <a:endParaRPr b="1">
              <a:solidFill>
                <a:srgbClr val="696E7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8" name="Shape 148"/>
        <p:cNvGrpSpPr/>
        <p:nvPr/>
      </p:nvGrpSpPr>
      <p:grpSpPr>
        <a:xfrm>
          <a:off x="0" y="0"/>
          <a:ext cx="0" cy="0"/>
          <a:chOff x="0" y="0"/>
          <a:chExt cx="0" cy="0"/>
        </a:xfrm>
      </p:grpSpPr>
      <p:sp>
        <p:nvSpPr>
          <p:cNvPr id="149" name="Google Shape;149;p29"/>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lang="ru" sz="2000">
                <a:solidFill>
                  <a:srgbClr val="000000"/>
                </a:solidFill>
              </a:rPr>
              <a:t> </a:t>
            </a:r>
            <a:r>
              <a:rPr b="1" lang="ru" sz="2000">
                <a:solidFill>
                  <a:srgbClr val="000000"/>
                </a:solidFill>
              </a:rPr>
              <a:t>White/Black/Grey Box-тестирование</a:t>
            </a:r>
            <a:br>
              <a:rPr b="1" lang="ru" sz="2000">
                <a:solidFill>
                  <a:srgbClr val="000000"/>
                </a:solidFill>
              </a:rPr>
            </a:br>
            <a:endParaRPr b="1" sz="1600">
              <a:solidFill>
                <a:srgbClr val="000000"/>
              </a:solidFill>
            </a:endParaRPr>
          </a:p>
          <a:p>
            <a:pPr indent="457200" lvl="0" marL="0" marR="0" rtl="0" algn="l">
              <a:lnSpc>
                <a:spcPct val="90000"/>
              </a:lnSpc>
              <a:spcBef>
                <a:spcPts val="0"/>
              </a:spcBef>
              <a:spcAft>
                <a:spcPts val="0"/>
              </a:spcAft>
              <a:buNone/>
            </a:pPr>
            <a:r>
              <a:rPr lang="ru" sz="1600">
                <a:solidFill>
                  <a:srgbClr val="000000"/>
                </a:solidFill>
                <a:highlight>
                  <a:srgbClr val="FFFFFF"/>
                </a:highlight>
              </a:rPr>
              <a:t>Типы тестирования, которые отличаются знанием внутреннего устройства объекта тестирования.</a:t>
            </a:r>
            <a:endParaRPr sz="1600">
              <a:solidFill>
                <a:srgbClr val="000000"/>
              </a:solidFill>
            </a:endParaRPr>
          </a:p>
          <a:p>
            <a:pPr indent="0" lvl="0" marL="0" rtl="0">
              <a:spcBef>
                <a:spcPts val="1000"/>
              </a:spcBef>
              <a:spcAft>
                <a:spcPts val="0"/>
              </a:spcAft>
              <a:buNone/>
            </a:pPr>
            <a:r>
              <a:rPr b="1" lang="ru" sz="1600">
                <a:solidFill>
                  <a:srgbClr val="000000"/>
                </a:solidFill>
              </a:rPr>
              <a:t>Black-box тестирование:</a:t>
            </a:r>
            <a:br>
              <a:rPr b="1" i="1" lang="ru" sz="1600">
                <a:solidFill>
                  <a:srgbClr val="000000"/>
                </a:solidFill>
              </a:rPr>
            </a:br>
            <a:r>
              <a:rPr b="1" i="1" lang="ru" sz="1600">
                <a:solidFill>
                  <a:srgbClr val="000000"/>
                </a:solidFill>
              </a:rPr>
              <a:t>	</a:t>
            </a:r>
            <a:r>
              <a:rPr lang="ru" sz="1600">
                <a:solidFill>
                  <a:srgbClr val="000000"/>
                </a:solidFill>
              </a:rPr>
              <a:t>Тестирование методом «черного ящика», также известное как тестирование, основанное на спецификации или тестирование поведения – техника тестирования, основанная на работе исключительно с внешними интерфейсами тестируемой системы.</a:t>
            </a:r>
            <a:br>
              <a:rPr lang="ru" sz="1600">
                <a:solidFill>
                  <a:srgbClr val="000000"/>
                </a:solidFill>
              </a:rPr>
            </a:br>
            <a:endParaRPr sz="1600">
              <a:solidFill>
                <a:srgbClr val="000000"/>
              </a:solidFill>
            </a:endParaRPr>
          </a:p>
          <a:p>
            <a:pPr indent="0" lvl="0" marL="0" rtl="0">
              <a:spcBef>
                <a:spcPts val="0"/>
              </a:spcBef>
              <a:spcAft>
                <a:spcPts val="0"/>
              </a:spcAft>
              <a:buNone/>
            </a:pPr>
            <a:r>
              <a:rPr b="1" lang="ru" sz="1600">
                <a:solidFill>
                  <a:srgbClr val="000000"/>
                </a:solidFill>
              </a:rPr>
              <a:t>Black-box тестирование</a:t>
            </a:r>
            <a:r>
              <a:rPr lang="ru" sz="1600">
                <a:solidFill>
                  <a:srgbClr val="000000"/>
                </a:solidFill>
              </a:rPr>
              <a:t> по ISTQB:</a:t>
            </a:r>
            <a:endParaRPr sz="1600">
              <a:solidFill>
                <a:srgbClr val="000000"/>
              </a:solidFill>
            </a:endParaRPr>
          </a:p>
          <a:p>
            <a:pPr indent="-330200" lvl="0" marL="457200" rtl="0">
              <a:spcBef>
                <a:spcPts val="0"/>
              </a:spcBef>
              <a:spcAft>
                <a:spcPts val="0"/>
              </a:spcAft>
              <a:buClr>
                <a:srgbClr val="000000"/>
              </a:buClr>
              <a:buSzPts val="1600"/>
              <a:buChar char="●"/>
            </a:pPr>
            <a:r>
              <a:rPr lang="ru" sz="1600">
                <a:solidFill>
                  <a:srgbClr val="000000"/>
                </a:solidFill>
              </a:rPr>
              <a:t>тестирование, как функциональное, так и нефункциональное, </a:t>
            </a:r>
            <a:br>
              <a:rPr lang="ru" sz="1600">
                <a:solidFill>
                  <a:srgbClr val="000000"/>
                </a:solidFill>
              </a:rPr>
            </a:br>
            <a:r>
              <a:rPr lang="ru" sz="1600">
                <a:solidFill>
                  <a:srgbClr val="000000"/>
                </a:solidFill>
              </a:rPr>
              <a:t>не предполагающее знания внутреннего устройства компонента или системы;</a:t>
            </a:r>
            <a:endParaRPr sz="1600">
              <a:solidFill>
                <a:srgbClr val="000000"/>
              </a:solidFill>
            </a:endParaRPr>
          </a:p>
          <a:p>
            <a:pPr indent="-330200" lvl="0" marL="457200" rtl="0">
              <a:lnSpc>
                <a:spcPct val="115000"/>
              </a:lnSpc>
              <a:spcBef>
                <a:spcPts val="0"/>
              </a:spcBef>
              <a:spcAft>
                <a:spcPts val="0"/>
              </a:spcAft>
              <a:buClr>
                <a:srgbClr val="000000"/>
              </a:buClr>
              <a:buSzPts val="1600"/>
              <a:buChar char="●"/>
            </a:pPr>
            <a:r>
              <a:rPr lang="ru" sz="1600">
                <a:solidFill>
                  <a:srgbClr val="000000"/>
                </a:solidFill>
              </a:rPr>
              <a:t>тест-дизайн, основанный на технике черного ящика – процедура написания или выбора тест-кейсов на основе анализа функциональной или нефункциональной спецификации компонента или системы без знания ее внутреннего устройства.</a:t>
            </a:r>
            <a:endParaRPr sz="1600">
              <a:solidFill>
                <a:srgbClr val="000000"/>
              </a:solidFill>
            </a:endParaRPr>
          </a:p>
        </p:txBody>
      </p:sp>
      <p:pic>
        <p:nvPicPr>
          <p:cNvPr id="150" name="Google Shape;150;p29"/>
          <p:cNvPicPr preferRelativeResize="0"/>
          <p:nvPr/>
        </p:nvPicPr>
        <p:blipFill>
          <a:blip r:embed="rId3">
            <a:alphaModFix/>
          </a:blip>
          <a:stretch>
            <a:fillRect/>
          </a:stretch>
        </p:blipFill>
        <p:spPr>
          <a:xfrm>
            <a:off x="6373150" y="4281300"/>
            <a:ext cx="2295125" cy="745650"/>
          </a:xfrm>
          <a:prstGeom prst="rect">
            <a:avLst/>
          </a:prstGeom>
          <a:noFill/>
          <a:ln>
            <a:noFill/>
          </a:ln>
        </p:spPr>
      </p:pic>
      <p:sp>
        <p:nvSpPr>
          <p:cNvPr id="151" name="Google Shape;151;p29"/>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Методы тестирования</a:t>
            </a:r>
            <a:endParaRPr b="1">
              <a:solidFill>
                <a:srgbClr val="696E7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5" name="Shape 155"/>
        <p:cNvGrpSpPr/>
        <p:nvPr/>
      </p:nvGrpSpPr>
      <p:grpSpPr>
        <a:xfrm>
          <a:off x="0" y="0"/>
          <a:ext cx="0" cy="0"/>
          <a:chOff x="0" y="0"/>
          <a:chExt cx="0" cy="0"/>
        </a:xfrm>
      </p:grpSpPr>
      <p:sp>
        <p:nvSpPr>
          <p:cNvPr id="156" name="Google Shape;156;p30"/>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000"/>
              <a:t> </a:t>
            </a:r>
            <a:r>
              <a:rPr b="1" lang="ru" sz="2000"/>
              <a:t>White</a:t>
            </a:r>
            <a:r>
              <a:rPr b="1" lang="ru" sz="2000"/>
              <a:t>-box тестирование:</a:t>
            </a:r>
            <a:endParaRPr b="1" sz="2000"/>
          </a:p>
          <a:p>
            <a:pPr indent="0" lvl="0" marL="177800" marR="0" rtl="0" algn="ctr">
              <a:lnSpc>
                <a:spcPct val="100000"/>
              </a:lnSpc>
              <a:spcBef>
                <a:spcPts val="0"/>
              </a:spcBef>
              <a:spcAft>
                <a:spcPts val="0"/>
              </a:spcAft>
              <a:buNone/>
            </a:pPr>
            <a:r>
              <a:t/>
            </a:r>
            <a:endParaRPr sz="1600"/>
          </a:p>
          <a:p>
            <a:pPr indent="457200" lvl="0" marL="0" marR="0" rtl="0">
              <a:lnSpc>
                <a:spcPct val="100000"/>
              </a:lnSpc>
              <a:spcBef>
                <a:spcPts val="0"/>
              </a:spcBef>
              <a:spcAft>
                <a:spcPts val="0"/>
              </a:spcAft>
              <a:buNone/>
            </a:pPr>
            <a:r>
              <a:rPr lang="ru" sz="1600"/>
              <a:t>Тестирование методом белого ящика (также прозрачного, открытого, стеклянного ящика или же основанное на коде или структурное тестирование) – метод тестирования программного обеспечения, который предполагает, что внутренняя структура/устройство/реализация системы известны тестировщику.</a:t>
            </a:r>
            <a:endParaRPr sz="1600"/>
          </a:p>
          <a:p>
            <a:pPr indent="0" lvl="0" marL="177800" marR="0" rtl="0">
              <a:lnSpc>
                <a:spcPct val="100000"/>
              </a:lnSpc>
              <a:spcBef>
                <a:spcPts val="0"/>
              </a:spcBef>
              <a:spcAft>
                <a:spcPts val="0"/>
              </a:spcAft>
              <a:buNone/>
            </a:pPr>
            <a:r>
              <a:t/>
            </a:r>
            <a:endParaRPr sz="1600"/>
          </a:p>
          <a:p>
            <a:pPr indent="0" lvl="0" marL="0" rtl="0">
              <a:lnSpc>
                <a:spcPct val="100000"/>
              </a:lnSpc>
              <a:spcBef>
                <a:spcPts val="0"/>
              </a:spcBef>
              <a:spcAft>
                <a:spcPts val="0"/>
              </a:spcAft>
              <a:buNone/>
            </a:pPr>
            <a:r>
              <a:rPr b="1" lang="ru" sz="1600"/>
              <a:t>White</a:t>
            </a:r>
            <a:r>
              <a:rPr b="1" lang="ru" sz="1600"/>
              <a:t>-box тестирование по ISTQB:</a:t>
            </a:r>
            <a:endParaRPr b="1" sz="1600"/>
          </a:p>
          <a:p>
            <a:pPr indent="-330200" lvl="0" marL="457200" rtl="0">
              <a:lnSpc>
                <a:spcPct val="100000"/>
              </a:lnSpc>
              <a:spcBef>
                <a:spcPts val="0"/>
              </a:spcBef>
              <a:spcAft>
                <a:spcPts val="0"/>
              </a:spcAft>
              <a:buClr>
                <a:srgbClr val="333333"/>
              </a:buClr>
              <a:buSzPts val="1600"/>
              <a:buChar char="●"/>
            </a:pPr>
            <a:r>
              <a:rPr lang="ru" sz="1600">
                <a:solidFill>
                  <a:srgbClr val="333333"/>
                </a:solidFill>
              </a:rPr>
              <a:t>тестирование, основанное на анализе внутренней </a:t>
            </a:r>
            <a:br>
              <a:rPr lang="ru" sz="1600">
                <a:solidFill>
                  <a:srgbClr val="333333"/>
                </a:solidFill>
              </a:rPr>
            </a:br>
            <a:r>
              <a:rPr lang="ru" sz="1600">
                <a:solidFill>
                  <a:srgbClr val="333333"/>
                </a:solidFill>
              </a:rPr>
              <a:t>структуры компонента или системы;</a:t>
            </a:r>
            <a:endParaRPr sz="1600">
              <a:solidFill>
                <a:srgbClr val="333333"/>
              </a:solidFill>
            </a:endParaRPr>
          </a:p>
          <a:p>
            <a:pPr indent="-330200" lvl="0" marL="457200" rtl="0">
              <a:lnSpc>
                <a:spcPct val="100000"/>
              </a:lnSpc>
              <a:spcBef>
                <a:spcPts val="0"/>
              </a:spcBef>
              <a:spcAft>
                <a:spcPts val="0"/>
              </a:spcAft>
              <a:buClr>
                <a:srgbClr val="333333"/>
              </a:buClr>
              <a:buSzPts val="1600"/>
              <a:buChar char="●"/>
            </a:pPr>
            <a:r>
              <a:rPr lang="ru" sz="1600">
                <a:solidFill>
                  <a:srgbClr val="333333"/>
                </a:solidFill>
              </a:rPr>
              <a:t>тест-дизайн, основанный на технике белого ящика – процедура написания или выбора тест-кейсов на основе анализа внутреннего устройства системы или компонента.</a:t>
            </a:r>
            <a:endParaRPr sz="1600"/>
          </a:p>
        </p:txBody>
      </p:sp>
      <p:pic>
        <p:nvPicPr>
          <p:cNvPr id="157" name="Google Shape;157;p30"/>
          <p:cNvPicPr preferRelativeResize="0"/>
          <p:nvPr/>
        </p:nvPicPr>
        <p:blipFill>
          <a:blip r:embed="rId3">
            <a:alphaModFix/>
          </a:blip>
          <a:stretch>
            <a:fillRect/>
          </a:stretch>
        </p:blipFill>
        <p:spPr>
          <a:xfrm>
            <a:off x="4766575" y="3695925"/>
            <a:ext cx="2938525" cy="1057375"/>
          </a:xfrm>
          <a:prstGeom prst="rect">
            <a:avLst/>
          </a:prstGeom>
          <a:noFill/>
          <a:ln>
            <a:noFill/>
          </a:ln>
        </p:spPr>
      </p:pic>
      <p:sp>
        <p:nvSpPr>
          <p:cNvPr id="158" name="Google Shape;158;p30"/>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Методы тестирования</a:t>
            </a:r>
            <a:endParaRPr b="1">
              <a:solidFill>
                <a:srgbClr val="696E7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2" name="Shape 162"/>
        <p:cNvGrpSpPr/>
        <p:nvPr/>
      </p:nvGrpSpPr>
      <p:grpSpPr>
        <a:xfrm>
          <a:off x="0" y="0"/>
          <a:ext cx="0" cy="0"/>
          <a:chOff x="0" y="0"/>
          <a:chExt cx="0" cy="0"/>
        </a:xfrm>
      </p:grpSpPr>
      <p:sp>
        <p:nvSpPr>
          <p:cNvPr id="163" name="Google Shape;163;p31"/>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lang="ru" sz="2000"/>
              <a:t> </a:t>
            </a:r>
            <a:r>
              <a:rPr b="1" lang="ru" sz="2000"/>
              <a:t>Grey</a:t>
            </a:r>
            <a:r>
              <a:rPr b="1" lang="ru" sz="2000"/>
              <a:t>-box тестирование:</a:t>
            </a:r>
            <a:br>
              <a:rPr b="1" lang="ru" sz="2000"/>
            </a:br>
            <a:endParaRPr b="1" sz="1600"/>
          </a:p>
          <a:p>
            <a:pPr indent="457200" lvl="0" marL="0" rtl="0">
              <a:spcBef>
                <a:spcPts val="0"/>
              </a:spcBef>
              <a:spcAft>
                <a:spcPts val="0"/>
              </a:spcAft>
              <a:buNone/>
            </a:pPr>
            <a:r>
              <a:rPr lang="ru" sz="1600">
                <a:solidFill>
                  <a:srgbClr val="333333"/>
                </a:solidFill>
                <a:highlight>
                  <a:srgbClr val="FFFFFF"/>
                </a:highlight>
              </a:rPr>
              <a:t>Тестирование методом серого ящика – метод тестирования программного обеспечения, который предполагает комбинацию White Box и Black Box подходов. То есть внутреннее устройство программы нам известно лишь частично</a:t>
            </a:r>
            <a:br>
              <a:rPr lang="ru" sz="1600"/>
            </a:br>
            <a:endParaRPr sz="1600"/>
          </a:p>
          <a:p>
            <a:pPr indent="457200" lvl="0" marL="0" rtl="0">
              <a:lnSpc>
                <a:spcPct val="115000"/>
              </a:lnSpc>
              <a:spcBef>
                <a:spcPts val="0"/>
              </a:spcBef>
              <a:spcAft>
                <a:spcPts val="1000"/>
              </a:spcAft>
              <a:buClr>
                <a:schemeClr val="dk1"/>
              </a:buClr>
              <a:buSzPts val="1100"/>
              <a:buFont typeface="Arial"/>
              <a:buNone/>
            </a:pPr>
            <a:r>
              <a:rPr lang="ru" sz="1600">
                <a:solidFill>
                  <a:srgbClr val="333333"/>
                </a:solidFill>
              </a:rPr>
              <a:t>Предполагается, например, доступ ко</a:t>
            </a:r>
            <a:br>
              <a:rPr lang="ru" sz="1600">
                <a:solidFill>
                  <a:srgbClr val="333333"/>
                </a:solidFill>
              </a:rPr>
            </a:br>
            <a:r>
              <a:rPr lang="ru" sz="1600">
                <a:solidFill>
                  <a:srgbClr val="333333"/>
                </a:solidFill>
              </a:rPr>
              <a:t>внутренней структуре и алгоритмам</a:t>
            </a:r>
            <a:br>
              <a:rPr lang="ru" sz="1600">
                <a:solidFill>
                  <a:srgbClr val="333333"/>
                </a:solidFill>
              </a:rPr>
            </a:br>
            <a:r>
              <a:rPr lang="ru" sz="1600">
                <a:solidFill>
                  <a:srgbClr val="333333"/>
                </a:solidFill>
              </a:rPr>
              <a:t>работы ПО для написания максимально</a:t>
            </a:r>
            <a:br>
              <a:rPr lang="ru" sz="1600">
                <a:solidFill>
                  <a:srgbClr val="333333"/>
                </a:solidFill>
              </a:rPr>
            </a:br>
            <a:r>
              <a:rPr lang="ru" sz="1600">
                <a:solidFill>
                  <a:srgbClr val="333333"/>
                </a:solidFill>
              </a:rPr>
              <a:t>эффективных тест-кейсов, но само</a:t>
            </a:r>
            <a:br>
              <a:rPr lang="ru" sz="1600">
                <a:solidFill>
                  <a:srgbClr val="333333"/>
                </a:solidFill>
              </a:rPr>
            </a:br>
            <a:r>
              <a:rPr lang="ru" sz="1600">
                <a:solidFill>
                  <a:srgbClr val="333333"/>
                </a:solidFill>
              </a:rPr>
              <a:t>тестирование проводится с помощью</a:t>
            </a:r>
            <a:br>
              <a:rPr lang="ru" sz="1600">
                <a:solidFill>
                  <a:srgbClr val="333333"/>
                </a:solidFill>
              </a:rPr>
            </a:br>
            <a:r>
              <a:rPr lang="ru" sz="1600">
                <a:solidFill>
                  <a:srgbClr val="333333"/>
                </a:solidFill>
              </a:rPr>
              <a:t>техники черного ящика, то есть с</a:t>
            </a:r>
            <a:br>
              <a:rPr lang="ru" sz="1600">
                <a:solidFill>
                  <a:srgbClr val="333333"/>
                </a:solidFill>
              </a:rPr>
            </a:br>
            <a:r>
              <a:rPr lang="ru" sz="1600">
                <a:solidFill>
                  <a:srgbClr val="333333"/>
                </a:solidFill>
              </a:rPr>
              <a:t>позиции пользователя.</a:t>
            </a:r>
            <a:endParaRPr sz="1600"/>
          </a:p>
        </p:txBody>
      </p:sp>
      <p:pic>
        <p:nvPicPr>
          <p:cNvPr id="164" name="Google Shape;164;p31"/>
          <p:cNvPicPr preferRelativeResize="0"/>
          <p:nvPr/>
        </p:nvPicPr>
        <p:blipFill>
          <a:blip r:embed="rId3">
            <a:alphaModFix/>
          </a:blip>
          <a:stretch>
            <a:fillRect/>
          </a:stretch>
        </p:blipFill>
        <p:spPr>
          <a:xfrm>
            <a:off x="4572000" y="2014975"/>
            <a:ext cx="4140500" cy="2700109"/>
          </a:xfrm>
          <a:prstGeom prst="rect">
            <a:avLst/>
          </a:prstGeom>
          <a:noFill/>
          <a:ln>
            <a:noFill/>
          </a:ln>
        </p:spPr>
      </p:pic>
      <p:sp>
        <p:nvSpPr>
          <p:cNvPr id="165" name="Google Shape;165;p31"/>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Методы тестирования</a:t>
            </a:r>
            <a:endParaRPr b="1">
              <a:solidFill>
                <a:srgbClr val="696E7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32"/>
          <p:cNvSpPr txBox="1"/>
          <p:nvPr>
            <p:ph idx="1" type="body"/>
          </p:nvPr>
        </p:nvSpPr>
        <p:spPr>
          <a:xfrm>
            <a:off x="180000" y="505400"/>
            <a:ext cx="8784000" cy="45345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000"/>
              <a:t> </a:t>
            </a:r>
            <a:r>
              <a:rPr b="1" lang="ru" sz="2000"/>
              <a:t>Статическое и динамическое тестировани</a:t>
            </a:r>
            <a:r>
              <a:rPr b="1" lang="ru" sz="2000"/>
              <a:t>е</a:t>
            </a:r>
            <a:endParaRPr b="1" sz="2000"/>
          </a:p>
          <a:p>
            <a:pPr indent="0" lvl="0" marL="177800" marR="0" rtl="0" algn="ctr">
              <a:lnSpc>
                <a:spcPct val="100000"/>
              </a:lnSpc>
              <a:spcBef>
                <a:spcPts val="0"/>
              </a:spcBef>
              <a:spcAft>
                <a:spcPts val="0"/>
              </a:spcAft>
              <a:buNone/>
            </a:pPr>
            <a:r>
              <a:t/>
            </a:r>
            <a:endParaRPr b="1" sz="2000"/>
          </a:p>
          <a:p>
            <a:pPr indent="457200" lvl="0" marL="0" marR="0" rtl="0">
              <a:lnSpc>
                <a:spcPct val="100000"/>
              </a:lnSpc>
              <a:spcBef>
                <a:spcPts val="0"/>
              </a:spcBef>
              <a:spcAft>
                <a:spcPts val="0"/>
              </a:spcAft>
              <a:buNone/>
            </a:pPr>
            <a:r>
              <a:rPr lang="ru" sz="1600">
                <a:solidFill>
                  <a:srgbClr val="333333"/>
                </a:solidFill>
                <a:highlight>
                  <a:srgbClr val="FFFFFF"/>
                </a:highlight>
              </a:rPr>
              <a:t>По критерию запуска программы (исполняется ли программный код) выделяют два типа тестирования:</a:t>
            </a:r>
            <a:endParaRPr sz="1600"/>
          </a:p>
          <a:p>
            <a:pPr indent="0" lvl="0" marL="177800" marR="0" rtl="0">
              <a:lnSpc>
                <a:spcPct val="100000"/>
              </a:lnSpc>
              <a:spcBef>
                <a:spcPts val="0"/>
              </a:spcBef>
              <a:spcAft>
                <a:spcPts val="0"/>
              </a:spcAft>
              <a:buNone/>
            </a:pPr>
            <a:r>
              <a:t/>
            </a:r>
            <a:endParaRPr b="1" sz="1600">
              <a:solidFill>
                <a:srgbClr val="333333"/>
              </a:solidFill>
            </a:endParaRPr>
          </a:p>
          <a:p>
            <a:pPr indent="-330200" lvl="0" marL="457200" marR="0" rtl="0">
              <a:lnSpc>
                <a:spcPct val="100000"/>
              </a:lnSpc>
              <a:spcBef>
                <a:spcPts val="0"/>
              </a:spcBef>
              <a:spcAft>
                <a:spcPts val="0"/>
              </a:spcAft>
              <a:buClr>
                <a:srgbClr val="333333"/>
              </a:buClr>
              <a:buSzPts val="1600"/>
              <a:buChar char="●"/>
            </a:pPr>
            <a:r>
              <a:rPr b="1" lang="ru" sz="1600">
                <a:solidFill>
                  <a:srgbClr val="333333"/>
                </a:solidFill>
              </a:rPr>
              <a:t>Статическое тестирование</a:t>
            </a:r>
            <a:r>
              <a:rPr lang="ru" sz="1600">
                <a:solidFill>
                  <a:srgbClr val="333333"/>
                </a:solidFill>
              </a:rPr>
              <a:t> - </a:t>
            </a:r>
            <a:r>
              <a:rPr lang="ru" sz="1600">
                <a:solidFill>
                  <a:srgbClr val="333333"/>
                </a:solidFill>
                <a:highlight>
                  <a:srgbClr val="FFFFFF"/>
                </a:highlight>
              </a:rPr>
              <a:t>тип тестирования, который предполагает, что программный код во время тестирования не будет выполняться. Выделяют несколько видов, таких как:</a:t>
            </a:r>
            <a:endParaRPr sz="1600">
              <a:solidFill>
                <a:srgbClr val="333333"/>
              </a:solidFill>
              <a:highlight>
                <a:srgbClr val="FFFFFF"/>
              </a:highlight>
            </a:endParaRPr>
          </a:p>
          <a:p>
            <a:pPr indent="0" lvl="0" marL="0" marR="0" rtl="0">
              <a:lnSpc>
                <a:spcPct val="100000"/>
              </a:lnSpc>
              <a:spcBef>
                <a:spcPts val="0"/>
              </a:spcBef>
              <a:spcAft>
                <a:spcPts val="0"/>
              </a:spcAft>
              <a:buNone/>
            </a:pPr>
            <a:br>
              <a:rPr lang="ru" sz="900">
                <a:solidFill>
                  <a:srgbClr val="333333"/>
                </a:solidFill>
                <a:highlight>
                  <a:srgbClr val="FFFFFF"/>
                </a:highlight>
              </a:rPr>
            </a:br>
            <a:r>
              <a:rPr lang="ru" sz="1600">
                <a:solidFill>
                  <a:srgbClr val="333333"/>
                </a:solidFill>
                <a:highlight>
                  <a:srgbClr val="FFFFFF"/>
                </a:highlight>
              </a:rPr>
              <a:t>		- </a:t>
            </a:r>
            <a:r>
              <a:rPr lang="ru" sz="1600">
                <a:solidFill>
                  <a:srgbClr val="333333"/>
                </a:solidFill>
              </a:rPr>
              <a:t>вычитка исходного кода программы;</a:t>
            </a:r>
            <a:br>
              <a:rPr lang="ru" sz="1600">
                <a:solidFill>
                  <a:srgbClr val="333333"/>
                </a:solidFill>
              </a:rPr>
            </a:br>
            <a:r>
              <a:rPr lang="ru" sz="1600">
                <a:solidFill>
                  <a:srgbClr val="333333"/>
                </a:solidFill>
              </a:rPr>
              <a:t>		- проверка требований.</a:t>
            </a:r>
            <a:endParaRPr sz="1600">
              <a:solidFill>
                <a:srgbClr val="333333"/>
              </a:solidFill>
            </a:endParaRPr>
          </a:p>
          <a:p>
            <a:pPr indent="0" lvl="0" marL="914400" marR="0" rtl="0">
              <a:lnSpc>
                <a:spcPct val="100000"/>
              </a:lnSpc>
              <a:spcBef>
                <a:spcPts val="0"/>
              </a:spcBef>
              <a:spcAft>
                <a:spcPts val="0"/>
              </a:spcAft>
              <a:buNone/>
            </a:pPr>
            <a:r>
              <a:t/>
            </a:r>
            <a:endParaRPr sz="1600">
              <a:solidFill>
                <a:srgbClr val="333333"/>
              </a:solidFill>
            </a:endParaRPr>
          </a:p>
          <a:p>
            <a:pPr indent="-330200" lvl="0" marL="457200" marR="0" rtl="0">
              <a:lnSpc>
                <a:spcPct val="100000"/>
              </a:lnSpc>
              <a:spcBef>
                <a:spcPts val="0"/>
              </a:spcBef>
              <a:spcAft>
                <a:spcPts val="0"/>
              </a:spcAft>
              <a:buClr>
                <a:srgbClr val="333333"/>
              </a:buClr>
              <a:buSzPts val="1600"/>
              <a:buChar char="●"/>
            </a:pPr>
            <a:r>
              <a:rPr b="1" lang="ru" sz="1600">
                <a:solidFill>
                  <a:srgbClr val="333333"/>
                </a:solidFill>
              </a:rPr>
              <a:t>Динамическое тестирование</a:t>
            </a:r>
            <a:r>
              <a:rPr lang="ru" sz="1600">
                <a:solidFill>
                  <a:srgbClr val="333333"/>
                </a:solidFill>
              </a:rPr>
              <a:t> - </a:t>
            </a:r>
            <a:r>
              <a:rPr lang="ru" sz="1600">
                <a:solidFill>
                  <a:srgbClr val="333333"/>
                </a:solidFill>
                <a:highlight>
                  <a:srgbClr val="FFFFFF"/>
                </a:highlight>
              </a:rPr>
              <a:t>тип тестирования, который предполагает запуск программного кода. Таким образом, анализируется поведение программы во время ее работы. Включает разные подвиды, каждый из которых зависит от:</a:t>
            </a:r>
            <a:endParaRPr sz="700">
              <a:solidFill>
                <a:srgbClr val="333333"/>
              </a:solidFill>
              <a:highlight>
                <a:srgbClr val="FFFFFF"/>
              </a:highlight>
            </a:endParaRPr>
          </a:p>
          <a:p>
            <a:pPr indent="0" lvl="0" marL="914400" marR="0" rtl="0">
              <a:lnSpc>
                <a:spcPct val="100000"/>
              </a:lnSpc>
              <a:spcBef>
                <a:spcPts val="0"/>
              </a:spcBef>
              <a:spcAft>
                <a:spcPts val="0"/>
              </a:spcAft>
              <a:buNone/>
            </a:pPr>
            <a:br>
              <a:rPr lang="ru" sz="700">
                <a:solidFill>
                  <a:srgbClr val="333333"/>
                </a:solidFill>
                <a:highlight>
                  <a:srgbClr val="FFFFFF"/>
                </a:highlight>
              </a:rPr>
            </a:br>
            <a:r>
              <a:rPr lang="ru" sz="1600">
                <a:solidFill>
                  <a:srgbClr val="333333"/>
                </a:solidFill>
                <a:highlight>
                  <a:srgbClr val="FFFFFF"/>
                </a:highlight>
              </a:rPr>
              <a:t>- </a:t>
            </a:r>
            <a:r>
              <a:rPr lang="ru" sz="1600">
                <a:solidFill>
                  <a:srgbClr val="333333"/>
                </a:solidFill>
              </a:rPr>
              <a:t>доступ к коду (Black\White\Grey box тестирование);</a:t>
            </a:r>
            <a:br>
              <a:rPr lang="ru" sz="1600">
                <a:solidFill>
                  <a:srgbClr val="333333"/>
                </a:solidFill>
              </a:rPr>
            </a:br>
            <a:r>
              <a:rPr lang="ru" sz="1600">
                <a:solidFill>
                  <a:srgbClr val="333333"/>
                </a:solidFill>
                <a:highlight>
                  <a:schemeClr val="lt1"/>
                </a:highlight>
              </a:rPr>
              <a:t>- </a:t>
            </a:r>
            <a:r>
              <a:rPr lang="ru" sz="1600">
                <a:solidFill>
                  <a:srgbClr val="333333"/>
                </a:solidFill>
              </a:rPr>
              <a:t>уровень тестирования (системное , приемочное тестирование);</a:t>
            </a:r>
            <a:br>
              <a:rPr lang="ru" sz="1600">
                <a:solidFill>
                  <a:srgbClr val="333333"/>
                </a:solidFill>
              </a:rPr>
            </a:br>
            <a:r>
              <a:rPr lang="ru" sz="1600">
                <a:solidFill>
                  <a:srgbClr val="333333"/>
                </a:solidFill>
                <a:highlight>
                  <a:schemeClr val="lt1"/>
                </a:highlight>
              </a:rPr>
              <a:t>- </a:t>
            </a:r>
            <a:r>
              <a:rPr lang="ru" sz="1600">
                <a:solidFill>
                  <a:srgbClr val="333333"/>
                </a:solidFill>
              </a:rPr>
              <a:t>сферы использования приложения (функциональное, нагрузочное тестирование).</a:t>
            </a:r>
            <a:endParaRPr sz="1600"/>
          </a:p>
        </p:txBody>
      </p:sp>
      <p:sp>
        <p:nvSpPr>
          <p:cNvPr id="171" name="Google Shape;171;p32"/>
          <p:cNvSpPr txBox="1"/>
          <p:nvPr>
            <p:ph idx="1" type="body"/>
          </p:nvPr>
        </p:nvSpPr>
        <p:spPr>
          <a:xfrm>
            <a:off x="0" y="111500"/>
            <a:ext cx="1969800" cy="393900"/>
          </a:xfrm>
          <a:prstGeom prst="rect">
            <a:avLst/>
          </a:prstGeom>
          <a:no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rPr b="1" lang="ru" sz="1400">
                <a:solidFill>
                  <a:srgbClr val="696E71"/>
                </a:solidFill>
              </a:rPr>
              <a:t>Типы </a:t>
            </a:r>
            <a:r>
              <a:rPr b="1" lang="ru" sz="1400">
                <a:solidFill>
                  <a:srgbClr val="696E71"/>
                </a:solidFill>
              </a:rPr>
              <a:t> тестирования</a:t>
            </a:r>
            <a:endParaRPr b="1" sz="1400">
              <a:solidFill>
                <a:srgbClr val="696E7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5" name="Shape 175"/>
        <p:cNvGrpSpPr/>
        <p:nvPr/>
      </p:nvGrpSpPr>
      <p:grpSpPr>
        <a:xfrm>
          <a:off x="0" y="0"/>
          <a:ext cx="0" cy="0"/>
          <a:chOff x="0" y="0"/>
          <a:chExt cx="0" cy="0"/>
        </a:xfrm>
      </p:grpSpPr>
      <p:sp>
        <p:nvSpPr>
          <p:cNvPr id="176" name="Google Shape;176;p33"/>
          <p:cNvSpPr txBox="1"/>
          <p:nvPr>
            <p:ph idx="1" type="body"/>
          </p:nvPr>
        </p:nvSpPr>
        <p:spPr>
          <a:xfrm>
            <a:off x="180000" y="505400"/>
            <a:ext cx="8784000" cy="45345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000"/>
              <a:t> </a:t>
            </a:r>
            <a:r>
              <a:rPr b="1" lang="ru" sz="2000"/>
              <a:t>Ручное и автоматизированное тестирование</a:t>
            </a:r>
            <a:endParaRPr b="1" sz="2000"/>
          </a:p>
          <a:p>
            <a:pPr indent="0" lvl="0" marL="177800" marR="0" rtl="0" algn="ctr">
              <a:lnSpc>
                <a:spcPct val="90000"/>
              </a:lnSpc>
              <a:spcBef>
                <a:spcPts val="0"/>
              </a:spcBef>
              <a:spcAft>
                <a:spcPts val="0"/>
              </a:spcAft>
              <a:buNone/>
            </a:pPr>
            <a:r>
              <a:t/>
            </a:r>
            <a:endParaRPr b="1" sz="2000"/>
          </a:p>
          <a:p>
            <a:pPr indent="457200" lvl="0" marL="0" marR="0" rtl="0">
              <a:lnSpc>
                <a:spcPct val="90000"/>
              </a:lnSpc>
              <a:spcBef>
                <a:spcPts val="0"/>
              </a:spcBef>
              <a:spcAft>
                <a:spcPts val="0"/>
              </a:spcAft>
              <a:buNone/>
            </a:pPr>
            <a:r>
              <a:rPr lang="ru" sz="1600">
                <a:solidFill>
                  <a:srgbClr val="333333"/>
                </a:solidFill>
                <a:highlight>
                  <a:srgbClr val="FFFFFF"/>
                </a:highlight>
              </a:rPr>
              <a:t>В</a:t>
            </a:r>
            <a:r>
              <a:rPr lang="ru" sz="1600">
                <a:solidFill>
                  <a:srgbClr val="333333"/>
                </a:solidFill>
                <a:highlight>
                  <a:srgbClr val="FFFFFF"/>
                </a:highlight>
              </a:rPr>
              <a:t>ыделяют три типа тестирования:</a:t>
            </a:r>
            <a:endParaRPr sz="1600">
              <a:solidFill>
                <a:srgbClr val="333333"/>
              </a:solidFill>
              <a:highlight>
                <a:srgbClr val="FFFFFF"/>
              </a:highlight>
            </a:endParaRPr>
          </a:p>
          <a:p>
            <a:pPr indent="0" lvl="0" marL="0" marR="0" rtl="0">
              <a:lnSpc>
                <a:spcPct val="90000"/>
              </a:lnSpc>
              <a:spcBef>
                <a:spcPts val="0"/>
              </a:spcBef>
              <a:spcAft>
                <a:spcPts val="0"/>
              </a:spcAft>
              <a:buNone/>
            </a:pPr>
            <a:r>
              <a:t/>
            </a:r>
            <a:endParaRPr sz="1600">
              <a:solidFill>
                <a:srgbClr val="333333"/>
              </a:solidFill>
              <a:highlight>
                <a:srgbClr val="FFFFFF"/>
              </a:highlight>
            </a:endParaRPr>
          </a:p>
          <a:p>
            <a:pPr indent="-330200" lvl="0" marL="457200" marR="0" rtl="0">
              <a:lnSpc>
                <a:spcPct val="90000"/>
              </a:lnSpc>
              <a:spcBef>
                <a:spcPts val="0"/>
              </a:spcBef>
              <a:spcAft>
                <a:spcPts val="0"/>
              </a:spcAft>
              <a:buClr>
                <a:srgbClr val="333333"/>
              </a:buClr>
              <a:buSzPts val="1600"/>
              <a:buChar char="●"/>
            </a:pPr>
            <a:r>
              <a:rPr b="1" lang="ru" sz="1600">
                <a:solidFill>
                  <a:srgbClr val="333333"/>
                </a:solidFill>
              </a:rPr>
              <a:t>Ручное</a:t>
            </a:r>
            <a:r>
              <a:rPr b="1" lang="ru" sz="1600">
                <a:solidFill>
                  <a:srgbClr val="333333"/>
                </a:solidFill>
              </a:rPr>
              <a:t> тестирование</a:t>
            </a:r>
            <a:r>
              <a:rPr lang="ru" sz="1600">
                <a:solidFill>
                  <a:srgbClr val="333333"/>
                </a:solidFill>
              </a:rPr>
              <a:t> (manual) - </a:t>
            </a:r>
            <a:r>
              <a:rPr lang="ru" sz="1600">
                <a:solidFill>
                  <a:srgbClr val="333333"/>
                </a:solidFill>
                <a:highlight>
                  <a:srgbClr val="FFFFFF"/>
                </a:highlight>
              </a:rPr>
              <a:t>выполнение кейсов выполняется вручную.</a:t>
            </a:r>
            <a:br>
              <a:rPr lang="ru" sz="1600">
                <a:solidFill>
                  <a:srgbClr val="333333"/>
                </a:solidFill>
                <a:highlight>
                  <a:srgbClr val="FFFFFF"/>
                </a:highlight>
              </a:rPr>
            </a:br>
            <a:endParaRPr sz="1600">
              <a:solidFill>
                <a:srgbClr val="333333"/>
              </a:solidFill>
              <a:highlight>
                <a:srgbClr val="FFFFFF"/>
              </a:highlight>
            </a:endParaRPr>
          </a:p>
          <a:p>
            <a:pPr indent="-330200" lvl="0" marL="457200" marR="0" rtl="0">
              <a:lnSpc>
                <a:spcPct val="90000"/>
              </a:lnSpc>
              <a:spcBef>
                <a:spcPts val="0"/>
              </a:spcBef>
              <a:spcAft>
                <a:spcPts val="0"/>
              </a:spcAft>
              <a:buClr>
                <a:srgbClr val="333333"/>
              </a:buClr>
              <a:buSzPts val="1600"/>
              <a:buChar char="●"/>
            </a:pPr>
            <a:r>
              <a:rPr b="1" lang="ru" sz="1600">
                <a:solidFill>
                  <a:srgbClr val="333333"/>
                </a:solidFill>
              </a:rPr>
              <a:t>Полуавтоматизированное</a:t>
            </a:r>
            <a:r>
              <a:rPr b="1" lang="ru" sz="1600">
                <a:solidFill>
                  <a:srgbClr val="333333"/>
                </a:solidFill>
              </a:rPr>
              <a:t> тестирование</a:t>
            </a:r>
            <a:r>
              <a:rPr lang="ru" sz="1600">
                <a:solidFill>
                  <a:srgbClr val="333333"/>
                </a:solidFill>
              </a:rPr>
              <a:t> (half-</a:t>
            </a:r>
            <a:r>
              <a:rPr lang="ru" sz="1600">
                <a:solidFill>
                  <a:srgbClr val="333333"/>
                </a:solidFill>
              </a:rPr>
              <a:t>automated</a:t>
            </a:r>
            <a:r>
              <a:rPr lang="ru" sz="1600">
                <a:solidFill>
                  <a:srgbClr val="333333"/>
                </a:solidFill>
              </a:rPr>
              <a:t>)-  ручное тестирование сочетается с автоматическим.</a:t>
            </a:r>
            <a:br>
              <a:rPr lang="ru" sz="1600">
                <a:solidFill>
                  <a:srgbClr val="333333"/>
                </a:solidFill>
              </a:rPr>
            </a:br>
            <a:endParaRPr sz="1600">
              <a:solidFill>
                <a:srgbClr val="333333"/>
              </a:solidFill>
            </a:endParaRPr>
          </a:p>
          <a:p>
            <a:pPr indent="-330200" lvl="0" marL="457200" marR="0" rtl="0">
              <a:lnSpc>
                <a:spcPct val="90000"/>
              </a:lnSpc>
              <a:spcBef>
                <a:spcPts val="0"/>
              </a:spcBef>
              <a:spcAft>
                <a:spcPts val="0"/>
              </a:spcAft>
              <a:buClr>
                <a:srgbClr val="333333"/>
              </a:buClr>
              <a:buSzPts val="1600"/>
              <a:buChar char="●"/>
            </a:pPr>
            <a:r>
              <a:rPr b="1" lang="ru" sz="1600">
                <a:solidFill>
                  <a:srgbClr val="333333"/>
                </a:solidFill>
                <a:highlight>
                  <a:srgbClr val="FFFFFF"/>
                </a:highlight>
              </a:rPr>
              <a:t>Автоматизированное</a:t>
            </a:r>
            <a:r>
              <a:rPr lang="ru" sz="1600">
                <a:solidFill>
                  <a:srgbClr val="333333"/>
                </a:solidFill>
                <a:highlight>
                  <a:srgbClr val="FFFFFF"/>
                </a:highlight>
              </a:rPr>
              <a:t> (automated) - предполагает использование специального программного обеспечения (помимо тестируемого) для контроля выполнения тестов и сравнения ожидаемого фактического результата работы программы. Существует несколько видов автоматизированного тестирования:</a:t>
            </a:r>
            <a:br>
              <a:rPr lang="ru" sz="1600">
                <a:solidFill>
                  <a:srgbClr val="333333"/>
                </a:solidFill>
                <a:highlight>
                  <a:srgbClr val="FFFFFF"/>
                </a:highlight>
              </a:rPr>
            </a:br>
            <a:r>
              <a:rPr lang="ru" sz="1600">
                <a:solidFill>
                  <a:srgbClr val="333333"/>
                </a:solidFill>
                <a:highlight>
                  <a:srgbClr val="FFFFFF"/>
                </a:highlight>
              </a:rPr>
              <a:t>	</a:t>
            </a:r>
            <a:r>
              <a:rPr lang="ru" sz="1600">
                <a:solidFill>
                  <a:srgbClr val="333333"/>
                </a:solidFill>
                <a:highlight>
                  <a:schemeClr val="lt1"/>
                </a:highlight>
              </a:rPr>
              <a:t>- </a:t>
            </a:r>
            <a:r>
              <a:rPr lang="ru" sz="1600">
                <a:solidFill>
                  <a:srgbClr val="333333"/>
                </a:solidFill>
              </a:rPr>
              <a:t>автоматизация тестирования кода (code-driven testing);</a:t>
            </a:r>
            <a:br>
              <a:rPr lang="ru" sz="1600">
                <a:solidFill>
                  <a:srgbClr val="333333"/>
                </a:solidFill>
              </a:rPr>
            </a:br>
            <a:r>
              <a:rPr lang="ru" sz="1600">
                <a:solidFill>
                  <a:srgbClr val="333333"/>
                </a:solidFill>
              </a:rPr>
              <a:t>	</a:t>
            </a:r>
            <a:r>
              <a:rPr lang="ru" sz="1600">
                <a:solidFill>
                  <a:srgbClr val="333333"/>
                </a:solidFill>
                <a:highlight>
                  <a:schemeClr val="lt1"/>
                </a:highlight>
              </a:rPr>
              <a:t>- </a:t>
            </a:r>
            <a:r>
              <a:rPr lang="ru" sz="1600">
                <a:solidFill>
                  <a:srgbClr val="333333"/>
                </a:solidFill>
              </a:rPr>
              <a:t>автоматизация тестирования графического пользовательского интерфейса (graphical user interface testing);</a:t>
            </a:r>
            <a:br>
              <a:rPr lang="ru" sz="1600">
                <a:solidFill>
                  <a:srgbClr val="333333"/>
                </a:solidFill>
              </a:rPr>
            </a:br>
            <a:r>
              <a:rPr lang="ru" sz="1600">
                <a:solidFill>
                  <a:srgbClr val="333333"/>
                </a:solidFill>
                <a:highlight>
                  <a:schemeClr val="lt1"/>
                </a:highlight>
              </a:rPr>
              <a:t>	- </a:t>
            </a:r>
            <a:r>
              <a:rPr lang="ru" sz="1600">
                <a:solidFill>
                  <a:srgbClr val="333333"/>
                </a:solidFill>
              </a:rPr>
              <a:t>автоматизация тестирования API (Application Programming Interface).</a:t>
            </a:r>
            <a:endParaRPr sz="1600"/>
          </a:p>
        </p:txBody>
      </p:sp>
      <p:sp>
        <p:nvSpPr>
          <p:cNvPr id="177" name="Google Shape;177;p33"/>
          <p:cNvSpPr txBox="1"/>
          <p:nvPr>
            <p:ph idx="1" type="body"/>
          </p:nvPr>
        </p:nvSpPr>
        <p:spPr>
          <a:xfrm>
            <a:off x="0" y="111500"/>
            <a:ext cx="1969800" cy="393900"/>
          </a:xfrm>
          <a:prstGeom prst="rect">
            <a:avLst/>
          </a:prstGeom>
          <a:no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rPr b="1" lang="ru" sz="1400">
                <a:solidFill>
                  <a:srgbClr val="696E71"/>
                </a:solidFill>
              </a:rPr>
              <a:t>Типы  тестирования</a:t>
            </a:r>
            <a:endParaRPr b="1" sz="1400">
              <a:solidFill>
                <a:srgbClr val="696E7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1" name="Shape 181"/>
        <p:cNvGrpSpPr/>
        <p:nvPr/>
      </p:nvGrpSpPr>
      <p:grpSpPr>
        <a:xfrm>
          <a:off x="0" y="0"/>
          <a:ext cx="0" cy="0"/>
          <a:chOff x="0" y="0"/>
          <a:chExt cx="0" cy="0"/>
        </a:xfrm>
      </p:grpSpPr>
      <p:sp>
        <p:nvSpPr>
          <p:cNvPr id="182" name="Google Shape;182;p34"/>
          <p:cNvSpPr txBox="1"/>
          <p:nvPr>
            <p:ph idx="1" type="body"/>
          </p:nvPr>
        </p:nvSpPr>
        <p:spPr>
          <a:xfrm>
            <a:off x="180000" y="505400"/>
            <a:ext cx="8784000" cy="45345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000"/>
              <a:t> </a:t>
            </a:r>
            <a:r>
              <a:rPr b="1" lang="ru" sz="2000"/>
              <a:t>Уровни тестирования</a:t>
            </a:r>
            <a:endParaRPr b="1" sz="2000"/>
          </a:p>
          <a:p>
            <a:pPr indent="0" lvl="0" marL="177800" marR="0" rtl="0" algn="ctr">
              <a:lnSpc>
                <a:spcPct val="100000"/>
              </a:lnSpc>
              <a:spcBef>
                <a:spcPts val="0"/>
              </a:spcBef>
              <a:spcAft>
                <a:spcPts val="0"/>
              </a:spcAft>
              <a:buNone/>
            </a:pPr>
            <a:r>
              <a:t/>
            </a:r>
            <a:endParaRPr b="1" sz="1600"/>
          </a:p>
          <a:p>
            <a:pPr indent="457200" lvl="0" marL="0" rtl="0">
              <a:lnSpc>
                <a:spcPct val="100000"/>
              </a:lnSpc>
              <a:spcBef>
                <a:spcPts val="0"/>
              </a:spcBef>
              <a:spcAft>
                <a:spcPts val="0"/>
              </a:spcAft>
              <a:buNone/>
            </a:pPr>
            <a:r>
              <a:rPr lang="ru" sz="1600">
                <a:solidFill>
                  <a:srgbClr val="333333"/>
                </a:solidFill>
                <a:highlight>
                  <a:srgbClr val="FFFFFF"/>
                </a:highlight>
              </a:rPr>
              <a:t>Тестирование на разных уровнях производится на протяжении всего жизненного цикла разработки и сопровождения программного обеспечения. Уровень тестирования определяет то, над чем производятся тесты: над отдельным модулем, группой модулей или системой, в целом. Проведение тестирования на всех уровнях системы - это залог успешной реализации и сдачи проекта.</a:t>
            </a:r>
            <a:endParaRPr sz="1600">
              <a:solidFill>
                <a:srgbClr val="333333"/>
              </a:solidFill>
              <a:highlight>
                <a:srgbClr val="FFFFFF"/>
              </a:highlight>
            </a:endParaRPr>
          </a:p>
          <a:p>
            <a:pPr indent="0" lvl="0" marL="0" rtl="0">
              <a:lnSpc>
                <a:spcPct val="100000"/>
              </a:lnSpc>
              <a:spcBef>
                <a:spcPts val="0"/>
              </a:spcBef>
              <a:spcAft>
                <a:spcPts val="0"/>
              </a:spcAft>
              <a:buNone/>
            </a:pPr>
            <a:r>
              <a:t/>
            </a:r>
            <a:endParaRPr sz="1600">
              <a:solidFill>
                <a:srgbClr val="333333"/>
              </a:solidFill>
              <a:highlight>
                <a:srgbClr val="FFFFFF"/>
              </a:highlight>
            </a:endParaRPr>
          </a:p>
          <a:p>
            <a:pPr indent="0" lvl="0" marL="0" rtl="0">
              <a:lnSpc>
                <a:spcPct val="100000"/>
              </a:lnSpc>
              <a:spcBef>
                <a:spcPts val="0"/>
              </a:spcBef>
              <a:spcAft>
                <a:spcPts val="0"/>
              </a:spcAft>
              <a:buNone/>
            </a:pPr>
            <a:r>
              <a:rPr b="1" lang="ru" sz="1600"/>
              <a:t>Классификация по ISTQB:</a:t>
            </a:r>
            <a:br>
              <a:rPr b="1" i="1" lang="ru" sz="1600"/>
            </a:br>
            <a:r>
              <a:rPr lang="ru" sz="1600">
                <a:solidFill>
                  <a:srgbClr val="333333"/>
                </a:solidFill>
                <a:highlight>
                  <a:schemeClr val="lt1"/>
                </a:highlight>
              </a:rPr>
              <a:t>	- </a:t>
            </a:r>
            <a:r>
              <a:rPr lang="ru" sz="1600"/>
              <a:t>Unit testing</a:t>
            </a:r>
            <a:br>
              <a:rPr lang="ru" sz="1600"/>
            </a:br>
            <a:r>
              <a:rPr lang="ru" sz="1600">
                <a:solidFill>
                  <a:srgbClr val="333333"/>
                </a:solidFill>
                <a:highlight>
                  <a:schemeClr val="lt1"/>
                </a:highlight>
              </a:rPr>
              <a:t>	- </a:t>
            </a:r>
            <a:r>
              <a:rPr lang="ru" sz="1600"/>
              <a:t>Integration testing</a:t>
            </a:r>
            <a:br>
              <a:rPr lang="ru" sz="1600"/>
            </a:br>
            <a:r>
              <a:rPr lang="ru" sz="1600">
                <a:solidFill>
                  <a:srgbClr val="333333"/>
                </a:solidFill>
                <a:highlight>
                  <a:schemeClr val="lt1"/>
                </a:highlight>
              </a:rPr>
              <a:t>	- </a:t>
            </a:r>
            <a:r>
              <a:rPr lang="ru" sz="1600"/>
              <a:t>System testing</a:t>
            </a:r>
            <a:br>
              <a:rPr lang="ru" sz="1600"/>
            </a:br>
            <a:r>
              <a:rPr lang="ru" sz="1600">
                <a:solidFill>
                  <a:srgbClr val="333333"/>
                </a:solidFill>
                <a:highlight>
                  <a:schemeClr val="lt1"/>
                </a:highlight>
              </a:rPr>
              <a:t>	- </a:t>
            </a:r>
            <a:r>
              <a:rPr lang="ru" sz="1600"/>
              <a:t>Acceptance testing</a:t>
            </a:r>
            <a:endParaRPr sz="1600"/>
          </a:p>
        </p:txBody>
      </p:sp>
      <p:pic>
        <p:nvPicPr>
          <p:cNvPr id="183" name="Google Shape;183;p34"/>
          <p:cNvPicPr preferRelativeResize="0"/>
          <p:nvPr/>
        </p:nvPicPr>
        <p:blipFill>
          <a:blip r:embed="rId3">
            <a:alphaModFix/>
          </a:blip>
          <a:stretch>
            <a:fillRect/>
          </a:stretch>
        </p:blipFill>
        <p:spPr>
          <a:xfrm>
            <a:off x="3899550" y="2117800"/>
            <a:ext cx="4531550" cy="2597000"/>
          </a:xfrm>
          <a:prstGeom prst="rect">
            <a:avLst/>
          </a:prstGeom>
          <a:noFill/>
          <a:ln>
            <a:noFill/>
          </a:ln>
        </p:spPr>
      </p:pic>
      <p:sp>
        <p:nvSpPr>
          <p:cNvPr id="184" name="Google Shape;184;p34"/>
          <p:cNvSpPr txBox="1"/>
          <p:nvPr>
            <p:ph idx="1" type="body"/>
          </p:nvPr>
        </p:nvSpPr>
        <p:spPr>
          <a:xfrm>
            <a:off x="0" y="111500"/>
            <a:ext cx="2110800" cy="393900"/>
          </a:xfrm>
          <a:prstGeom prst="rect">
            <a:avLst/>
          </a:prstGeom>
          <a:noFill/>
          <a:ln>
            <a:noFill/>
          </a:ln>
        </p:spPr>
        <p:txBody>
          <a:bodyPr anchorCtr="0" anchor="ctr" bIns="20775" lIns="41575" spcFirstLastPara="1" rIns="41575" wrap="square" tIns="20775">
            <a:noAutofit/>
          </a:bodyPr>
          <a:lstStyle/>
          <a:p>
            <a:pPr indent="0" lvl="0" marL="0" marR="0" rtl="0" algn="ctr">
              <a:lnSpc>
                <a:spcPct val="100000"/>
              </a:lnSpc>
              <a:spcBef>
                <a:spcPts val="0"/>
              </a:spcBef>
              <a:spcAft>
                <a:spcPts val="0"/>
              </a:spcAft>
              <a:buNone/>
            </a:pPr>
            <a:r>
              <a:rPr b="1" lang="ru" sz="1400">
                <a:solidFill>
                  <a:srgbClr val="696E71"/>
                </a:solidFill>
              </a:rPr>
              <a:t>Уровни  тестирования</a:t>
            </a:r>
            <a:endParaRPr b="1" sz="1400">
              <a:solidFill>
                <a:srgbClr val="696E71"/>
              </a:solidFill>
            </a:endParaRPr>
          </a:p>
        </p:txBody>
      </p:sp>
      <p:sp>
        <p:nvSpPr>
          <p:cNvPr id="185" name="Google Shape;185;p34"/>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Уровни</a:t>
            </a:r>
            <a:r>
              <a:rPr b="1" lang="ru">
                <a:solidFill>
                  <a:srgbClr val="696E71"/>
                </a:solidFill>
                <a:latin typeface="Calibri"/>
                <a:ea typeface="Calibri"/>
                <a:cs typeface="Calibri"/>
                <a:sym typeface="Calibri"/>
              </a:rPr>
              <a:t> тестирования</a:t>
            </a:r>
            <a:endParaRPr b="1">
              <a:solidFill>
                <a:srgbClr val="696E7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9" name="Shape 189"/>
        <p:cNvGrpSpPr/>
        <p:nvPr/>
      </p:nvGrpSpPr>
      <p:grpSpPr>
        <a:xfrm>
          <a:off x="0" y="0"/>
          <a:ext cx="0" cy="0"/>
          <a:chOff x="0" y="0"/>
          <a:chExt cx="0" cy="0"/>
        </a:xfrm>
      </p:grpSpPr>
      <p:sp>
        <p:nvSpPr>
          <p:cNvPr id="190" name="Google Shape;190;p35"/>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500"/>
              <a:t> </a:t>
            </a:r>
            <a:r>
              <a:rPr b="1" lang="ru" sz="2000"/>
              <a:t>Unit or Component testing</a:t>
            </a:r>
            <a:endParaRPr b="1" sz="2000"/>
          </a:p>
          <a:p>
            <a:pPr indent="0" lvl="0" marL="177800" marR="0" rtl="0" algn="ctr">
              <a:lnSpc>
                <a:spcPct val="100000"/>
              </a:lnSpc>
              <a:spcBef>
                <a:spcPts val="0"/>
              </a:spcBef>
              <a:spcAft>
                <a:spcPts val="0"/>
              </a:spcAft>
              <a:buNone/>
            </a:pPr>
            <a:r>
              <a:t/>
            </a:r>
            <a:endParaRPr b="1" sz="2000"/>
          </a:p>
          <a:p>
            <a:pPr indent="457200" lvl="0" marL="0" marR="0" rtl="0">
              <a:lnSpc>
                <a:spcPct val="100000"/>
              </a:lnSpc>
              <a:spcBef>
                <a:spcPts val="0"/>
              </a:spcBef>
              <a:spcAft>
                <a:spcPts val="0"/>
              </a:spcAft>
              <a:buNone/>
            </a:pPr>
            <a:r>
              <a:rPr b="1" lang="ru" sz="1600"/>
              <a:t>Модульное или компонентное тестирование </a:t>
            </a:r>
            <a:r>
              <a:rPr lang="ru" sz="1600">
                <a:solidFill>
                  <a:srgbClr val="333333"/>
                </a:solidFill>
                <a:highlight>
                  <a:srgbClr val="FFFFFF"/>
                </a:highlight>
              </a:rPr>
              <a:t>проверяет функциональность и ищет дефекты в частях приложения, которые доступны и могут быть протестированы по-отдельности (модули программ, объекты, классы, функции и т.д.). </a:t>
            </a:r>
            <a:endParaRPr sz="1600">
              <a:solidFill>
                <a:srgbClr val="333333"/>
              </a:solidFill>
              <a:highlight>
                <a:srgbClr val="FFFFFF"/>
              </a:highlight>
            </a:endParaRPr>
          </a:p>
          <a:p>
            <a:pPr indent="457200" lvl="0" marL="0" marR="0" rtl="0">
              <a:lnSpc>
                <a:spcPct val="100000"/>
              </a:lnSpc>
              <a:spcBef>
                <a:spcPts val="0"/>
              </a:spcBef>
              <a:spcAft>
                <a:spcPts val="0"/>
              </a:spcAft>
              <a:buNone/>
            </a:pPr>
            <a:r>
              <a:rPr lang="ru" sz="1600">
                <a:solidFill>
                  <a:srgbClr val="333333"/>
                </a:solidFill>
                <a:highlight>
                  <a:srgbClr val="FFFFFF"/>
                </a:highlight>
              </a:rPr>
              <a:t>Обычно компонентное (модульное) тестирование проводится вызывая код, который необходимо проверить и при поддержке сред разработки, таких как фреймворки (frameworks - каркасы) для модульного тестирования или инструменты для отладки. </a:t>
            </a:r>
            <a:endParaRPr sz="1600">
              <a:solidFill>
                <a:srgbClr val="333333"/>
              </a:solidFill>
              <a:highlight>
                <a:srgbClr val="FFFFFF"/>
              </a:highlight>
            </a:endParaRPr>
          </a:p>
          <a:p>
            <a:pPr indent="457200" lvl="0" marL="0" marR="0" rtl="0">
              <a:lnSpc>
                <a:spcPct val="100000"/>
              </a:lnSpc>
              <a:spcBef>
                <a:spcPts val="0"/>
              </a:spcBef>
              <a:spcAft>
                <a:spcPts val="0"/>
              </a:spcAft>
              <a:buNone/>
            </a:pPr>
            <a:r>
              <a:rPr lang="ru" sz="1600">
                <a:solidFill>
                  <a:srgbClr val="333333"/>
                </a:solidFill>
                <a:highlight>
                  <a:srgbClr val="FFFFFF"/>
                </a:highlight>
              </a:rPr>
              <a:t>Все найденные дефекты, как правило исправляются в коде без формального их описания в системе менеджмента багов (Bug Tracking System). </a:t>
            </a:r>
            <a:endParaRPr sz="1600">
              <a:solidFill>
                <a:srgbClr val="333333"/>
              </a:solidFill>
              <a:highlight>
                <a:srgbClr val="FFFFFF"/>
              </a:highlight>
            </a:endParaRPr>
          </a:p>
          <a:p>
            <a:pPr indent="457200" lvl="0" marL="0" marR="0" rtl="0">
              <a:lnSpc>
                <a:spcPct val="100000"/>
              </a:lnSpc>
              <a:spcBef>
                <a:spcPts val="0"/>
              </a:spcBef>
              <a:spcAft>
                <a:spcPts val="0"/>
              </a:spcAft>
              <a:buNone/>
            </a:pPr>
            <a:r>
              <a:rPr lang="ru" sz="1600">
                <a:solidFill>
                  <a:srgbClr val="333333"/>
                </a:solidFill>
                <a:highlight>
                  <a:srgbClr val="FFFFFF"/>
                </a:highlight>
              </a:rPr>
              <a:t>Разница между компонентным и модульным тестированием - в компонентном тестировании, в качестве параметров функций, используют реальные объекты и драйверы, а в модульном тестировании - конкретные значения.</a:t>
            </a:r>
            <a:endParaRPr sz="1600"/>
          </a:p>
        </p:txBody>
      </p:sp>
      <p:sp>
        <p:nvSpPr>
          <p:cNvPr id="191" name="Google Shape;191;p35"/>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Уровни тестирования</a:t>
            </a:r>
            <a:endParaRPr b="1">
              <a:solidFill>
                <a:srgbClr val="696E7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5" name="Shape 195"/>
        <p:cNvGrpSpPr/>
        <p:nvPr/>
      </p:nvGrpSpPr>
      <p:grpSpPr>
        <a:xfrm>
          <a:off x="0" y="0"/>
          <a:ext cx="0" cy="0"/>
          <a:chOff x="0" y="0"/>
          <a:chExt cx="0" cy="0"/>
        </a:xfrm>
      </p:grpSpPr>
      <p:sp>
        <p:nvSpPr>
          <p:cNvPr id="196" name="Google Shape;196;p36"/>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b="1" lang="ru" sz="2000">
                <a:solidFill>
                  <a:srgbClr val="333333"/>
                </a:solidFill>
              </a:rPr>
              <a:t>Integration</a:t>
            </a:r>
            <a:r>
              <a:rPr b="1" lang="ru" sz="2000">
                <a:solidFill>
                  <a:srgbClr val="333333"/>
                </a:solidFill>
              </a:rPr>
              <a:t> testing</a:t>
            </a:r>
            <a:endParaRPr b="1" sz="2000">
              <a:solidFill>
                <a:srgbClr val="333333"/>
              </a:solidFill>
            </a:endParaRPr>
          </a:p>
          <a:p>
            <a:pPr indent="0" lvl="0" marL="177800" marR="0" rtl="0" algn="ctr">
              <a:lnSpc>
                <a:spcPct val="100000"/>
              </a:lnSpc>
              <a:spcBef>
                <a:spcPts val="0"/>
              </a:spcBef>
              <a:spcAft>
                <a:spcPts val="0"/>
              </a:spcAft>
              <a:buNone/>
            </a:pPr>
            <a:r>
              <a:t/>
            </a:r>
            <a:endParaRPr b="1" sz="2000">
              <a:solidFill>
                <a:srgbClr val="333333"/>
              </a:solidFill>
            </a:endParaRPr>
          </a:p>
          <a:p>
            <a:pPr indent="457200" lvl="0" marL="0" rtl="0">
              <a:lnSpc>
                <a:spcPct val="100000"/>
              </a:lnSpc>
              <a:spcBef>
                <a:spcPts val="0"/>
              </a:spcBef>
              <a:spcAft>
                <a:spcPts val="0"/>
              </a:spcAft>
              <a:buNone/>
            </a:pPr>
            <a:r>
              <a:rPr b="1" lang="ru" sz="1600">
                <a:solidFill>
                  <a:srgbClr val="333333"/>
                </a:solidFill>
                <a:highlight>
                  <a:srgbClr val="FFFFFF"/>
                </a:highlight>
              </a:rPr>
              <a:t>Интеграционное тестирование</a:t>
            </a:r>
            <a:r>
              <a:rPr lang="ru" sz="1600">
                <a:solidFill>
                  <a:srgbClr val="333333"/>
                </a:solidFill>
                <a:highlight>
                  <a:srgbClr val="FFFFFF"/>
                </a:highlight>
              </a:rPr>
              <a:t> предназначено для проверки связи между компонентами, а также взаимодействия с различными частями системы (операционной системой, оборудованием либо связи между различными системами).</a:t>
            </a:r>
            <a:endParaRPr sz="1600">
              <a:solidFill>
                <a:srgbClr val="333333"/>
              </a:solidFill>
              <a:highlight>
                <a:srgbClr val="FFFFFF"/>
              </a:highlight>
            </a:endParaRPr>
          </a:p>
          <a:p>
            <a:pPr indent="457200" lvl="0" marL="0" rtl="0">
              <a:lnSpc>
                <a:spcPct val="100000"/>
              </a:lnSpc>
              <a:spcBef>
                <a:spcPts val="0"/>
              </a:spcBef>
              <a:spcAft>
                <a:spcPts val="0"/>
              </a:spcAft>
              <a:buNone/>
            </a:pPr>
            <a:r>
              <a:t/>
            </a:r>
            <a:endParaRPr sz="1600">
              <a:solidFill>
                <a:srgbClr val="333333"/>
              </a:solidFill>
              <a:highlight>
                <a:srgbClr val="FFFFFF"/>
              </a:highlight>
            </a:endParaRPr>
          </a:p>
          <a:p>
            <a:pPr indent="457200" lvl="0" marL="0" rtl="0">
              <a:lnSpc>
                <a:spcPct val="100000"/>
              </a:lnSpc>
              <a:spcBef>
                <a:spcPts val="0"/>
              </a:spcBef>
              <a:spcAft>
                <a:spcPts val="0"/>
              </a:spcAft>
              <a:buClr>
                <a:schemeClr val="dk1"/>
              </a:buClr>
              <a:buSzPts val="1100"/>
              <a:buFont typeface="Arial"/>
              <a:buNone/>
            </a:pPr>
            <a:r>
              <a:rPr lang="ru" sz="1600">
                <a:solidFill>
                  <a:srgbClr val="333333"/>
                </a:solidFill>
              </a:rPr>
              <a:t>Уровни интеграционного тестирования:</a:t>
            </a:r>
            <a:endParaRPr sz="1600">
              <a:solidFill>
                <a:srgbClr val="333333"/>
              </a:solidFill>
            </a:endParaRPr>
          </a:p>
          <a:p>
            <a:pPr indent="-330200" lvl="0" marL="457200" rtl="0">
              <a:lnSpc>
                <a:spcPct val="100000"/>
              </a:lnSpc>
              <a:spcBef>
                <a:spcPts val="1000"/>
              </a:spcBef>
              <a:spcAft>
                <a:spcPts val="0"/>
              </a:spcAft>
              <a:buClr>
                <a:srgbClr val="333333"/>
              </a:buClr>
              <a:buSzPts val="1600"/>
              <a:buChar char="●"/>
            </a:pPr>
            <a:r>
              <a:rPr b="1" lang="ru" sz="1600">
                <a:solidFill>
                  <a:srgbClr val="333333"/>
                </a:solidFill>
              </a:rPr>
              <a:t>Компонентный интеграционный уровень</a:t>
            </a:r>
            <a:r>
              <a:rPr lang="ru" sz="1600">
                <a:solidFill>
                  <a:srgbClr val="333333"/>
                </a:solidFill>
              </a:rPr>
              <a:t> (Component integration level) - проверяется взаимодействие между компонентами системы после проведения компонентного тестирования;</a:t>
            </a:r>
            <a:endParaRPr sz="1600">
              <a:solidFill>
                <a:srgbClr val="333333"/>
              </a:solidFill>
            </a:endParaRPr>
          </a:p>
          <a:p>
            <a:pPr indent="-330200" lvl="0" marL="457200" rtl="0">
              <a:lnSpc>
                <a:spcPct val="100000"/>
              </a:lnSpc>
              <a:spcBef>
                <a:spcPts val="1000"/>
              </a:spcBef>
              <a:spcAft>
                <a:spcPts val="0"/>
              </a:spcAft>
              <a:buClr>
                <a:srgbClr val="333333"/>
              </a:buClr>
              <a:buSzPts val="1600"/>
              <a:buChar char="●"/>
            </a:pPr>
            <a:r>
              <a:rPr b="1" lang="ru" sz="1600">
                <a:solidFill>
                  <a:srgbClr val="333333"/>
                </a:solidFill>
              </a:rPr>
              <a:t>Системный интеграционный уровень </a:t>
            </a:r>
            <a:r>
              <a:rPr lang="ru" sz="1600">
                <a:solidFill>
                  <a:srgbClr val="333333"/>
                </a:solidFill>
              </a:rPr>
              <a:t>(System integration level) - </a:t>
            </a:r>
            <a:r>
              <a:rPr lang="ru" sz="1600">
                <a:solidFill>
                  <a:srgbClr val="333333"/>
                </a:solidFill>
                <a:highlight>
                  <a:schemeClr val="lt1"/>
                </a:highlight>
              </a:rPr>
              <a:t>проверяется взаимодействие между разными системами после проведения системного тестирования.</a:t>
            </a:r>
            <a:endParaRPr sz="1600">
              <a:solidFill>
                <a:srgbClr val="333333"/>
              </a:solidFill>
              <a:highlight>
                <a:srgbClr val="FFFFFF"/>
              </a:highlight>
            </a:endParaRPr>
          </a:p>
        </p:txBody>
      </p:sp>
      <p:sp>
        <p:nvSpPr>
          <p:cNvPr id="197" name="Google Shape;197;p36"/>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Уровни тестирования</a:t>
            </a:r>
            <a:endParaRPr b="1">
              <a:solidFill>
                <a:srgbClr val="696E7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1" name="Shape 201"/>
        <p:cNvGrpSpPr/>
        <p:nvPr/>
      </p:nvGrpSpPr>
      <p:grpSpPr>
        <a:xfrm>
          <a:off x="0" y="0"/>
          <a:ext cx="0" cy="0"/>
          <a:chOff x="0" y="0"/>
          <a:chExt cx="0" cy="0"/>
        </a:xfrm>
      </p:grpSpPr>
      <p:sp>
        <p:nvSpPr>
          <p:cNvPr id="202" name="Google Shape;202;p37"/>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Clr>
                <a:srgbClr val="000000"/>
              </a:buClr>
              <a:buSzPts val="1100"/>
              <a:buFont typeface="Arial"/>
              <a:buNone/>
            </a:pPr>
            <a:r>
              <a:rPr b="1" lang="ru" sz="2000"/>
              <a:t>Integration testing</a:t>
            </a:r>
            <a:endParaRPr b="1" sz="2000"/>
          </a:p>
          <a:p>
            <a:pPr indent="0" lvl="0" marL="0" rtl="0">
              <a:lnSpc>
                <a:spcPct val="100000"/>
              </a:lnSpc>
              <a:spcBef>
                <a:spcPts val="0"/>
              </a:spcBef>
              <a:spcAft>
                <a:spcPts val="0"/>
              </a:spcAft>
              <a:buNone/>
            </a:pPr>
            <a:r>
              <a:t/>
            </a:r>
            <a:endParaRPr b="1" sz="1600"/>
          </a:p>
          <a:p>
            <a:pPr indent="457200" lvl="0" marL="0" rtl="0">
              <a:lnSpc>
                <a:spcPct val="100000"/>
              </a:lnSpc>
              <a:spcBef>
                <a:spcPts val="0"/>
              </a:spcBef>
              <a:spcAft>
                <a:spcPts val="0"/>
              </a:spcAft>
              <a:buClr>
                <a:schemeClr val="dk1"/>
              </a:buClr>
              <a:buSzPts val="1100"/>
              <a:buFont typeface="Arial"/>
              <a:buNone/>
            </a:pPr>
            <a:r>
              <a:rPr lang="ru" sz="1600"/>
              <a:t>Подходы к интеграционному тестированию:</a:t>
            </a:r>
            <a:endParaRPr sz="2000"/>
          </a:p>
          <a:p>
            <a:pPr indent="-330200" lvl="0" marL="457200" rtl="0">
              <a:lnSpc>
                <a:spcPct val="100000"/>
              </a:lnSpc>
              <a:spcBef>
                <a:spcPts val="1000"/>
              </a:spcBef>
              <a:spcAft>
                <a:spcPts val="0"/>
              </a:spcAft>
              <a:buSzPts val="1600"/>
              <a:buChar char="●"/>
            </a:pPr>
            <a:r>
              <a:rPr b="1" lang="ru" sz="1600"/>
              <a:t>Снизу вверх (</a:t>
            </a:r>
            <a:r>
              <a:rPr lang="ru" sz="1600"/>
              <a:t>Bottom Up integration) - </a:t>
            </a:r>
            <a:r>
              <a:rPr lang="ru" sz="1600">
                <a:solidFill>
                  <a:srgbClr val="333333"/>
                </a:solidFill>
                <a:highlight>
                  <a:schemeClr val="lt1"/>
                </a:highlight>
              </a:rPr>
              <a:t>Все низкоуровневые модули собираются воедино и затем тестируются. После чего собирается следующий уровень модулей.</a:t>
            </a:r>
            <a:endParaRPr sz="1600">
              <a:solidFill>
                <a:srgbClr val="333333"/>
              </a:solidFill>
              <a:highlight>
                <a:schemeClr val="lt1"/>
              </a:highlight>
            </a:endParaRPr>
          </a:p>
          <a:p>
            <a:pPr indent="-330200" lvl="0" marL="457200" rtl="0">
              <a:lnSpc>
                <a:spcPct val="100000"/>
              </a:lnSpc>
              <a:spcBef>
                <a:spcPts val="1000"/>
              </a:spcBef>
              <a:spcAft>
                <a:spcPts val="0"/>
              </a:spcAft>
              <a:buClr>
                <a:srgbClr val="333333"/>
              </a:buClr>
              <a:buSzPts val="1600"/>
              <a:buChar char="●"/>
            </a:pPr>
            <a:r>
              <a:rPr b="1" lang="ru" sz="1600">
                <a:solidFill>
                  <a:srgbClr val="333333"/>
                </a:solidFill>
                <a:highlight>
                  <a:schemeClr val="lt1"/>
                </a:highlight>
              </a:rPr>
              <a:t>Сверху вниз </a:t>
            </a:r>
            <a:r>
              <a:rPr lang="ru" sz="1600">
                <a:solidFill>
                  <a:srgbClr val="333333"/>
                </a:solidFill>
                <a:highlight>
                  <a:schemeClr val="lt1"/>
                </a:highlight>
              </a:rPr>
              <a:t>(Top Down integration) - Сначала тестируются все высокоуровневые модули, затем постепенно добавляются низкоуровневые.</a:t>
            </a:r>
            <a:endParaRPr sz="1600">
              <a:solidFill>
                <a:srgbClr val="333333"/>
              </a:solidFill>
              <a:highlight>
                <a:schemeClr val="lt1"/>
              </a:highlight>
            </a:endParaRPr>
          </a:p>
          <a:p>
            <a:pPr indent="-330200" lvl="0" marL="457200" rtl="0">
              <a:lnSpc>
                <a:spcPct val="100000"/>
              </a:lnSpc>
              <a:spcBef>
                <a:spcPts val="1000"/>
              </a:spcBef>
              <a:spcAft>
                <a:spcPts val="0"/>
              </a:spcAft>
              <a:buClr>
                <a:srgbClr val="333333"/>
              </a:buClr>
              <a:buSzPts val="1600"/>
              <a:buChar char="●"/>
            </a:pPr>
            <a:r>
              <a:rPr b="1" lang="ru" sz="1600">
                <a:solidFill>
                  <a:srgbClr val="333333"/>
                </a:solidFill>
                <a:highlight>
                  <a:schemeClr val="lt1"/>
                </a:highlight>
              </a:rPr>
              <a:t>Большой взрыв </a:t>
            </a:r>
            <a:r>
              <a:rPr lang="ru" sz="1600">
                <a:solidFill>
                  <a:srgbClr val="333333"/>
                </a:solidFill>
                <a:highlight>
                  <a:schemeClr val="lt1"/>
                </a:highlight>
              </a:rPr>
              <a:t>(“Big Bang integration) - Все разработанные модули собираются вместе в виде законченной системы, а затем проводится интеграционное тестирование.</a:t>
            </a:r>
            <a:endParaRPr sz="1600" u="sng"/>
          </a:p>
          <a:p>
            <a:pPr indent="457200" lvl="0" marL="0" rtl="0">
              <a:lnSpc>
                <a:spcPct val="100000"/>
              </a:lnSpc>
              <a:spcBef>
                <a:spcPts val="0"/>
              </a:spcBef>
              <a:spcAft>
                <a:spcPts val="0"/>
              </a:spcAft>
              <a:buNone/>
            </a:pPr>
            <a:r>
              <a:t/>
            </a:r>
            <a:endParaRPr sz="1600"/>
          </a:p>
        </p:txBody>
      </p:sp>
      <p:sp>
        <p:nvSpPr>
          <p:cNvPr id="203" name="Google Shape;203;p37"/>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Уровни тестирования</a:t>
            </a:r>
            <a:endParaRPr b="1">
              <a:solidFill>
                <a:srgbClr val="696E7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7" name="Shape 207"/>
        <p:cNvGrpSpPr/>
        <p:nvPr/>
      </p:nvGrpSpPr>
      <p:grpSpPr>
        <a:xfrm>
          <a:off x="0" y="0"/>
          <a:ext cx="0" cy="0"/>
          <a:chOff x="0" y="0"/>
          <a:chExt cx="0" cy="0"/>
        </a:xfrm>
      </p:grpSpPr>
      <p:sp>
        <p:nvSpPr>
          <p:cNvPr id="208" name="Google Shape;208;p38"/>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lang="ru" sz="2500"/>
              <a:t> </a:t>
            </a:r>
            <a:r>
              <a:rPr b="1" lang="ru" sz="2000"/>
              <a:t>System testing</a:t>
            </a:r>
            <a:endParaRPr b="1" sz="2000"/>
          </a:p>
          <a:p>
            <a:pPr indent="0" lvl="0" marL="177800" marR="0" rtl="0" algn="ctr">
              <a:lnSpc>
                <a:spcPct val="90000"/>
              </a:lnSpc>
              <a:spcBef>
                <a:spcPts val="0"/>
              </a:spcBef>
              <a:spcAft>
                <a:spcPts val="0"/>
              </a:spcAft>
              <a:buNone/>
            </a:pPr>
            <a:r>
              <a:t/>
            </a:r>
            <a:endParaRPr b="1" sz="2000"/>
          </a:p>
          <a:p>
            <a:pPr indent="457200" lvl="0" marL="0" rtl="0">
              <a:spcBef>
                <a:spcPts val="0"/>
              </a:spcBef>
              <a:spcAft>
                <a:spcPts val="0"/>
              </a:spcAft>
              <a:buNone/>
            </a:pPr>
            <a:r>
              <a:rPr lang="ru" sz="1600">
                <a:solidFill>
                  <a:srgbClr val="333333"/>
                </a:solidFill>
                <a:highlight>
                  <a:srgbClr val="FFFFFF"/>
                </a:highlight>
              </a:rPr>
              <a:t>Основной задачей </a:t>
            </a:r>
            <a:r>
              <a:rPr b="1" lang="ru" sz="1600">
                <a:solidFill>
                  <a:srgbClr val="333333"/>
                </a:solidFill>
                <a:highlight>
                  <a:srgbClr val="FFFFFF"/>
                </a:highlight>
              </a:rPr>
              <a:t>системного тестирования</a:t>
            </a:r>
            <a:r>
              <a:rPr lang="ru" sz="1600">
                <a:solidFill>
                  <a:srgbClr val="333333"/>
                </a:solidFill>
                <a:highlight>
                  <a:srgbClr val="FFFFFF"/>
                </a:highlight>
              </a:rPr>
              <a:t> является проверка как функциональных, так и не функциональных требований , наличие дефектов в системе в целом.</a:t>
            </a:r>
            <a:endParaRPr sz="1600">
              <a:solidFill>
                <a:srgbClr val="333333"/>
              </a:solidFill>
              <a:highlight>
                <a:srgbClr val="FFFFFF"/>
              </a:highlight>
            </a:endParaRPr>
          </a:p>
          <a:p>
            <a:pPr indent="457200" lvl="0" marL="0" rtl="0">
              <a:spcBef>
                <a:spcPts val="1000"/>
              </a:spcBef>
              <a:spcAft>
                <a:spcPts val="0"/>
              </a:spcAft>
              <a:buNone/>
            </a:pPr>
            <a:r>
              <a:rPr lang="ru" sz="1600">
                <a:solidFill>
                  <a:srgbClr val="333333"/>
                </a:solidFill>
                <a:highlight>
                  <a:srgbClr val="FFFFFF"/>
                </a:highlight>
              </a:rPr>
              <a:t>Можно выделить два подхода к системному тестированию:</a:t>
            </a:r>
            <a:endParaRPr sz="1600">
              <a:solidFill>
                <a:srgbClr val="333333"/>
              </a:solidFill>
              <a:highlight>
                <a:srgbClr val="FFFFFF"/>
              </a:highlight>
            </a:endParaRPr>
          </a:p>
          <a:p>
            <a:pPr indent="-330200" lvl="0" marL="457200" rtl="0">
              <a:spcBef>
                <a:spcPts val="1000"/>
              </a:spcBef>
              <a:spcAft>
                <a:spcPts val="0"/>
              </a:spcAft>
              <a:buClr>
                <a:srgbClr val="333333"/>
              </a:buClr>
              <a:buSzPts val="1600"/>
              <a:buChar char="●"/>
            </a:pPr>
            <a:r>
              <a:rPr b="1" lang="ru" sz="1600">
                <a:solidFill>
                  <a:srgbClr val="333333"/>
                </a:solidFill>
                <a:highlight>
                  <a:srgbClr val="FFFFFF"/>
                </a:highlight>
              </a:rPr>
              <a:t>На базе требований </a:t>
            </a:r>
            <a:r>
              <a:rPr lang="ru" sz="1600">
                <a:solidFill>
                  <a:srgbClr val="333333"/>
                </a:solidFill>
                <a:highlight>
                  <a:srgbClr val="FFFFFF"/>
                </a:highlight>
              </a:rPr>
              <a:t>(requirements based) - для каждого требования пишутся тестовые случаи (test cases), проверяющие выполнение данного требования.</a:t>
            </a:r>
            <a:endParaRPr sz="1600">
              <a:solidFill>
                <a:srgbClr val="333333"/>
              </a:solidFill>
              <a:highlight>
                <a:srgbClr val="FFFFFF"/>
              </a:highlight>
            </a:endParaRPr>
          </a:p>
          <a:p>
            <a:pPr indent="-330200" lvl="0" marL="457200" rtl="0">
              <a:spcBef>
                <a:spcPts val="1000"/>
              </a:spcBef>
              <a:spcAft>
                <a:spcPts val="0"/>
              </a:spcAft>
              <a:buClr>
                <a:srgbClr val="333333"/>
              </a:buClr>
              <a:buSzPts val="1600"/>
              <a:buChar char="●"/>
            </a:pPr>
            <a:r>
              <a:rPr b="1" lang="ru" sz="1600">
                <a:solidFill>
                  <a:srgbClr val="333333"/>
                </a:solidFill>
                <a:highlight>
                  <a:srgbClr val="FFFFFF"/>
                </a:highlight>
              </a:rPr>
              <a:t>На базе случаев использования </a:t>
            </a:r>
            <a:r>
              <a:rPr lang="ru" sz="1600">
                <a:solidFill>
                  <a:srgbClr val="333333"/>
                </a:solidFill>
                <a:highlight>
                  <a:srgbClr val="FFFFFF"/>
                </a:highlight>
              </a:rPr>
              <a:t>(use case based) - на основе представления о способах использования продукта создаются случаи использования системы (Use Cases). По конкретному случаю использования можно определить один или более сценариев. На проверку каждого сценария пишутся тест-кейсы (test cases), которые должны быть протестированы.</a:t>
            </a:r>
            <a:endParaRPr sz="1600"/>
          </a:p>
        </p:txBody>
      </p:sp>
      <p:sp>
        <p:nvSpPr>
          <p:cNvPr id="209" name="Google Shape;209;p38"/>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Уровни тестирования</a:t>
            </a:r>
            <a:endParaRPr b="1">
              <a:solidFill>
                <a:srgbClr val="696E7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39"/>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500"/>
              <a:t> </a:t>
            </a:r>
            <a:r>
              <a:rPr b="1" lang="ru" sz="2000"/>
              <a:t>Acceptance testing</a:t>
            </a:r>
            <a:endParaRPr b="1" sz="2000"/>
          </a:p>
          <a:p>
            <a:pPr indent="0" lvl="0" marL="177800" marR="0" rtl="0" algn="ctr">
              <a:lnSpc>
                <a:spcPct val="100000"/>
              </a:lnSpc>
              <a:spcBef>
                <a:spcPts val="0"/>
              </a:spcBef>
              <a:spcAft>
                <a:spcPts val="0"/>
              </a:spcAft>
              <a:buNone/>
            </a:pPr>
            <a:r>
              <a:t/>
            </a:r>
            <a:endParaRPr b="1" sz="2000"/>
          </a:p>
          <a:p>
            <a:pPr indent="457200" lvl="0" marL="0" rtl="0">
              <a:lnSpc>
                <a:spcPct val="100000"/>
              </a:lnSpc>
              <a:spcBef>
                <a:spcPts val="0"/>
              </a:spcBef>
              <a:spcAft>
                <a:spcPts val="0"/>
              </a:spcAft>
              <a:buNone/>
            </a:pPr>
            <a:r>
              <a:rPr b="1" lang="ru" sz="1600"/>
              <a:t>Приемочное тестирование</a:t>
            </a:r>
            <a:r>
              <a:rPr lang="ru" sz="1600"/>
              <a:t> это </a:t>
            </a:r>
            <a:r>
              <a:rPr lang="ru" sz="1600">
                <a:solidFill>
                  <a:srgbClr val="333333"/>
                </a:solidFill>
                <a:highlight>
                  <a:srgbClr val="FFFFFF"/>
                </a:highlight>
              </a:rPr>
              <a:t>формальный процесс тестирования, который проверяет соответствие системы требованиям и проводится с целью:</a:t>
            </a:r>
            <a:endParaRPr sz="1600">
              <a:solidFill>
                <a:srgbClr val="333333"/>
              </a:solidFill>
              <a:highlight>
                <a:srgbClr val="FFFFFF"/>
              </a:highlight>
            </a:endParaRPr>
          </a:p>
          <a:p>
            <a:pPr indent="0" lvl="0" marL="0" rtl="0">
              <a:lnSpc>
                <a:spcPct val="100000"/>
              </a:lnSpc>
              <a:spcBef>
                <a:spcPts val="0"/>
              </a:spcBef>
              <a:spcAft>
                <a:spcPts val="0"/>
              </a:spcAft>
              <a:buNone/>
            </a:pPr>
            <a:r>
              <a:rPr lang="ru" sz="1600">
                <a:solidFill>
                  <a:srgbClr val="333333"/>
                </a:solidFill>
                <a:highlight>
                  <a:schemeClr val="lt1"/>
                </a:highlight>
              </a:rPr>
              <a:t>	- </a:t>
            </a:r>
            <a:r>
              <a:rPr lang="ru" sz="1600">
                <a:solidFill>
                  <a:srgbClr val="333333"/>
                </a:solidFill>
                <a:highlight>
                  <a:srgbClr val="FFFFFF"/>
                </a:highlight>
              </a:rPr>
              <a:t>определения удовлетворения системой приемочным критериям;</a:t>
            </a:r>
            <a:br>
              <a:rPr lang="ru" sz="1600">
                <a:solidFill>
                  <a:srgbClr val="333333"/>
                </a:solidFill>
                <a:highlight>
                  <a:srgbClr val="FFFFFF"/>
                </a:highlight>
              </a:rPr>
            </a:br>
            <a:r>
              <a:rPr lang="ru" sz="1600">
                <a:solidFill>
                  <a:srgbClr val="333333"/>
                </a:solidFill>
                <a:highlight>
                  <a:schemeClr val="lt1"/>
                </a:highlight>
              </a:rPr>
              <a:t>	- </a:t>
            </a:r>
            <a:r>
              <a:rPr lang="ru" sz="1600">
                <a:solidFill>
                  <a:srgbClr val="333333"/>
                </a:solidFill>
                <a:highlight>
                  <a:srgbClr val="FFFFFF"/>
                </a:highlight>
              </a:rPr>
              <a:t>вынесения решения заказчиком или другим уполномоченным лицом принятия приложения.</a:t>
            </a:r>
            <a:br>
              <a:rPr lang="ru" sz="1600">
                <a:solidFill>
                  <a:srgbClr val="333333"/>
                </a:solidFill>
                <a:highlight>
                  <a:srgbClr val="FFFFFF"/>
                </a:highlight>
              </a:rPr>
            </a:br>
            <a:endParaRPr sz="1600">
              <a:solidFill>
                <a:srgbClr val="333333"/>
              </a:solidFill>
              <a:highlight>
                <a:srgbClr val="FFFFFF"/>
              </a:highlight>
            </a:endParaRPr>
          </a:p>
          <a:p>
            <a:pPr indent="457200" lvl="0" marL="0" rtl="0">
              <a:lnSpc>
                <a:spcPct val="100000"/>
              </a:lnSpc>
              <a:spcBef>
                <a:spcPts val="0"/>
              </a:spcBef>
              <a:spcAft>
                <a:spcPts val="0"/>
              </a:spcAft>
              <a:buNone/>
            </a:pPr>
            <a:r>
              <a:rPr b="1" lang="ru" sz="1600">
                <a:solidFill>
                  <a:srgbClr val="333333"/>
                </a:solidFill>
                <a:highlight>
                  <a:srgbClr val="FFFFFF"/>
                </a:highlight>
              </a:rPr>
              <a:t>Виды</a:t>
            </a:r>
            <a:r>
              <a:rPr b="1" lang="ru" sz="1600">
                <a:solidFill>
                  <a:srgbClr val="333333"/>
                </a:solidFill>
                <a:highlight>
                  <a:srgbClr val="FFFFFF"/>
                </a:highlight>
              </a:rPr>
              <a:t> приемочного тестирования:</a:t>
            </a:r>
            <a:br>
              <a:rPr lang="ru" sz="1600">
                <a:solidFill>
                  <a:srgbClr val="333333"/>
                </a:solidFill>
                <a:highlight>
                  <a:srgbClr val="FFFFFF"/>
                </a:highlight>
              </a:rPr>
            </a:br>
            <a:r>
              <a:rPr lang="ru" sz="1600">
                <a:solidFill>
                  <a:srgbClr val="333333"/>
                </a:solidFill>
                <a:highlight>
                  <a:schemeClr val="lt1"/>
                </a:highlight>
              </a:rPr>
              <a:t>	- </a:t>
            </a:r>
            <a:r>
              <a:rPr lang="ru" sz="1600">
                <a:solidFill>
                  <a:srgbClr val="333333"/>
                </a:solidFill>
                <a:highlight>
                  <a:srgbClr val="FFFFFF"/>
                </a:highlight>
              </a:rPr>
              <a:t>Пользовательское приемочное тестирование</a:t>
            </a:r>
            <a:r>
              <a:rPr b="1" lang="ru" sz="1600">
                <a:solidFill>
                  <a:srgbClr val="333333"/>
                </a:solidFill>
                <a:highlight>
                  <a:srgbClr val="FFFFFF"/>
                </a:highlight>
              </a:rPr>
              <a:t> </a:t>
            </a:r>
            <a:r>
              <a:rPr lang="ru" sz="1600">
                <a:solidFill>
                  <a:srgbClr val="333333"/>
                </a:solidFill>
                <a:highlight>
                  <a:srgbClr val="FFFFFF"/>
                </a:highlight>
              </a:rPr>
              <a:t>(User acceptance testing);</a:t>
            </a:r>
            <a:br>
              <a:rPr lang="ru" sz="1600">
                <a:solidFill>
                  <a:srgbClr val="333333"/>
                </a:solidFill>
                <a:highlight>
                  <a:srgbClr val="FFFFFF"/>
                </a:highlight>
              </a:rPr>
            </a:br>
            <a:r>
              <a:rPr lang="ru" sz="1600">
                <a:solidFill>
                  <a:srgbClr val="333333"/>
                </a:solidFill>
                <a:highlight>
                  <a:schemeClr val="lt1"/>
                </a:highlight>
              </a:rPr>
              <a:t>	- </a:t>
            </a:r>
            <a:r>
              <a:rPr lang="ru" sz="1600">
                <a:solidFill>
                  <a:srgbClr val="333333"/>
                </a:solidFill>
                <a:highlight>
                  <a:srgbClr val="FFFFFF"/>
                </a:highlight>
              </a:rPr>
              <a:t>Альфа тестирование</a:t>
            </a:r>
            <a:r>
              <a:rPr b="1" lang="ru" sz="1600">
                <a:solidFill>
                  <a:srgbClr val="333333"/>
                </a:solidFill>
                <a:highlight>
                  <a:srgbClr val="FFFFFF"/>
                </a:highlight>
              </a:rPr>
              <a:t> </a:t>
            </a:r>
            <a:r>
              <a:rPr lang="ru" sz="1600">
                <a:solidFill>
                  <a:srgbClr val="333333"/>
                </a:solidFill>
                <a:highlight>
                  <a:srgbClr val="FFFFFF"/>
                </a:highlight>
              </a:rPr>
              <a:t>(Alpha testing) - проводится разработчиками или командой тестировщиков на на поздней стадии разработки с имитацией реального использования продукта;</a:t>
            </a:r>
            <a:br>
              <a:rPr lang="ru" sz="1600">
                <a:solidFill>
                  <a:srgbClr val="333333"/>
                </a:solidFill>
                <a:highlight>
                  <a:srgbClr val="FFFFFF"/>
                </a:highlight>
              </a:rPr>
            </a:br>
            <a:r>
              <a:rPr lang="ru" sz="1600">
                <a:solidFill>
                  <a:srgbClr val="333333"/>
                </a:solidFill>
                <a:highlight>
                  <a:schemeClr val="lt1"/>
                </a:highlight>
              </a:rPr>
              <a:t>	- </a:t>
            </a:r>
            <a:r>
              <a:rPr lang="ru" sz="1600">
                <a:solidFill>
                  <a:srgbClr val="333333"/>
                </a:solidFill>
                <a:highlight>
                  <a:srgbClr val="FFFFFF"/>
                </a:highlight>
              </a:rPr>
              <a:t>Бета тестирование (Beta testing) - проводится небольшой группой авторизированных пользователей, с целью собрать первые фидбеки.</a:t>
            </a:r>
            <a:endParaRPr sz="1600"/>
          </a:p>
        </p:txBody>
      </p:sp>
      <p:sp>
        <p:nvSpPr>
          <p:cNvPr id="215" name="Google Shape;215;p39"/>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Уровни тестирования</a:t>
            </a:r>
            <a:endParaRPr b="1">
              <a:solidFill>
                <a:srgbClr val="696E7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9" name="Shape 219"/>
        <p:cNvGrpSpPr/>
        <p:nvPr/>
      </p:nvGrpSpPr>
      <p:grpSpPr>
        <a:xfrm>
          <a:off x="0" y="0"/>
          <a:ext cx="0" cy="0"/>
          <a:chOff x="0" y="0"/>
          <a:chExt cx="0" cy="0"/>
        </a:xfrm>
      </p:grpSpPr>
      <p:sp>
        <p:nvSpPr>
          <p:cNvPr id="220" name="Google Shape;220;p40"/>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b="1" lang="ru" sz="2000"/>
              <a:t>Виды тестирования</a:t>
            </a:r>
            <a:br>
              <a:rPr lang="ru" sz="1600">
                <a:solidFill>
                  <a:srgbClr val="333333"/>
                </a:solidFill>
                <a:highlight>
                  <a:srgbClr val="FFFFFF"/>
                </a:highlight>
              </a:rPr>
            </a:br>
            <a:endParaRPr sz="700">
              <a:solidFill>
                <a:srgbClr val="333333"/>
              </a:solidFill>
              <a:highlight>
                <a:srgbClr val="FFFFFF"/>
              </a:highlight>
            </a:endParaRPr>
          </a:p>
          <a:p>
            <a:pPr indent="0" lvl="0" marL="0" rtl="0">
              <a:lnSpc>
                <a:spcPct val="100000"/>
              </a:lnSpc>
              <a:spcBef>
                <a:spcPts val="0"/>
              </a:spcBef>
              <a:spcAft>
                <a:spcPts val="0"/>
              </a:spcAft>
              <a:buNone/>
            </a:pPr>
            <a:r>
              <a:rPr b="1" lang="ru" sz="1600">
                <a:solidFill>
                  <a:srgbClr val="333333"/>
                </a:solidFill>
              </a:rPr>
              <a:t>Функциональные:</a:t>
            </a:r>
            <a:br>
              <a:rPr lang="ru" sz="1600">
                <a:solidFill>
                  <a:srgbClr val="333333"/>
                </a:solidFill>
              </a:rPr>
            </a:br>
            <a:r>
              <a:rPr lang="ru" sz="1600">
                <a:solidFill>
                  <a:srgbClr val="333333"/>
                </a:solidFill>
                <a:highlight>
                  <a:schemeClr val="lt1"/>
                </a:highlight>
              </a:rPr>
              <a:t>	- </a:t>
            </a:r>
            <a:r>
              <a:rPr lang="ru" sz="1600">
                <a:solidFill>
                  <a:srgbClr val="333333"/>
                </a:solidFill>
              </a:rPr>
              <a:t>Функциональные тесты</a:t>
            </a:r>
            <a:br>
              <a:rPr lang="ru" sz="1600">
                <a:solidFill>
                  <a:srgbClr val="333333"/>
                </a:solidFill>
              </a:rPr>
            </a:br>
            <a:r>
              <a:rPr lang="ru" sz="1600">
                <a:solidFill>
                  <a:srgbClr val="333333"/>
                </a:solidFill>
                <a:highlight>
                  <a:schemeClr val="lt1"/>
                </a:highlight>
              </a:rPr>
              <a:t>	- </a:t>
            </a:r>
            <a:r>
              <a:rPr lang="ru" sz="1600">
                <a:solidFill>
                  <a:srgbClr val="333333"/>
                </a:solidFill>
              </a:rPr>
              <a:t>Тестирование безопасности</a:t>
            </a:r>
            <a:br>
              <a:rPr lang="ru" sz="1600">
                <a:solidFill>
                  <a:srgbClr val="333333"/>
                </a:solidFill>
              </a:rPr>
            </a:br>
            <a:r>
              <a:rPr lang="ru" sz="1600">
                <a:solidFill>
                  <a:srgbClr val="333333"/>
                </a:solidFill>
                <a:highlight>
                  <a:schemeClr val="lt1"/>
                </a:highlight>
              </a:rPr>
              <a:t>	- </a:t>
            </a:r>
            <a:r>
              <a:rPr lang="ru" sz="1600">
                <a:solidFill>
                  <a:srgbClr val="333333"/>
                </a:solidFill>
              </a:rPr>
              <a:t>Тестирование взаимодействия</a:t>
            </a:r>
            <a:endParaRPr sz="1600">
              <a:solidFill>
                <a:srgbClr val="333333"/>
              </a:solidFill>
            </a:endParaRPr>
          </a:p>
          <a:p>
            <a:pPr indent="0" lvl="0" marL="0" rtl="0">
              <a:lnSpc>
                <a:spcPct val="100000"/>
              </a:lnSpc>
              <a:spcBef>
                <a:spcPts val="0"/>
              </a:spcBef>
              <a:spcAft>
                <a:spcPts val="0"/>
              </a:spcAft>
              <a:buNone/>
            </a:pPr>
            <a:r>
              <a:rPr b="1" lang="ru" sz="1600">
                <a:solidFill>
                  <a:srgbClr val="333333"/>
                </a:solidFill>
              </a:rPr>
              <a:t>Нефункциональные:</a:t>
            </a:r>
            <a:br>
              <a:rPr lang="ru" sz="1600">
                <a:solidFill>
                  <a:srgbClr val="333333"/>
                </a:solidFill>
              </a:rPr>
            </a:br>
            <a:r>
              <a:rPr lang="ru" sz="1600">
                <a:solidFill>
                  <a:srgbClr val="333333"/>
                </a:solidFill>
                <a:highlight>
                  <a:schemeClr val="lt1"/>
                </a:highlight>
              </a:rPr>
              <a:t>	- </a:t>
            </a:r>
            <a:r>
              <a:rPr lang="ru" sz="1600">
                <a:solidFill>
                  <a:srgbClr val="333333"/>
                </a:solidFill>
              </a:rPr>
              <a:t>Тестирование производительности</a:t>
            </a:r>
            <a:br>
              <a:rPr lang="ru" sz="1600">
                <a:solidFill>
                  <a:srgbClr val="333333"/>
                </a:solidFill>
              </a:rPr>
            </a:br>
            <a:r>
              <a:rPr lang="ru" sz="1600">
                <a:solidFill>
                  <a:srgbClr val="333333"/>
                </a:solidFill>
                <a:highlight>
                  <a:schemeClr val="lt1"/>
                </a:highlight>
              </a:rPr>
              <a:t>	- </a:t>
            </a:r>
            <a:r>
              <a:rPr lang="ru" sz="1600">
                <a:solidFill>
                  <a:srgbClr val="333333"/>
                </a:solidFill>
              </a:rPr>
              <a:t>Тестирование установки</a:t>
            </a:r>
            <a:br>
              <a:rPr lang="ru" sz="1600">
                <a:solidFill>
                  <a:srgbClr val="333333"/>
                </a:solidFill>
              </a:rPr>
            </a:br>
            <a:r>
              <a:rPr lang="ru" sz="1600">
                <a:solidFill>
                  <a:srgbClr val="333333"/>
                </a:solidFill>
                <a:highlight>
                  <a:schemeClr val="lt1"/>
                </a:highlight>
              </a:rPr>
              <a:t>	- </a:t>
            </a:r>
            <a:r>
              <a:rPr lang="ru" sz="1600">
                <a:solidFill>
                  <a:srgbClr val="333333"/>
                </a:solidFill>
              </a:rPr>
              <a:t>Тестирование удобства пользования</a:t>
            </a:r>
            <a:br>
              <a:rPr lang="ru" sz="1600">
                <a:solidFill>
                  <a:srgbClr val="333333"/>
                </a:solidFill>
              </a:rPr>
            </a:br>
            <a:r>
              <a:rPr lang="ru" sz="1600">
                <a:solidFill>
                  <a:srgbClr val="333333"/>
                </a:solidFill>
                <a:highlight>
                  <a:schemeClr val="lt1"/>
                </a:highlight>
              </a:rPr>
              <a:t>	- </a:t>
            </a:r>
            <a:r>
              <a:rPr lang="ru" sz="1600">
                <a:solidFill>
                  <a:srgbClr val="333333"/>
                </a:solidFill>
              </a:rPr>
              <a:t>Тестирование на отказ и восстановление</a:t>
            </a:r>
            <a:br>
              <a:rPr lang="ru" sz="1600">
                <a:solidFill>
                  <a:srgbClr val="333333"/>
                </a:solidFill>
              </a:rPr>
            </a:br>
            <a:r>
              <a:rPr lang="ru" sz="1600">
                <a:solidFill>
                  <a:srgbClr val="333333"/>
                </a:solidFill>
                <a:highlight>
                  <a:schemeClr val="lt1"/>
                </a:highlight>
              </a:rPr>
              <a:t>	- </a:t>
            </a:r>
            <a:r>
              <a:rPr lang="ru" sz="1600">
                <a:solidFill>
                  <a:srgbClr val="333333"/>
                </a:solidFill>
              </a:rPr>
              <a:t>Конфигурационное тестирование</a:t>
            </a:r>
            <a:endParaRPr sz="1600">
              <a:solidFill>
                <a:srgbClr val="333333"/>
              </a:solidFill>
            </a:endParaRPr>
          </a:p>
          <a:p>
            <a:pPr indent="0" lvl="0" marL="0" rtl="0">
              <a:lnSpc>
                <a:spcPct val="100000"/>
              </a:lnSpc>
              <a:spcBef>
                <a:spcPts val="0"/>
              </a:spcBef>
              <a:spcAft>
                <a:spcPts val="0"/>
              </a:spcAft>
              <a:buNone/>
            </a:pPr>
            <a:r>
              <a:rPr b="1" lang="ru" sz="1600">
                <a:solidFill>
                  <a:srgbClr val="333333"/>
                </a:solidFill>
              </a:rPr>
              <a:t>Связанные с изменениями:</a:t>
            </a:r>
            <a:br>
              <a:rPr lang="ru" sz="1600">
                <a:solidFill>
                  <a:srgbClr val="333333"/>
                </a:solidFill>
              </a:rPr>
            </a:br>
            <a:r>
              <a:rPr lang="ru" sz="1600">
                <a:solidFill>
                  <a:srgbClr val="333333"/>
                </a:solidFill>
                <a:highlight>
                  <a:schemeClr val="lt1"/>
                </a:highlight>
              </a:rPr>
              <a:t>	- </a:t>
            </a:r>
            <a:r>
              <a:rPr lang="ru" sz="1600">
                <a:solidFill>
                  <a:srgbClr val="333333"/>
                </a:solidFill>
              </a:rPr>
              <a:t>Дымовое тестирование</a:t>
            </a:r>
            <a:br>
              <a:rPr lang="ru" sz="1600">
                <a:solidFill>
                  <a:srgbClr val="333333"/>
                </a:solidFill>
              </a:rPr>
            </a:br>
            <a:r>
              <a:rPr lang="ru" sz="1600">
                <a:solidFill>
                  <a:srgbClr val="333333"/>
                </a:solidFill>
                <a:highlight>
                  <a:schemeClr val="lt1"/>
                </a:highlight>
              </a:rPr>
              <a:t>	- </a:t>
            </a:r>
            <a:r>
              <a:rPr lang="ru" sz="1600">
                <a:solidFill>
                  <a:srgbClr val="333333"/>
                </a:solidFill>
              </a:rPr>
              <a:t>Регрессионное тестирование</a:t>
            </a:r>
            <a:br>
              <a:rPr lang="ru" sz="1600">
                <a:solidFill>
                  <a:srgbClr val="333333"/>
                </a:solidFill>
              </a:rPr>
            </a:br>
            <a:r>
              <a:rPr lang="ru" sz="1600">
                <a:solidFill>
                  <a:srgbClr val="333333"/>
                </a:solidFill>
                <a:highlight>
                  <a:schemeClr val="lt1"/>
                </a:highlight>
              </a:rPr>
              <a:t>	- </a:t>
            </a:r>
            <a:r>
              <a:rPr lang="ru" sz="1600">
                <a:solidFill>
                  <a:srgbClr val="333333"/>
                </a:solidFill>
              </a:rPr>
              <a:t>Тестирование сборки</a:t>
            </a:r>
            <a:br>
              <a:rPr lang="ru" sz="1600">
                <a:solidFill>
                  <a:srgbClr val="333333"/>
                </a:solidFill>
              </a:rPr>
            </a:br>
            <a:r>
              <a:rPr lang="ru" sz="1600">
                <a:solidFill>
                  <a:srgbClr val="333333"/>
                </a:solidFill>
                <a:highlight>
                  <a:schemeClr val="lt1"/>
                </a:highlight>
              </a:rPr>
              <a:t>	- </a:t>
            </a:r>
            <a:r>
              <a:rPr lang="ru" sz="1600">
                <a:solidFill>
                  <a:srgbClr val="333333"/>
                </a:solidFill>
              </a:rPr>
              <a:t>Санитарное тестирование или проверка согласованности/исправности</a:t>
            </a:r>
            <a:endParaRPr sz="1600"/>
          </a:p>
        </p:txBody>
      </p:sp>
      <p:pic>
        <p:nvPicPr>
          <p:cNvPr id="221" name="Google Shape;221;p40"/>
          <p:cNvPicPr preferRelativeResize="0"/>
          <p:nvPr/>
        </p:nvPicPr>
        <p:blipFill>
          <a:blip r:embed="rId3">
            <a:alphaModFix/>
          </a:blip>
          <a:stretch>
            <a:fillRect/>
          </a:stretch>
        </p:blipFill>
        <p:spPr>
          <a:xfrm>
            <a:off x="4779250" y="1012225"/>
            <a:ext cx="4260126" cy="2875124"/>
          </a:xfrm>
          <a:prstGeom prst="rect">
            <a:avLst/>
          </a:prstGeom>
          <a:noFill/>
          <a:ln>
            <a:noFill/>
          </a:ln>
        </p:spPr>
      </p:pic>
      <p:sp>
        <p:nvSpPr>
          <p:cNvPr id="222" name="Google Shape;222;p40"/>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Виды</a:t>
            </a:r>
            <a:r>
              <a:rPr b="1" lang="ru">
                <a:solidFill>
                  <a:srgbClr val="696E71"/>
                </a:solidFill>
                <a:latin typeface="Calibri"/>
                <a:ea typeface="Calibri"/>
                <a:cs typeface="Calibri"/>
                <a:sym typeface="Calibri"/>
              </a:rPr>
              <a:t> тестирования</a:t>
            </a:r>
            <a:endParaRPr b="1">
              <a:solidFill>
                <a:srgbClr val="696E7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6" name="Shape 226"/>
        <p:cNvGrpSpPr/>
        <p:nvPr/>
      </p:nvGrpSpPr>
      <p:grpSpPr>
        <a:xfrm>
          <a:off x="0" y="0"/>
          <a:ext cx="0" cy="0"/>
          <a:chOff x="0" y="0"/>
          <a:chExt cx="0" cy="0"/>
        </a:xfrm>
      </p:grpSpPr>
      <p:sp>
        <p:nvSpPr>
          <p:cNvPr id="227" name="Google Shape;227;p41"/>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500"/>
              <a:t>    </a:t>
            </a:r>
            <a:r>
              <a:rPr b="1" lang="ru" sz="2000"/>
              <a:t>Функциональные виды тестирования</a:t>
            </a:r>
            <a:br>
              <a:rPr b="1" lang="ru" sz="2000">
                <a:solidFill>
                  <a:srgbClr val="333333"/>
                </a:solidFill>
                <a:highlight>
                  <a:srgbClr val="FFFFFF"/>
                </a:highlight>
              </a:rPr>
            </a:br>
            <a:endParaRPr b="1" sz="1600">
              <a:solidFill>
                <a:srgbClr val="333333"/>
              </a:solidFill>
              <a:highlight>
                <a:srgbClr val="FFFFFF"/>
              </a:highlight>
            </a:endParaRPr>
          </a:p>
          <a:p>
            <a:pPr indent="457200" lvl="0" marL="0" rtl="0">
              <a:lnSpc>
                <a:spcPct val="100000"/>
              </a:lnSpc>
              <a:spcBef>
                <a:spcPts val="0"/>
              </a:spcBef>
              <a:spcAft>
                <a:spcPts val="0"/>
              </a:spcAft>
              <a:buClr>
                <a:schemeClr val="dk1"/>
              </a:buClr>
              <a:buSzPts val="1100"/>
              <a:buFont typeface="Arial"/>
              <a:buNone/>
            </a:pPr>
            <a:r>
              <a:rPr b="1" lang="ru" sz="1600">
                <a:solidFill>
                  <a:srgbClr val="333333"/>
                </a:solidFill>
              </a:rPr>
              <a:t>По ISTQB:</a:t>
            </a:r>
            <a:r>
              <a:rPr lang="ru" sz="1600">
                <a:solidFill>
                  <a:srgbClr val="333333"/>
                </a:solidFill>
              </a:rPr>
              <a:t> Тестирование, основанное на анализе спецификации функциональности компонента или системы.</a:t>
            </a:r>
            <a:endParaRPr sz="1600">
              <a:solidFill>
                <a:srgbClr val="333333"/>
              </a:solidFill>
            </a:endParaRPr>
          </a:p>
          <a:p>
            <a:pPr indent="457200" lvl="0" marL="0" rtl="0">
              <a:lnSpc>
                <a:spcPct val="100000"/>
              </a:lnSpc>
              <a:spcBef>
                <a:spcPts val="1000"/>
              </a:spcBef>
              <a:spcAft>
                <a:spcPts val="0"/>
              </a:spcAft>
              <a:buClr>
                <a:schemeClr val="dk1"/>
              </a:buClr>
              <a:buSzPts val="1100"/>
              <a:buFont typeface="Arial"/>
              <a:buNone/>
            </a:pPr>
            <a:r>
              <a:rPr b="1" lang="ru" sz="1600">
                <a:solidFill>
                  <a:srgbClr val="333333"/>
                </a:solidFill>
              </a:rPr>
              <a:t>Функциональность</a:t>
            </a:r>
            <a:r>
              <a:rPr lang="ru" sz="1600">
                <a:solidFill>
                  <a:srgbClr val="333333"/>
                </a:solidFill>
              </a:rPr>
              <a:t> - Способность программного продукта обеспечивать функции, которые соответствуют установленным и предполагаемым потребностям, при использовании ПО в определенных условиях.</a:t>
            </a:r>
            <a:endParaRPr sz="1600">
              <a:solidFill>
                <a:srgbClr val="333333"/>
              </a:solidFill>
            </a:endParaRPr>
          </a:p>
          <a:p>
            <a:pPr indent="457200" lvl="0" marL="0" rtl="0">
              <a:lnSpc>
                <a:spcPct val="100000"/>
              </a:lnSpc>
              <a:spcBef>
                <a:spcPts val="1000"/>
              </a:spcBef>
              <a:spcAft>
                <a:spcPts val="0"/>
              </a:spcAft>
              <a:buClr>
                <a:schemeClr val="dk1"/>
              </a:buClr>
              <a:buSzPts val="1100"/>
              <a:buFont typeface="Arial"/>
              <a:buNone/>
            </a:pPr>
            <a:r>
              <a:rPr b="1" lang="ru" sz="1600">
                <a:solidFill>
                  <a:srgbClr val="333333"/>
                </a:solidFill>
              </a:rPr>
              <a:t>Преимущества </a:t>
            </a:r>
            <a:r>
              <a:rPr lang="ru" sz="1600">
                <a:solidFill>
                  <a:srgbClr val="333333"/>
                </a:solidFill>
              </a:rPr>
              <a:t>функционального тестирования:</a:t>
            </a:r>
            <a:br>
              <a:rPr lang="ru" sz="1600">
                <a:solidFill>
                  <a:srgbClr val="333333"/>
                </a:solidFill>
              </a:rPr>
            </a:br>
            <a:r>
              <a:rPr lang="ru" sz="1600">
                <a:solidFill>
                  <a:srgbClr val="333333"/>
                </a:solidFill>
              </a:rPr>
              <a:t>	- имитирует фактическое использование системы.</a:t>
            </a:r>
            <a:endParaRPr sz="1600">
              <a:solidFill>
                <a:srgbClr val="333333"/>
              </a:solidFill>
            </a:endParaRPr>
          </a:p>
          <a:p>
            <a:pPr indent="457200" lvl="0" marL="0" rtl="0">
              <a:lnSpc>
                <a:spcPct val="100000"/>
              </a:lnSpc>
              <a:spcBef>
                <a:spcPts val="1000"/>
              </a:spcBef>
              <a:spcAft>
                <a:spcPts val="0"/>
              </a:spcAft>
              <a:buClr>
                <a:schemeClr val="dk1"/>
              </a:buClr>
              <a:buSzPts val="1100"/>
              <a:buFont typeface="Arial"/>
              <a:buNone/>
            </a:pPr>
            <a:r>
              <a:rPr b="1" lang="ru" sz="1600">
                <a:solidFill>
                  <a:srgbClr val="333333"/>
                </a:solidFill>
              </a:rPr>
              <a:t>Недостатки </a:t>
            </a:r>
            <a:r>
              <a:rPr lang="ru" sz="1600">
                <a:solidFill>
                  <a:srgbClr val="333333"/>
                </a:solidFill>
              </a:rPr>
              <a:t>функционального тестирования:</a:t>
            </a:r>
            <a:br>
              <a:rPr lang="ru" sz="1600">
                <a:solidFill>
                  <a:srgbClr val="333333"/>
                </a:solidFill>
              </a:rPr>
            </a:br>
            <a:r>
              <a:rPr lang="ru" sz="1600">
                <a:solidFill>
                  <a:srgbClr val="333333"/>
                </a:solidFill>
              </a:rPr>
              <a:t>	- возможность упущения логических ошибок в программном обеспечении;</a:t>
            </a:r>
            <a:br>
              <a:rPr lang="ru" sz="1600">
                <a:solidFill>
                  <a:srgbClr val="333333"/>
                </a:solidFill>
              </a:rPr>
            </a:br>
            <a:r>
              <a:rPr lang="ru" sz="1600">
                <a:solidFill>
                  <a:srgbClr val="333333"/>
                </a:solidFill>
              </a:rPr>
              <a:t>	- вероятность избыточного тестирования.</a:t>
            </a:r>
            <a:endParaRPr sz="1600">
              <a:solidFill>
                <a:srgbClr val="333333"/>
              </a:solidFill>
            </a:endParaRPr>
          </a:p>
          <a:p>
            <a:pPr indent="457200" lvl="0" marL="0" rtl="0">
              <a:lnSpc>
                <a:spcPct val="100000"/>
              </a:lnSpc>
              <a:spcBef>
                <a:spcPts val="1000"/>
              </a:spcBef>
              <a:spcAft>
                <a:spcPts val="1000"/>
              </a:spcAft>
              <a:buClr>
                <a:schemeClr val="dk1"/>
              </a:buClr>
              <a:buSzPts val="1100"/>
              <a:buFont typeface="Arial"/>
              <a:buNone/>
            </a:pPr>
            <a:r>
              <a:rPr lang="ru" sz="1600">
                <a:solidFill>
                  <a:srgbClr val="333333"/>
                </a:solidFill>
              </a:rPr>
              <a:t>Достаточно распространенной является автоматизация функционального тестирования.</a:t>
            </a:r>
            <a:endParaRPr sz="1600"/>
          </a:p>
        </p:txBody>
      </p:sp>
      <p:sp>
        <p:nvSpPr>
          <p:cNvPr id="228" name="Google Shape;228;p41"/>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Функциональные в</a:t>
            </a:r>
            <a:r>
              <a:rPr b="1" lang="ru">
                <a:solidFill>
                  <a:srgbClr val="696E71"/>
                </a:solidFill>
                <a:latin typeface="Calibri"/>
                <a:ea typeface="Calibri"/>
                <a:cs typeface="Calibri"/>
                <a:sym typeface="Calibri"/>
              </a:rPr>
              <a:t>иды</a:t>
            </a:r>
            <a:endParaRPr b="1">
              <a:solidFill>
                <a:srgbClr val="696E7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2" name="Shape 232"/>
        <p:cNvGrpSpPr/>
        <p:nvPr/>
      </p:nvGrpSpPr>
      <p:grpSpPr>
        <a:xfrm>
          <a:off x="0" y="0"/>
          <a:ext cx="0" cy="0"/>
          <a:chOff x="0" y="0"/>
          <a:chExt cx="0" cy="0"/>
        </a:xfrm>
      </p:grpSpPr>
      <p:sp>
        <p:nvSpPr>
          <p:cNvPr id="233" name="Google Shape;233;p42"/>
          <p:cNvSpPr txBox="1"/>
          <p:nvPr>
            <p:ph idx="1" type="body"/>
          </p:nvPr>
        </p:nvSpPr>
        <p:spPr>
          <a:xfrm>
            <a:off x="180000" y="503275"/>
            <a:ext cx="8784000" cy="45369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lang="ru" sz="2500"/>
              <a:t>    </a:t>
            </a:r>
            <a:r>
              <a:rPr b="1" lang="ru" sz="2000"/>
              <a:t>Функциональные тесты</a:t>
            </a:r>
            <a:br>
              <a:rPr lang="ru" sz="2500"/>
            </a:br>
            <a:endParaRPr sz="700">
              <a:solidFill>
                <a:srgbClr val="333333"/>
              </a:solidFill>
              <a:highlight>
                <a:srgbClr val="FFFFFF"/>
              </a:highlight>
            </a:endParaRPr>
          </a:p>
          <a:p>
            <a:pPr indent="457200" lvl="0" marL="0" rtl="0">
              <a:lnSpc>
                <a:spcPct val="100000"/>
              </a:lnSpc>
              <a:spcBef>
                <a:spcPts val="0"/>
              </a:spcBef>
              <a:spcAft>
                <a:spcPts val="0"/>
              </a:spcAft>
              <a:buNone/>
            </a:pPr>
            <a:r>
              <a:rPr lang="ru" sz="1500">
                <a:solidFill>
                  <a:srgbClr val="333333"/>
                </a:solidFill>
              </a:rPr>
              <a:t>О</a:t>
            </a:r>
            <a:r>
              <a:rPr lang="ru" sz="1600">
                <a:solidFill>
                  <a:srgbClr val="333333"/>
                </a:solidFill>
              </a:rPr>
              <a:t>сновываются на функциях, выполняемых системой, и могут проводиться на всех уровнях тестирования (компонентном, интеграционном, системном, приемочном). Как правило, эти функции описываются в требованиях, функциональных спецификациях или в виде случаев использования системы (use cases).</a:t>
            </a:r>
            <a:endParaRPr sz="1600">
              <a:solidFill>
                <a:srgbClr val="333333"/>
              </a:solidFill>
            </a:endParaRPr>
          </a:p>
          <a:p>
            <a:pPr indent="0" lvl="0" marL="0" rtl="0">
              <a:lnSpc>
                <a:spcPct val="100000"/>
              </a:lnSpc>
              <a:spcBef>
                <a:spcPts val="0"/>
              </a:spcBef>
              <a:spcAft>
                <a:spcPts val="0"/>
              </a:spcAft>
              <a:buNone/>
            </a:pPr>
            <a:r>
              <a:t/>
            </a:r>
            <a:endParaRPr sz="1600">
              <a:solidFill>
                <a:srgbClr val="333333"/>
              </a:solidFill>
            </a:endParaRPr>
          </a:p>
          <a:p>
            <a:pPr indent="457200" lvl="0" marL="0" rtl="0">
              <a:lnSpc>
                <a:spcPct val="100000"/>
              </a:lnSpc>
              <a:spcBef>
                <a:spcPts val="0"/>
              </a:spcBef>
              <a:spcAft>
                <a:spcPts val="0"/>
              </a:spcAft>
              <a:buNone/>
            </a:pPr>
            <a:r>
              <a:rPr b="1" lang="ru" sz="1600">
                <a:solidFill>
                  <a:srgbClr val="333333"/>
                </a:solidFill>
              </a:rPr>
              <a:t>Может проводиться в двух аспектах:</a:t>
            </a:r>
            <a:br>
              <a:rPr i="1" lang="ru" sz="1600">
                <a:solidFill>
                  <a:srgbClr val="333333"/>
                </a:solidFill>
              </a:rPr>
            </a:br>
            <a:r>
              <a:rPr i="1" lang="ru" sz="1600">
                <a:solidFill>
                  <a:srgbClr val="333333"/>
                </a:solidFill>
              </a:rPr>
              <a:t>	</a:t>
            </a:r>
            <a:r>
              <a:rPr lang="ru" sz="1600">
                <a:solidFill>
                  <a:srgbClr val="333333"/>
                </a:solidFill>
              </a:rPr>
              <a:t>- Требования.</a:t>
            </a:r>
            <a:br>
              <a:rPr lang="ru" sz="1600">
                <a:solidFill>
                  <a:srgbClr val="333333"/>
                </a:solidFill>
              </a:rPr>
            </a:br>
            <a:r>
              <a:rPr lang="ru" sz="1600">
                <a:solidFill>
                  <a:srgbClr val="333333"/>
                </a:solidFill>
              </a:rPr>
              <a:t>	- Бизнес-процессы.</a:t>
            </a:r>
            <a:endParaRPr sz="1600">
              <a:solidFill>
                <a:srgbClr val="333333"/>
              </a:solidFill>
            </a:endParaRPr>
          </a:p>
          <a:p>
            <a:pPr indent="457200" lvl="0" marL="0" rtl="0">
              <a:lnSpc>
                <a:spcPct val="100000"/>
              </a:lnSpc>
              <a:spcBef>
                <a:spcPts val="0"/>
              </a:spcBef>
              <a:spcAft>
                <a:spcPts val="0"/>
              </a:spcAft>
              <a:buNone/>
            </a:pPr>
            <a:r>
              <a:rPr lang="ru" sz="1600">
                <a:solidFill>
                  <a:srgbClr val="333333"/>
                </a:solidFill>
              </a:rPr>
              <a:t>Тестирование в аспекте «требования» использует спецификацию функциональных требований к системе, как основу для дизайна тестовых случаев (Test Cases). Это позволит сфокусироваться и не упустить при тестировании наиболее важный функционал.</a:t>
            </a:r>
            <a:br>
              <a:rPr lang="ru" sz="1600">
                <a:solidFill>
                  <a:srgbClr val="333333"/>
                </a:solidFill>
              </a:rPr>
            </a:br>
            <a:br>
              <a:rPr lang="ru" sz="1600">
                <a:solidFill>
                  <a:srgbClr val="333333"/>
                </a:solidFill>
              </a:rPr>
            </a:br>
            <a:r>
              <a:rPr lang="ru" sz="1600">
                <a:solidFill>
                  <a:srgbClr val="333333"/>
                </a:solidFill>
              </a:rPr>
              <a:t>	Тестирование в аспекте «бизнес-процессы» использует знание бизнес-процессов, которые описывают сценарии ежедневного использования системы. В этом аспекте тестовые сценарии (test scripts), как правило, основываются на случаях использования системы (use cases).</a:t>
            </a:r>
            <a:endParaRPr sz="1600"/>
          </a:p>
        </p:txBody>
      </p:sp>
      <p:sp>
        <p:nvSpPr>
          <p:cNvPr id="234" name="Google Shape;234;p42"/>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Функциональные виды</a:t>
            </a:r>
            <a:endParaRPr b="1">
              <a:solidFill>
                <a:srgbClr val="696E7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8" name="Shape 238"/>
        <p:cNvGrpSpPr/>
        <p:nvPr/>
      </p:nvGrpSpPr>
      <p:grpSpPr>
        <a:xfrm>
          <a:off x="0" y="0"/>
          <a:ext cx="0" cy="0"/>
          <a:chOff x="0" y="0"/>
          <a:chExt cx="0" cy="0"/>
        </a:xfrm>
      </p:grpSpPr>
      <p:sp>
        <p:nvSpPr>
          <p:cNvPr id="239" name="Google Shape;239;p43"/>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500"/>
              <a:t>    </a:t>
            </a:r>
            <a:r>
              <a:rPr b="1" lang="ru" sz="2000"/>
              <a:t>Тестирование безопасности</a:t>
            </a:r>
            <a:br>
              <a:rPr b="1" lang="ru" sz="1600"/>
            </a:br>
            <a:endParaRPr b="1" sz="1600">
              <a:solidFill>
                <a:srgbClr val="333333"/>
              </a:solidFill>
              <a:highlight>
                <a:srgbClr val="FFFFFF"/>
              </a:highlight>
            </a:endParaRPr>
          </a:p>
          <a:p>
            <a:pPr indent="457200" lvl="0" marL="0" rtl="0">
              <a:lnSpc>
                <a:spcPct val="100000"/>
              </a:lnSpc>
              <a:spcBef>
                <a:spcPts val="0"/>
              </a:spcBef>
              <a:spcAft>
                <a:spcPts val="0"/>
              </a:spcAft>
              <a:buNone/>
            </a:pPr>
            <a:r>
              <a:rPr lang="ru" sz="1600">
                <a:solidFill>
                  <a:srgbClr val="333333"/>
                </a:solidFill>
              </a:rPr>
              <a:t>Стратегия тестирования, используемая для проверки безопасности системы, а также для анализа рисков, связанных с обеспечением целостного подхода к защите приложения, атак хакеров, вирусов, несанкционированного доступа к конфиденциальным данным.</a:t>
            </a:r>
            <a:endParaRPr sz="1600">
              <a:solidFill>
                <a:srgbClr val="333333"/>
              </a:solidFill>
            </a:endParaRPr>
          </a:p>
          <a:p>
            <a:pPr indent="457200" lvl="0" marL="0" rtl="0">
              <a:lnSpc>
                <a:spcPct val="100000"/>
              </a:lnSpc>
              <a:spcBef>
                <a:spcPts val="1000"/>
              </a:spcBef>
              <a:spcAft>
                <a:spcPts val="0"/>
              </a:spcAft>
              <a:buNone/>
            </a:pPr>
            <a:r>
              <a:rPr lang="ru" sz="1600">
                <a:solidFill>
                  <a:srgbClr val="333333"/>
                </a:solidFill>
              </a:rPr>
              <a:t>Общая стратегия безопасности основывается на трех основных принципах:</a:t>
            </a:r>
            <a:endParaRPr sz="1600">
              <a:solidFill>
                <a:srgbClr val="333333"/>
              </a:solidFill>
              <a:highlight>
                <a:schemeClr val="lt1"/>
              </a:highlight>
            </a:endParaRPr>
          </a:p>
          <a:p>
            <a:pPr indent="-330200" lvl="0" marL="457200" rtl="0">
              <a:lnSpc>
                <a:spcPct val="100000"/>
              </a:lnSpc>
              <a:spcBef>
                <a:spcPts val="1000"/>
              </a:spcBef>
              <a:spcAft>
                <a:spcPts val="0"/>
              </a:spcAft>
              <a:buClr>
                <a:srgbClr val="333333"/>
              </a:buClr>
              <a:buSzPts val="1600"/>
              <a:buChar char="●"/>
            </a:pPr>
            <a:r>
              <a:rPr lang="ru" sz="1600">
                <a:solidFill>
                  <a:srgbClr val="333333"/>
                </a:solidFill>
              </a:rPr>
              <a:t>Конфиденциальность.</a:t>
            </a:r>
            <a:endParaRPr sz="1600">
              <a:solidFill>
                <a:srgbClr val="333333"/>
              </a:solidFill>
            </a:endParaRPr>
          </a:p>
          <a:p>
            <a:pPr indent="-330200" lvl="0" marL="457200" rtl="0">
              <a:lnSpc>
                <a:spcPct val="100000"/>
              </a:lnSpc>
              <a:spcBef>
                <a:spcPts val="0"/>
              </a:spcBef>
              <a:spcAft>
                <a:spcPts val="0"/>
              </a:spcAft>
              <a:buClr>
                <a:srgbClr val="333333"/>
              </a:buClr>
              <a:buSzPts val="1600"/>
              <a:buChar char="●"/>
            </a:pPr>
            <a:r>
              <a:rPr lang="ru" sz="1600">
                <a:solidFill>
                  <a:srgbClr val="333333"/>
                </a:solidFill>
              </a:rPr>
              <a:t>Целостность.</a:t>
            </a:r>
            <a:endParaRPr sz="1600">
              <a:solidFill>
                <a:srgbClr val="333333"/>
              </a:solidFill>
            </a:endParaRPr>
          </a:p>
          <a:p>
            <a:pPr indent="-330200" lvl="0" marL="457200" rtl="0">
              <a:lnSpc>
                <a:spcPct val="100000"/>
              </a:lnSpc>
              <a:spcBef>
                <a:spcPts val="0"/>
              </a:spcBef>
              <a:spcAft>
                <a:spcPts val="0"/>
              </a:spcAft>
              <a:buClr>
                <a:srgbClr val="333333"/>
              </a:buClr>
              <a:buSzPts val="1600"/>
              <a:buChar char="●"/>
            </a:pPr>
            <a:r>
              <a:rPr lang="ru" sz="1600">
                <a:solidFill>
                  <a:srgbClr val="333333"/>
                </a:solidFill>
              </a:rPr>
              <a:t>Доступность.</a:t>
            </a:r>
            <a:endParaRPr sz="1600">
              <a:solidFill>
                <a:srgbClr val="333333"/>
              </a:solidFill>
            </a:endParaRPr>
          </a:p>
          <a:p>
            <a:pPr indent="0" lvl="0" marL="0" rtl="0">
              <a:lnSpc>
                <a:spcPct val="115000"/>
              </a:lnSpc>
              <a:spcBef>
                <a:spcPts val="1000"/>
              </a:spcBef>
              <a:spcAft>
                <a:spcPts val="1000"/>
              </a:spcAft>
              <a:buNone/>
            </a:pPr>
            <a:r>
              <a:t/>
            </a:r>
            <a:endParaRPr sz="1500">
              <a:solidFill>
                <a:srgbClr val="333333"/>
              </a:solidFill>
            </a:endParaRPr>
          </a:p>
        </p:txBody>
      </p:sp>
      <p:sp>
        <p:nvSpPr>
          <p:cNvPr id="240" name="Google Shape;240;p43"/>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Функциональные виды</a:t>
            </a:r>
            <a:endParaRPr b="1">
              <a:solidFill>
                <a:srgbClr val="696E7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4" name="Shape 244"/>
        <p:cNvGrpSpPr/>
        <p:nvPr/>
      </p:nvGrpSpPr>
      <p:grpSpPr>
        <a:xfrm>
          <a:off x="0" y="0"/>
          <a:ext cx="0" cy="0"/>
          <a:chOff x="0" y="0"/>
          <a:chExt cx="0" cy="0"/>
        </a:xfrm>
      </p:grpSpPr>
      <p:sp>
        <p:nvSpPr>
          <p:cNvPr id="245" name="Google Shape;245;p44"/>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500"/>
              <a:t>    </a:t>
            </a:r>
            <a:r>
              <a:rPr b="1" lang="ru" sz="2000"/>
              <a:t>Тестирование взаимодействия</a:t>
            </a:r>
            <a:br>
              <a:rPr b="1" lang="ru" sz="1600"/>
            </a:br>
            <a:endParaRPr b="1" sz="1600">
              <a:solidFill>
                <a:srgbClr val="333333"/>
              </a:solidFill>
              <a:highlight>
                <a:srgbClr val="FFFFFF"/>
              </a:highlight>
            </a:endParaRPr>
          </a:p>
          <a:p>
            <a:pPr indent="457200" lvl="0" marL="0" rtl="0">
              <a:lnSpc>
                <a:spcPct val="100000"/>
              </a:lnSpc>
              <a:spcBef>
                <a:spcPts val="0"/>
              </a:spcBef>
              <a:spcAft>
                <a:spcPts val="0"/>
              </a:spcAft>
              <a:buClr>
                <a:schemeClr val="dk1"/>
              </a:buClr>
              <a:buSzPts val="1100"/>
              <a:buFont typeface="Arial"/>
              <a:buNone/>
            </a:pPr>
            <a:r>
              <a:rPr b="1" lang="ru" sz="1600">
                <a:solidFill>
                  <a:srgbClr val="333333"/>
                </a:solidFill>
              </a:rPr>
              <a:t>Тестирование взаимодействия</a:t>
            </a:r>
            <a:r>
              <a:rPr lang="ru" sz="1600">
                <a:solidFill>
                  <a:srgbClr val="333333"/>
                </a:solidFill>
              </a:rPr>
              <a:t> (Interoperability Testing) – это функциональное тестирование, проверяющее способность приложения взаимодействовать с одним и более компонентами или системами и включающее в себя тестирование совместимости (compatibility testing) и интеграционное тестирование (integration testing).</a:t>
            </a:r>
            <a:endParaRPr sz="1600">
              <a:solidFill>
                <a:srgbClr val="333333"/>
              </a:solidFill>
            </a:endParaRPr>
          </a:p>
          <a:p>
            <a:pPr indent="457200" lvl="0" marL="0" rtl="0">
              <a:lnSpc>
                <a:spcPct val="100000"/>
              </a:lnSpc>
              <a:spcBef>
                <a:spcPts val="1000"/>
              </a:spcBef>
              <a:spcAft>
                <a:spcPts val="1000"/>
              </a:spcAft>
              <a:buClr>
                <a:schemeClr val="dk1"/>
              </a:buClr>
              <a:buSzPts val="1100"/>
              <a:buFont typeface="Arial"/>
              <a:buNone/>
            </a:pPr>
            <a:r>
              <a:rPr lang="ru" sz="1600">
                <a:solidFill>
                  <a:srgbClr val="333333"/>
                </a:solidFill>
              </a:rPr>
              <a:t>Программное обеспечение с хорошими характеристиками взаимодействия может быть легко интегрировано с другими системами, не требуя каких-либо серьезных модификаций. В этом случае, количество изменений и время, требуемое на их выполнение, могут быть использованы для измерения возможности взаимодействия.</a:t>
            </a:r>
            <a:endParaRPr sz="1500">
              <a:solidFill>
                <a:srgbClr val="333333"/>
              </a:solidFill>
            </a:endParaRPr>
          </a:p>
        </p:txBody>
      </p:sp>
      <p:sp>
        <p:nvSpPr>
          <p:cNvPr id="246" name="Google Shape;246;p44"/>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Функциональные виды</a:t>
            </a:r>
            <a:endParaRPr b="1">
              <a:solidFill>
                <a:srgbClr val="696E7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0" name="Shape 250"/>
        <p:cNvGrpSpPr/>
        <p:nvPr/>
      </p:nvGrpSpPr>
      <p:grpSpPr>
        <a:xfrm>
          <a:off x="0" y="0"/>
          <a:ext cx="0" cy="0"/>
          <a:chOff x="0" y="0"/>
          <a:chExt cx="0" cy="0"/>
        </a:xfrm>
      </p:grpSpPr>
      <p:sp>
        <p:nvSpPr>
          <p:cNvPr id="251" name="Google Shape;251;p45"/>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500"/>
              <a:t>    </a:t>
            </a:r>
            <a:r>
              <a:rPr b="1" lang="ru" sz="2000"/>
              <a:t>Нефункциональные виды тестирования</a:t>
            </a:r>
            <a:br>
              <a:rPr b="1" lang="ru" sz="1600"/>
            </a:br>
            <a:endParaRPr b="1" sz="1600">
              <a:solidFill>
                <a:srgbClr val="333333"/>
              </a:solidFill>
              <a:highlight>
                <a:srgbClr val="FFFFFF"/>
              </a:highlight>
            </a:endParaRPr>
          </a:p>
          <a:p>
            <a:pPr indent="457200" lvl="0" marL="0" rtl="0">
              <a:lnSpc>
                <a:spcPct val="100000"/>
              </a:lnSpc>
              <a:spcBef>
                <a:spcPts val="0"/>
              </a:spcBef>
              <a:spcAft>
                <a:spcPts val="1000"/>
              </a:spcAft>
              <a:buNone/>
            </a:pPr>
            <a:r>
              <a:rPr b="1" lang="ru" sz="1600">
                <a:solidFill>
                  <a:srgbClr val="333333"/>
                </a:solidFill>
              </a:rPr>
              <a:t>Нефункциональное тестирование </a:t>
            </a:r>
            <a:r>
              <a:rPr lang="ru" sz="1600">
                <a:solidFill>
                  <a:srgbClr val="333333"/>
                </a:solidFill>
              </a:rPr>
              <a:t>описывает тесты, необходимые для определения характеристик программного обеспечения, которые могут быть измерены различными величинами. То есть, тестирование атрибутов компонента или системы, не относящихся к функциональности, например надежность, эффективность, практичность, сопровождаемость и переносимость.  В целом, это тестирование того, как система работает.</a:t>
            </a:r>
            <a:endParaRPr sz="1500">
              <a:solidFill>
                <a:srgbClr val="333333"/>
              </a:solidFill>
            </a:endParaRPr>
          </a:p>
        </p:txBody>
      </p:sp>
      <p:pic>
        <p:nvPicPr>
          <p:cNvPr id="252" name="Google Shape;252;p45"/>
          <p:cNvPicPr preferRelativeResize="0"/>
          <p:nvPr/>
        </p:nvPicPr>
        <p:blipFill>
          <a:blip r:embed="rId3">
            <a:alphaModFix/>
          </a:blip>
          <a:stretch>
            <a:fillRect/>
          </a:stretch>
        </p:blipFill>
        <p:spPr>
          <a:xfrm>
            <a:off x="6354350" y="2705650"/>
            <a:ext cx="2227775" cy="2016725"/>
          </a:xfrm>
          <a:prstGeom prst="rect">
            <a:avLst/>
          </a:prstGeom>
          <a:noFill/>
          <a:ln>
            <a:noFill/>
          </a:ln>
        </p:spPr>
      </p:pic>
      <p:sp>
        <p:nvSpPr>
          <p:cNvPr id="253" name="Google Shape;253;p45"/>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Неф</a:t>
            </a:r>
            <a:r>
              <a:rPr b="1" lang="ru">
                <a:solidFill>
                  <a:srgbClr val="696E71"/>
                </a:solidFill>
                <a:latin typeface="Calibri"/>
                <a:ea typeface="Calibri"/>
                <a:cs typeface="Calibri"/>
                <a:sym typeface="Calibri"/>
              </a:rPr>
              <a:t>ункциональные виды</a:t>
            </a:r>
            <a:endParaRPr b="1">
              <a:solidFill>
                <a:srgbClr val="696E7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7" name="Shape 257"/>
        <p:cNvGrpSpPr/>
        <p:nvPr/>
      </p:nvGrpSpPr>
      <p:grpSpPr>
        <a:xfrm>
          <a:off x="0" y="0"/>
          <a:ext cx="0" cy="0"/>
          <a:chOff x="0" y="0"/>
          <a:chExt cx="0" cy="0"/>
        </a:xfrm>
      </p:grpSpPr>
      <p:sp>
        <p:nvSpPr>
          <p:cNvPr id="258" name="Google Shape;258;p46"/>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500"/>
              <a:t>    </a:t>
            </a:r>
            <a:r>
              <a:rPr b="1" lang="ru" sz="2000"/>
              <a:t>Тестирование производительности</a:t>
            </a:r>
            <a:br>
              <a:rPr lang="ru" sz="2000"/>
            </a:br>
            <a:endParaRPr sz="1600">
              <a:solidFill>
                <a:srgbClr val="333333"/>
              </a:solidFill>
              <a:highlight>
                <a:srgbClr val="FFFFFF"/>
              </a:highlight>
            </a:endParaRPr>
          </a:p>
          <a:p>
            <a:pPr indent="457200" lvl="0" marL="0" rtl="0">
              <a:lnSpc>
                <a:spcPct val="100000"/>
              </a:lnSpc>
              <a:spcBef>
                <a:spcPts val="0"/>
              </a:spcBef>
              <a:spcAft>
                <a:spcPts val="0"/>
              </a:spcAft>
              <a:buNone/>
            </a:pPr>
            <a:r>
              <a:rPr lang="ru" sz="1600">
                <a:solidFill>
                  <a:srgbClr val="333333"/>
                </a:solidFill>
              </a:rPr>
              <a:t>Задачей тестирования производительности ( Performance testing ) является определение масштабируемости приложения под нагрузкой.</a:t>
            </a:r>
            <a:endParaRPr sz="1600">
              <a:solidFill>
                <a:srgbClr val="333333"/>
              </a:solidFill>
            </a:endParaRPr>
          </a:p>
          <a:p>
            <a:pPr indent="0" lvl="0" marL="0" rtl="0">
              <a:lnSpc>
                <a:spcPct val="100000"/>
              </a:lnSpc>
              <a:spcBef>
                <a:spcPts val="1000"/>
              </a:spcBef>
              <a:spcAft>
                <a:spcPts val="0"/>
              </a:spcAft>
              <a:buNone/>
            </a:pPr>
            <a:r>
              <a:rPr b="1" lang="ru" sz="1600">
                <a:solidFill>
                  <a:srgbClr val="333333"/>
                </a:solidFill>
              </a:rPr>
              <a:t>Виды:</a:t>
            </a:r>
            <a:endParaRPr b="1" sz="1600">
              <a:solidFill>
                <a:srgbClr val="333333"/>
              </a:solidFill>
            </a:endParaRPr>
          </a:p>
          <a:p>
            <a:pPr indent="-330200" lvl="0" marL="457200" rtl="0">
              <a:lnSpc>
                <a:spcPct val="100000"/>
              </a:lnSpc>
              <a:spcBef>
                <a:spcPts val="1000"/>
              </a:spcBef>
              <a:spcAft>
                <a:spcPts val="0"/>
              </a:spcAft>
              <a:buClr>
                <a:srgbClr val="333333"/>
              </a:buClr>
              <a:buSzPts val="1600"/>
              <a:buChar char="●"/>
            </a:pPr>
            <a:r>
              <a:rPr lang="ru" sz="1600">
                <a:solidFill>
                  <a:srgbClr val="333333"/>
                </a:solidFill>
              </a:rPr>
              <a:t>Стрессовое тестирование (Stress testing).</a:t>
            </a:r>
            <a:endParaRPr sz="1600">
              <a:solidFill>
                <a:srgbClr val="333333"/>
              </a:solidFill>
            </a:endParaRPr>
          </a:p>
          <a:p>
            <a:pPr indent="-330200" lvl="0" marL="457200" rtl="0">
              <a:lnSpc>
                <a:spcPct val="100000"/>
              </a:lnSpc>
              <a:spcBef>
                <a:spcPts val="0"/>
              </a:spcBef>
              <a:spcAft>
                <a:spcPts val="0"/>
              </a:spcAft>
              <a:buClr>
                <a:srgbClr val="333333"/>
              </a:buClr>
              <a:buSzPts val="1600"/>
              <a:buChar char="●"/>
            </a:pPr>
            <a:r>
              <a:rPr lang="ru" sz="1600">
                <a:solidFill>
                  <a:srgbClr val="333333"/>
                </a:solidFill>
              </a:rPr>
              <a:t>Объемное тестирование (Volume testing).</a:t>
            </a:r>
            <a:endParaRPr sz="1600">
              <a:solidFill>
                <a:srgbClr val="333333"/>
              </a:solidFill>
            </a:endParaRPr>
          </a:p>
          <a:p>
            <a:pPr indent="-330200" lvl="0" marL="457200" rtl="0">
              <a:lnSpc>
                <a:spcPct val="100000"/>
              </a:lnSpc>
              <a:spcBef>
                <a:spcPts val="0"/>
              </a:spcBef>
              <a:spcAft>
                <a:spcPts val="0"/>
              </a:spcAft>
              <a:buClr>
                <a:srgbClr val="333333"/>
              </a:buClr>
              <a:buSzPts val="1600"/>
              <a:buChar char="●"/>
            </a:pPr>
            <a:r>
              <a:rPr lang="ru" sz="1600">
                <a:solidFill>
                  <a:srgbClr val="333333"/>
                </a:solidFill>
              </a:rPr>
              <a:t>Тестирование стабильности или надежности(Stability / Reliability Testing).</a:t>
            </a:r>
            <a:endParaRPr sz="1600">
              <a:solidFill>
                <a:srgbClr val="333333"/>
              </a:solidFill>
            </a:endParaRPr>
          </a:p>
          <a:p>
            <a:pPr indent="-330200" lvl="0" marL="457200" rtl="0">
              <a:lnSpc>
                <a:spcPct val="100000"/>
              </a:lnSpc>
              <a:spcBef>
                <a:spcPts val="0"/>
              </a:spcBef>
              <a:spcAft>
                <a:spcPts val="0"/>
              </a:spcAft>
              <a:buClr>
                <a:srgbClr val="333333"/>
              </a:buClr>
              <a:buSzPts val="1600"/>
              <a:buChar char="●"/>
            </a:pPr>
            <a:r>
              <a:rPr lang="ru" sz="1600">
                <a:solidFill>
                  <a:srgbClr val="333333"/>
                </a:solidFill>
              </a:rPr>
              <a:t>Нагрузочное тестирование (Load).</a:t>
            </a:r>
            <a:endParaRPr sz="1600">
              <a:solidFill>
                <a:srgbClr val="333333"/>
              </a:solidFill>
            </a:endParaRPr>
          </a:p>
        </p:txBody>
      </p:sp>
      <p:sp>
        <p:nvSpPr>
          <p:cNvPr id="259" name="Google Shape;259;p46"/>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Нефункциональные виды</a:t>
            </a:r>
            <a:endParaRPr b="1">
              <a:solidFill>
                <a:srgbClr val="696E7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3" name="Shape 263"/>
        <p:cNvGrpSpPr/>
        <p:nvPr/>
      </p:nvGrpSpPr>
      <p:grpSpPr>
        <a:xfrm>
          <a:off x="0" y="0"/>
          <a:ext cx="0" cy="0"/>
          <a:chOff x="0" y="0"/>
          <a:chExt cx="0" cy="0"/>
        </a:xfrm>
      </p:grpSpPr>
      <p:sp>
        <p:nvSpPr>
          <p:cNvPr id="264" name="Google Shape;264;p47"/>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b="1" lang="ru" sz="2000"/>
              <a:t>Тестирование установки</a:t>
            </a:r>
            <a:br>
              <a:rPr lang="ru" sz="1600"/>
            </a:br>
            <a:endParaRPr sz="1600">
              <a:solidFill>
                <a:srgbClr val="333333"/>
              </a:solidFill>
              <a:highlight>
                <a:srgbClr val="FFFFFF"/>
              </a:highlight>
            </a:endParaRPr>
          </a:p>
          <a:p>
            <a:pPr indent="457200" lvl="0" marL="0" rtl="0">
              <a:lnSpc>
                <a:spcPct val="100000"/>
              </a:lnSpc>
              <a:spcBef>
                <a:spcPts val="0"/>
              </a:spcBef>
              <a:spcAft>
                <a:spcPts val="0"/>
              </a:spcAft>
              <a:buNone/>
            </a:pPr>
            <a:r>
              <a:rPr lang="ru" sz="1600">
                <a:solidFill>
                  <a:srgbClr val="333333"/>
                </a:solidFill>
              </a:rPr>
              <a:t>Тестирование установки (Installation testing) направлено на действия,  которые нужно совершить пользователю для установки и настройки ПО.</a:t>
            </a:r>
            <a:endParaRPr sz="1600">
              <a:solidFill>
                <a:srgbClr val="333333"/>
              </a:solidFill>
            </a:endParaRPr>
          </a:p>
          <a:p>
            <a:pPr indent="457200" lvl="0" marL="0" rtl="0">
              <a:lnSpc>
                <a:spcPct val="100000"/>
              </a:lnSpc>
              <a:spcBef>
                <a:spcPts val="1000"/>
              </a:spcBef>
              <a:spcAft>
                <a:spcPts val="0"/>
              </a:spcAft>
              <a:buNone/>
            </a:pPr>
            <a:r>
              <a:rPr b="1" lang="ru" sz="1600">
                <a:solidFill>
                  <a:srgbClr val="333333"/>
                </a:solidFill>
              </a:rPr>
              <a:t>Может включать в себя:</a:t>
            </a:r>
            <a:endParaRPr sz="1600">
              <a:solidFill>
                <a:srgbClr val="333333"/>
              </a:solidFill>
            </a:endParaRPr>
          </a:p>
          <a:p>
            <a:pPr indent="-330200" lvl="0" marL="457200" rtl="0">
              <a:lnSpc>
                <a:spcPct val="100000"/>
              </a:lnSpc>
              <a:spcBef>
                <a:spcPts val="1000"/>
              </a:spcBef>
              <a:spcAft>
                <a:spcPts val="0"/>
              </a:spcAft>
              <a:buClr>
                <a:srgbClr val="333333"/>
              </a:buClr>
              <a:buSzPts val="1600"/>
              <a:buChar char="●"/>
            </a:pPr>
            <a:r>
              <a:rPr lang="ru" sz="1600">
                <a:solidFill>
                  <a:srgbClr val="333333"/>
                </a:solidFill>
              </a:rPr>
              <a:t>полную или  частичную установку;</a:t>
            </a:r>
            <a:endParaRPr sz="1600">
              <a:solidFill>
                <a:srgbClr val="333333"/>
              </a:solidFill>
            </a:endParaRPr>
          </a:p>
          <a:p>
            <a:pPr indent="-330200" lvl="0" marL="457200" rtl="0">
              <a:lnSpc>
                <a:spcPct val="100000"/>
              </a:lnSpc>
              <a:spcBef>
                <a:spcPts val="0"/>
              </a:spcBef>
              <a:spcAft>
                <a:spcPts val="0"/>
              </a:spcAft>
              <a:buClr>
                <a:srgbClr val="333333"/>
              </a:buClr>
              <a:buSzPts val="1600"/>
              <a:buChar char="●"/>
            </a:pPr>
            <a:r>
              <a:rPr lang="ru" sz="1600">
                <a:solidFill>
                  <a:srgbClr val="333333"/>
                </a:solidFill>
              </a:rPr>
              <a:t>модификацию установки/удаления.</a:t>
            </a:r>
            <a:endParaRPr sz="1500">
              <a:solidFill>
                <a:srgbClr val="333333"/>
              </a:solidFill>
            </a:endParaRPr>
          </a:p>
        </p:txBody>
      </p:sp>
      <p:pic>
        <p:nvPicPr>
          <p:cNvPr id="265" name="Google Shape;265;p47"/>
          <p:cNvPicPr preferRelativeResize="0"/>
          <p:nvPr/>
        </p:nvPicPr>
        <p:blipFill>
          <a:blip r:embed="rId3">
            <a:alphaModFix/>
          </a:blip>
          <a:stretch>
            <a:fillRect/>
          </a:stretch>
        </p:blipFill>
        <p:spPr>
          <a:xfrm>
            <a:off x="4718150" y="1752700"/>
            <a:ext cx="4083350" cy="3211200"/>
          </a:xfrm>
          <a:prstGeom prst="rect">
            <a:avLst/>
          </a:prstGeom>
          <a:noFill/>
          <a:ln>
            <a:noFill/>
          </a:ln>
        </p:spPr>
      </p:pic>
      <p:sp>
        <p:nvSpPr>
          <p:cNvPr id="266" name="Google Shape;266;p47"/>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Нефункциональные виды</a:t>
            </a:r>
            <a:endParaRPr b="1">
              <a:solidFill>
                <a:srgbClr val="696E7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0" name="Shape 270"/>
        <p:cNvGrpSpPr/>
        <p:nvPr/>
      </p:nvGrpSpPr>
      <p:grpSpPr>
        <a:xfrm>
          <a:off x="0" y="0"/>
          <a:ext cx="0" cy="0"/>
          <a:chOff x="0" y="0"/>
          <a:chExt cx="0" cy="0"/>
        </a:xfrm>
      </p:grpSpPr>
      <p:sp>
        <p:nvSpPr>
          <p:cNvPr id="271" name="Google Shape;271;p48"/>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100000"/>
              </a:lnSpc>
              <a:spcBef>
                <a:spcPts val="0"/>
              </a:spcBef>
              <a:spcAft>
                <a:spcPts val="0"/>
              </a:spcAft>
              <a:buNone/>
            </a:pPr>
            <a:r>
              <a:rPr lang="ru" sz="2500"/>
              <a:t>    </a:t>
            </a:r>
            <a:r>
              <a:rPr b="1" lang="ru" sz="2000"/>
              <a:t>Тестирование удобства использования</a:t>
            </a:r>
            <a:br>
              <a:rPr lang="ru" sz="1600"/>
            </a:br>
            <a:endParaRPr sz="1600">
              <a:solidFill>
                <a:srgbClr val="333333"/>
              </a:solidFill>
              <a:highlight>
                <a:srgbClr val="FFFFFF"/>
              </a:highlight>
            </a:endParaRPr>
          </a:p>
          <a:p>
            <a:pPr indent="457200" lvl="0" marL="0" rtl="0">
              <a:lnSpc>
                <a:spcPct val="100000"/>
              </a:lnSpc>
              <a:spcBef>
                <a:spcPts val="0"/>
              </a:spcBef>
              <a:spcAft>
                <a:spcPts val="0"/>
              </a:spcAft>
              <a:buNone/>
            </a:pPr>
            <a:r>
              <a:rPr lang="ru" sz="1600">
                <a:solidFill>
                  <a:srgbClr val="333333"/>
                </a:solidFill>
              </a:rPr>
              <a:t>Тестирование удобства пользования (Usability Testing) - это метод тестирования, направленный на установление степени удобства использования, обучаемости, понятности и привлекательности для пользователей разрабатываемого продукта в контексте заданных условий.</a:t>
            </a:r>
            <a:endParaRPr sz="1600">
              <a:solidFill>
                <a:srgbClr val="333333"/>
              </a:solidFill>
            </a:endParaRPr>
          </a:p>
          <a:p>
            <a:pPr indent="457200" lvl="0" marL="0" rtl="0">
              <a:lnSpc>
                <a:spcPct val="100000"/>
              </a:lnSpc>
              <a:spcBef>
                <a:spcPts val="1000"/>
              </a:spcBef>
              <a:spcAft>
                <a:spcPts val="0"/>
              </a:spcAft>
              <a:buNone/>
            </a:pPr>
            <a:r>
              <a:rPr lang="ru" sz="1600">
                <a:solidFill>
                  <a:srgbClr val="333333"/>
                </a:solidFill>
              </a:rPr>
              <a:t>Тестирование удобства пользования дает оценку уровня удобства использования приложения по следующим пунктам:</a:t>
            </a:r>
            <a:endParaRPr sz="1600">
              <a:solidFill>
                <a:srgbClr val="333333"/>
              </a:solidFill>
            </a:endParaRPr>
          </a:p>
          <a:p>
            <a:pPr indent="-330200" lvl="0" marL="457200" rtl="0">
              <a:lnSpc>
                <a:spcPct val="100000"/>
              </a:lnSpc>
              <a:spcBef>
                <a:spcPts val="1000"/>
              </a:spcBef>
              <a:spcAft>
                <a:spcPts val="0"/>
              </a:spcAft>
              <a:buClr>
                <a:srgbClr val="333333"/>
              </a:buClr>
              <a:buSzPts val="1600"/>
              <a:buChar char="●"/>
            </a:pPr>
            <a:r>
              <a:rPr lang="ru" sz="1600">
                <a:solidFill>
                  <a:srgbClr val="333333"/>
                </a:solidFill>
              </a:rPr>
              <a:t>Производительность, эффективность (efficiency).</a:t>
            </a:r>
            <a:endParaRPr sz="1600">
              <a:solidFill>
                <a:srgbClr val="333333"/>
              </a:solidFill>
            </a:endParaRPr>
          </a:p>
          <a:p>
            <a:pPr indent="-330200" lvl="0" marL="457200" rtl="0">
              <a:lnSpc>
                <a:spcPct val="100000"/>
              </a:lnSpc>
              <a:spcBef>
                <a:spcPts val="0"/>
              </a:spcBef>
              <a:spcAft>
                <a:spcPts val="0"/>
              </a:spcAft>
              <a:buClr>
                <a:srgbClr val="333333"/>
              </a:buClr>
              <a:buSzPts val="1600"/>
              <a:buChar char="●"/>
            </a:pPr>
            <a:r>
              <a:rPr lang="ru" sz="1600">
                <a:solidFill>
                  <a:srgbClr val="333333"/>
                </a:solidFill>
              </a:rPr>
              <a:t>Правильность (accuracy).</a:t>
            </a:r>
            <a:endParaRPr sz="1600">
              <a:solidFill>
                <a:srgbClr val="333333"/>
              </a:solidFill>
            </a:endParaRPr>
          </a:p>
          <a:p>
            <a:pPr indent="-330200" lvl="0" marL="457200" rtl="0">
              <a:lnSpc>
                <a:spcPct val="100000"/>
              </a:lnSpc>
              <a:spcBef>
                <a:spcPts val="0"/>
              </a:spcBef>
              <a:spcAft>
                <a:spcPts val="0"/>
              </a:spcAft>
              <a:buClr>
                <a:srgbClr val="333333"/>
              </a:buClr>
              <a:buSzPts val="1600"/>
              <a:buChar char="●"/>
            </a:pPr>
            <a:r>
              <a:rPr lang="ru" sz="1600">
                <a:solidFill>
                  <a:srgbClr val="333333"/>
                </a:solidFill>
              </a:rPr>
              <a:t>Активизация в памяти (recall).</a:t>
            </a:r>
            <a:endParaRPr sz="1600">
              <a:solidFill>
                <a:srgbClr val="333333"/>
              </a:solidFill>
            </a:endParaRPr>
          </a:p>
          <a:p>
            <a:pPr indent="-330200" lvl="0" marL="457200" rtl="0">
              <a:lnSpc>
                <a:spcPct val="100000"/>
              </a:lnSpc>
              <a:spcBef>
                <a:spcPts val="0"/>
              </a:spcBef>
              <a:spcAft>
                <a:spcPts val="0"/>
              </a:spcAft>
              <a:buClr>
                <a:srgbClr val="333333"/>
              </a:buClr>
              <a:buSzPts val="1600"/>
              <a:buChar char="●"/>
            </a:pPr>
            <a:r>
              <a:rPr lang="ru" sz="1600">
                <a:solidFill>
                  <a:srgbClr val="333333"/>
                </a:solidFill>
              </a:rPr>
              <a:t>Эмоциональная реакция (emotional response).</a:t>
            </a:r>
            <a:endParaRPr sz="1500">
              <a:solidFill>
                <a:srgbClr val="333333"/>
              </a:solidFill>
            </a:endParaRPr>
          </a:p>
        </p:txBody>
      </p:sp>
      <p:sp>
        <p:nvSpPr>
          <p:cNvPr id="272" name="Google Shape;272;p48"/>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Нефункциональные виды</a:t>
            </a:r>
            <a:endParaRPr b="1">
              <a:solidFill>
                <a:srgbClr val="696E7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6" name="Shape 276"/>
        <p:cNvGrpSpPr/>
        <p:nvPr/>
      </p:nvGrpSpPr>
      <p:grpSpPr>
        <a:xfrm>
          <a:off x="0" y="0"/>
          <a:ext cx="0" cy="0"/>
          <a:chOff x="0" y="0"/>
          <a:chExt cx="0" cy="0"/>
        </a:xfrm>
      </p:grpSpPr>
      <p:sp>
        <p:nvSpPr>
          <p:cNvPr id="277" name="Google Shape;277;p49"/>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lang="ru" sz="2500"/>
              <a:t>    </a:t>
            </a:r>
            <a:r>
              <a:rPr b="1" lang="ru" sz="2000"/>
              <a:t>Тестирование на отказ и восстановление</a:t>
            </a:r>
            <a:br>
              <a:rPr lang="ru" sz="2500"/>
            </a:br>
            <a:endParaRPr sz="700">
              <a:solidFill>
                <a:srgbClr val="333333"/>
              </a:solidFill>
              <a:highlight>
                <a:srgbClr val="FFFFFF"/>
              </a:highlight>
            </a:endParaRPr>
          </a:p>
          <a:p>
            <a:pPr indent="457200" lvl="0" marL="0" rtl="0">
              <a:lnSpc>
                <a:spcPct val="100000"/>
              </a:lnSpc>
              <a:spcBef>
                <a:spcPts val="1000"/>
              </a:spcBef>
              <a:spcAft>
                <a:spcPts val="0"/>
              </a:spcAft>
              <a:buNone/>
            </a:pPr>
            <a:r>
              <a:rPr lang="ru" sz="1600">
                <a:solidFill>
                  <a:srgbClr val="333333"/>
                </a:solidFill>
              </a:rPr>
              <a:t>Тестирование на отказ и восстановление (Failover and Recovery Testing) проверяет тестируемый продукт с точки зрения способности противостоять и успешно восстанавливаться после возможных сбоев, возникших в связи с ошибками программного обеспечения, отказами оборудования или проблемами связи (например, отказ сети).</a:t>
            </a:r>
            <a:endParaRPr sz="1600">
              <a:solidFill>
                <a:srgbClr val="333333"/>
              </a:solidFill>
            </a:endParaRPr>
          </a:p>
          <a:p>
            <a:pPr indent="457200" lvl="0" marL="0" rtl="0">
              <a:lnSpc>
                <a:spcPct val="100000"/>
              </a:lnSpc>
              <a:spcBef>
                <a:spcPts val="1000"/>
              </a:spcBef>
              <a:spcAft>
                <a:spcPts val="0"/>
              </a:spcAft>
              <a:buNone/>
            </a:pPr>
            <a:r>
              <a:rPr lang="ru" sz="1600">
                <a:solidFill>
                  <a:srgbClr val="333333"/>
                </a:solidFill>
              </a:rPr>
              <a:t>Целью данного вида тестирования является проверка систем восстановления (или дублирующих основной функционал систем), которые, в случае возникновения сбоев, обеспечат сохранность и целостность данных тестируемого продукта. </a:t>
            </a:r>
            <a:endParaRPr sz="16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br>
              <a:rPr lang="ru" sz="1500">
                <a:solidFill>
                  <a:srgbClr val="333333"/>
                </a:solidFill>
              </a:rPr>
            </a:br>
            <a:endParaRPr sz="1500">
              <a:solidFill>
                <a:srgbClr val="333333"/>
              </a:solidFill>
            </a:endParaRPr>
          </a:p>
          <a:p>
            <a:pPr indent="0" lvl="0" marL="0" rtl="0">
              <a:lnSpc>
                <a:spcPct val="115000"/>
              </a:lnSpc>
              <a:spcBef>
                <a:spcPts val="1000"/>
              </a:spcBef>
              <a:spcAft>
                <a:spcPts val="1000"/>
              </a:spcAft>
              <a:buNone/>
            </a:pPr>
            <a:r>
              <a:t/>
            </a:r>
            <a:endParaRPr sz="1500">
              <a:solidFill>
                <a:srgbClr val="333333"/>
              </a:solidFill>
            </a:endParaRPr>
          </a:p>
        </p:txBody>
      </p:sp>
      <p:sp>
        <p:nvSpPr>
          <p:cNvPr id="278" name="Google Shape;278;p49"/>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Нефункциональные виды</a:t>
            </a:r>
            <a:endParaRPr b="1">
              <a:solidFill>
                <a:srgbClr val="696E7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2" name="Shape 282"/>
        <p:cNvGrpSpPr/>
        <p:nvPr/>
      </p:nvGrpSpPr>
      <p:grpSpPr>
        <a:xfrm>
          <a:off x="0" y="0"/>
          <a:ext cx="0" cy="0"/>
          <a:chOff x="0" y="0"/>
          <a:chExt cx="0" cy="0"/>
        </a:xfrm>
      </p:grpSpPr>
      <p:sp>
        <p:nvSpPr>
          <p:cNvPr id="283" name="Google Shape;283;p50"/>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b="1" lang="ru" sz="2000"/>
              <a:t>Конфигурационное тестирование</a:t>
            </a:r>
            <a:br>
              <a:rPr lang="ru" sz="1600"/>
            </a:br>
            <a:endParaRPr sz="1600">
              <a:solidFill>
                <a:srgbClr val="333333"/>
              </a:solidFill>
              <a:highlight>
                <a:srgbClr val="FFFFFF"/>
              </a:highlight>
            </a:endParaRPr>
          </a:p>
          <a:p>
            <a:pPr indent="457200" lvl="0" marL="0" rtl="0">
              <a:lnSpc>
                <a:spcPct val="115000"/>
              </a:lnSpc>
              <a:spcBef>
                <a:spcPts val="0"/>
              </a:spcBef>
              <a:spcAft>
                <a:spcPts val="0"/>
              </a:spcAft>
              <a:buNone/>
            </a:pPr>
            <a:r>
              <a:rPr b="1" lang="ru" sz="1600">
                <a:solidFill>
                  <a:srgbClr val="333333"/>
                </a:solidFill>
              </a:rPr>
              <a:t>Конфигурационное тестирование</a:t>
            </a:r>
            <a:r>
              <a:rPr lang="ru" sz="1600">
                <a:solidFill>
                  <a:srgbClr val="333333"/>
                </a:solidFill>
              </a:rPr>
              <a:t>(Configuration Testing) — специальный вид тестирования, направленный на проверку работы программного обеспечения при различных конфигурациях системы (заявленных платформах, поддерживаемых драйверах, при различных конфигурациях компьютеров и т.д.)</a:t>
            </a:r>
            <a:endParaRPr sz="1600">
              <a:solidFill>
                <a:srgbClr val="333333"/>
              </a:solidFill>
            </a:endParaRPr>
          </a:p>
          <a:p>
            <a:pPr indent="457200" lvl="0" marL="0" rtl="0">
              <a:lnSpc>
                <a:spcPct val="115000"/>
              </a:lnSpc>
              <a:spcBef>
                <a:spcPts val="1000"/>
              </a:spcBef>
              <a:spcAft>
                <a:spcPts val="0"/>
              </a:spcAft>
              <a:buNone/>
            </a:pPr>
            <a:r>
              <a:rPr lang="ru" sz="1600">
                <a:solidFill>
                  <a:srgbClr val="333333"/>
                </a:solidFill>
              </a:rPr>
              <a:t>В зависимости от типа проекта конфигурационное тестирование может иметь разные цели:</a:t>
            </a:r>
            <a:endParaRPr sz="1600">
              <a:solidFill>
                <a:srgbClr val="333333"/>
              </a:solidFill>
            </a:endParaRPr>
          </a:p>
          <a:p>
            <a:pPr indent="-330200" lvl="0" marL="457200" rtl="0">
              <a:lnSpc>
                <a:spcPct val="115000"/>
              </a:lnSpc>
              <a:spcBef>
                <a:spcPts val="1000"/>
              </a:spcBef>
              <a:spcAft>
                <a:spcPts val="0"/>
              </a:spcAft>
              <a:buClr>
                <a:srgbClr val="333333"/>
              </a:buClr>
              <a:buSzPts val="1600"/>
              <a:buChar char="●"/>
            </a:pPr>
            <a:r>
              <a:rPr lang="ru" sz="1600">
                <a:solidFill>
                  <a:srgbClr val="333333"/>
                </a:solidFill>
              </a:rPr>
              <a:t>Проект по профилированию работы системы.</a:t>
            </a:r>
            <a:endParaRPr sz="1600">
              <a:solidFill>
                <a:srgbClr val="333333"/>
              </a:solidFill>
            </a:endParaRPr>
          </a:p>
          <a:p>
            <a:pPr indent="-330200" lvl="0" marL="457200" rtl="0">
              <a:lnSpc>
                <a:spcPct val="115000"/>
              </a:lnSpc>
              <a:spcBef>
                <a:spcPts val="0"/>
              </a:spcBef>
              <a:spcAft>
                <a:spcPts val="0"/>
              </a:spcAft>
              <a:buClr>
                <a:srgbClr val="333333"/>
              </a:buClr>
              <a:buSzPts val="1600"/>
              <a:buChar char="●"/>
            </a:pPr>
            <a:r>
              <a:rPr lang="ru" sz="1600">
                <a:solidFill>
                  <a:srgbClr val="333333"/>
                </a:solidFill>
              </a:rPr>
              <a:t>Проект по миграции системы с одной платформы на другую.</a:t>
            </a:r>
            <a:endParaRPr sz="1600">
              <a:solidFill>
                <a:srgbClr val="333333"/>
              </a:solidFill>
            </a:endParaRPr>
          </a:p>
          <a:p>
            <a:pPr indent="457200" lvl="0" marL="0" rtl="0">
              <a:lnSpc>
                <a:spcPct val="115000"/>
              </a:lnSpc>
              <a:spcBef>
                <a:spcPts val="1000"/>
              </a:spcBef>
              <a:spcAft>
                <a:spcPts val="0"/>
              </a:spcAft>
              <a:buNone/>
            </a:pPr>
            <a:r>
              <a:rPr b="1" lang="ru" sz="1600">
                <a:solidFill>
                  <a:srgbClr val="333333"/>
                </a:solidFill>
              </a:rPr>
              <a:t>Примечание: </a:t>
            </a:r>
            <a:r>
              <a:rPr lang="ru" sz="1600">
                <a:solidFill>
                  <a:srgbClr val="333333"/>
                </a:solidFill>
              </a:rPr>
              <a:t>В ISTQB Syllabus вообще не говорится о таком виде тестирования, как конфигурационное. Согласно глоссарию, данный вид тестирования рассматривается там как тестирование портируемости(portability testing: The process of testing to determine the portability of a software product.).</a:t>
            </a:r>
            <a:endParaRPr sz="15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br>
              <a:rPr lang="ru" sz="1500">
                <a:solidFill>
                  <a:srgbClr val="333333"/>
                </a:solidFill>
              </a:rPr>
            </a:br>
            <a:endParaRPr sz="1500">
              <a:solidFill>
                <a:srgbClr val="333333"/>
              </a:solidFill>
            </a:endParaRPr>
          </a:p>
          <a:p>
            <a:pPr indent="0" lvl="0" marL="0" rtl="0">
              <a:lnSpc>
                <a:spcPct val="115000"/>
              </a:lnSpc>
              <a:spcBef>
                <a:spcPts val="1000"/>
              </a:spcBef>
              <a:spcAft>
                <a:spcPts val="1000"/>
              </a:spcAft>
              <a:buNone/>
            </a:pPr>
            <a:r>
              <a:t/>
            </a:r>
            <a:endParaRPr sz="1500">
              <a:solidFill>
                <a:srgbClr val="333333"/>
              </a:solidFill>
            </a:endParaRPr>
          </a:p>
        </p:txBody>
      </p:sp>
      <p:sp>
        <p:nvSpPr>
          <p:cNvPr id="284" name="Google Shape;284;p50"/>
          <p:cNvSpPr/>
          <p:nvPr/>
        </p:nvSpPr>
        <p:spPr>
          <a:xfrm>
            <a:off x="-2000" y="116875"/>
            <a:ext cx="2648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Нефункциональные виды</a:t>
            </a:r>
            <a:endParaRPr b="1">
              <a:solidFill>
                <a:srgbClr val="696E7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8" name="Shape 288"/>
        <p:cNvGrpSpPr/>
        <p:nvPr/>
      </p:nvGrpSpPr>
      <p:grpSpPr>
        <a:xfrm>
          <a:off x="0" y="0"/>
          <a:ext cx="0" cy="0"/>
          <a:chOff x="0" y="0"/>
          <a:chExt cx="0" cy="0"/>
        </a:xfrm>
      </p:grpSpPr>
      <p:sp>
        <p:nvSpPr>
          <p:cNvPr id="289" name="Google Shape;289;p51"/>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b="1" lang="ru" sz="2000"/>
              <a:t>Связанные с изменениями виды тестирования</a:t>
            </a:r>
            <a:br>
              <a:rPr lang="ru" sz="1600"/>
            </a:br>
            <a:endParaRPr sz="1600">
              <a:solidFill>
                <a:srgbClr val="333333"/>
              </a:solidFill>
            </a:endParaRPr>
          </a:p>
          <a:p>
            <a:pPr indent="457200" lvl="0" marL="0" rtl="0">
              <a:lnSpc>
                <a:spcPct val="115000"/>
              </a:lnSpc>
              <a:spcBef>
                <a:spcPts val="0"/>
              </a:spcBef>
              <a:spcAft>
                <a:spcPts val="1000"/>
              </a:spcAft>
              <a:buNone/>
            </a:pPr>
            <a:r>
              <a:rPr lang="ru" sz="1600">
                <a:solidFill>
                  <a:srgbClr val="333333"/>
                </a:solidFill>
              </a:rPr>
              <a:t>После проведения необходимых изменений, таких как исправление багов/дефектов, программное обеспечение должно быть перетестировано для подтверждения того факта, что проблема была действительно решена. Ниже перечислены виды тестирования, которые необходимо проводить после установки программного обеспечения, для подтверждения работоспособности приложения или правильности осуществленного исправления дефекта.</a:t>
            </a:r>
            <a:endParaRPr sz="1500">
              <a:solidFill>
                <a:srgbClr val="333333"/>
              </a:solidFill>
            </a:endParaRPr>
          </a:p>
        </p:txBody>
      </p:sp>
      <p:pic>
        <p:nvPicPr>
          <p:cNvPr id="290" name="Google Shape;290;p51"/>
          <p:cNvPicPr preferRelativeResize="0"/>
          <p:nvPr/>
        </p:nvPicPr>
        <p:blipFill>
          <a:blip r:embed="rId3">
            <a:alphaModFix/>
          </a:blip>
          <a:stretch>
            <a:fillRect/>
          </a:stretch>
        </p:blipFill>
        <p:spPr>
          <a:xfrm>
            <a:off x="2567175" y="2571746"/>
            <a:ext cx="4925499" cy="2410225"/>
          </a:xfrm>
          <a:prstGeom prst="rect">
            <a:avLst/>
          </a:prstGeom>
          <a:noFill/>
          <a:ln>
            <a:noFill/>
          </a:ln>
        </p:spPr>
      </p:pic>
      <p:sp>
        <p:nvSpPr>
          <p:cNvPr id="291" name="Google Shape;291;p51"/>
          <p:cNvSpPr/>
          <p:nvPr/>
        </p:nvSpPr>
        <p:spPr>
          <a:xfrm>
            <a:off x="-2000" y="116875"/>
            <a:ext cx="3302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В</a:t>
            </a:r>
            <a:r>
              <a:rPr b="1" lang="ru">
                <a:solidFill>
                  <a:srgbClr val="696E71"/>
                </a:solidFill>
                <a:latin typeface="Calibri"/>
                <a:ea typeface="Calibri"/>
                <a:cs typeface="Calibri"/>
                <a:sym typeface="Calibri"/>
              </a:rPr>
              <a:t>иды связанные с изменениями</a:t>
            </a:r>
            <a:endParaRPr b="1">
              <a:solidFill>
                <a:srgbClr val="696E7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5" name="Shape 295"/>
        <p:cNvGrpSpPr/>
        <p:nvPr/>
      </p:nvGrpSpPr>
      <p:grpSpPr>
        <a:xfrm>
          <a:off x="0" y="0"/>
          <a:ext cx="0" cy="0"/>
          <a:chOff x="0" y="0"/>
          <a:chExt cx="0" cy="0"/>
        </a:xfrm>
      </p:grpSpPr>
      <p:sp>
        <p:nvSpPr>
          <p:cNvPr id="296" name="Google Shape;296;p52"/>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b="1" lang="ru" sz="2000"/>
              <a:t>Дымовое тестирование</a:t>
            </a:r>
            <a:br>
              <a:rPr lang="ru" sz="2500"/>
            </a:br>
            <a:endParaRPr sz="1600">
              <a:solidFill>
                <a:srgbClr val="333333"/>
              </a:solidFill>
            </a:endParaRPr>
          </a:p>
          <a:p>
            <a:pPr indent="457200" lvl="0" marL="0" rtl="0">
              <a:lnSpc>
                <a:spcPct val="115000"/>
              </a:lnSpc>
              <a:spcBef>
                <a:spcPts val="0"/>
              </a:spcBef>
              <a:spcAft>
                <a:spcPts val="0"/>
              </a:spcAft>
              <a:buNone/>
            </a:pPr>
            <a:r>
              <a:rPr b="1" lang="ru" sz="1600"/>
              <a:t>Smoke testing</a:t>
            </a:r>
            <a:r>
              <a:rPr lang="ru" sz="1600"/>
              <a:t> это </a:t>
            </a:r>
            <a:r>
              <a:rPr lang="ru" sz="1600">
                <a:solidFill>
                  <a:srgbClr val="333333"/>
                </a:solidFill>
              </a:rPr>
              <a:t>выборка из общего числа запланированных тестовых сценариев, покрывающая основную функциональность компонента или системы. Проводится с целью удостовериться, что базовые функции программы в целом работают корректно, без углубления в детали.</a:t>
            </a:r>
            <a:endParaRPr sz="1600">
              <a:solidFill>
                <a:srgbClr val="333333"/>
              </a:solidFill>
            </a:endParaRPr>
          </a:p>
          <a:p>
            <a:pPr indent="457200" lvl="0" marL="0" rtl="0">
              <a:lnSpc>
                <a:spcPct val="115000"/>
              </a:lnSpc>
              <a:spcBef>
                <a:spcPts val="1000"/>
              </a:spcBef>
              <a:spcAft>
                <a:spcPts val="0"/>
              </a:spcAft>
              <a:buNone/>
            </a:pPr>
            <a:r>
              <a:rPr lang="ru" sz="1600">
                <a:solidFill>
                  <a:srgbClr val="333333"/>
                </a:solidFill>
              </a:rPr>
              <a:t>Аналогами дымового тестирования являются Build Verification Testing и Acceptance Testing, выполняемые на функциональном уровне командой тестирования, по результатам которых делается вывод о том, принимается или нет установленная версия программного обеспечения в тестирование, эксплуатацию или на поставку заказчику.</a:t>
            </a:r>
            <a:endParaRPr sz="1600">
              <a:solidFill>
                <a:srgbClr val="333333"/>
              </a:solidFill>
            </a:endParaRPr>
          </a:p>
          <a:p>
            <a:pPr indent="457200" lvl="0" marL="0" rtl="0">
              <a:lnSpc>
                <a:spcPct val="115000"/>
              </a:lnSpc>
              <a:spcBef>
                <a:spcPts val="1000"/>
              </a:spcBef>
              <a:spcAft>
                <a:spcPts val="0"/>
              </a:spcAft>
              <a:buNone/>
            </a:pPr>
            <a:r>
              <a:rPr lang="ru" sz="1600">
                <a:solidFill>
                  <a:srgbClr val="333333"/>
                </a:solidFill>
              </a:rPr>
              <a:t>Для облегчения работы, экономии времени и людских ресурсов рекомендуется внедрить автоматизацию тестовых сценариев для дымового тестирования.</a:t>
            </a:r>
            <a:endParaRPr sz="16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br>
              <a:rPr lang="ru" sz="1500">
                <a:solidFill>
                  <a:srgbClr val="333333"/>
                </a:solidFill>
              </a:rPr>
            </a:br>
            <a:endParaRPr sz="1500">
              <a:solidFill>
                <a:srgbClr val="333333"/>
              </a:solidFill>
            </a:endParaRPr>
          </a:p>
          <a:p>
            <a:pPr indent="0" lvl="0" marL="0" rtl="0">
              <a:lnSpc>
                <a:spcPct val="115000"/>
              </a:lnSpc>
              <a:spcBef>
                <a:spcPts val="1000"/>
              </a:spcBef>
              <a:spcAft>
                <a:spcPts val="1000"/>
              </a:spcAft>
              <a:buNone/>
            </a:pPr>
            <a:r>
              <a:t/>
            </a:r>
            <a:endParaRPr sz="1500">
              <a:solidFill>
                <a:srgbClr val="333333"/>
              </a:solidFill>
            </a:endParaRPr>
          </a:p>
        </p:txBody>
      </p:sp>
      <p:sp>
        <p:nvSpPr>
          <p:cNvPr id="297" name="Google Shape;297;p52"/>
          <p:cNvSpPr/>
          <p:nvPr/>
        </p:nvSpPr>
        <p:spPr>
          <a:xfrm>
            <a:off x="-2000" y="116875"/>
            <a:ext cx="3302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Виды связанные с изменениями</a:t>
            </a:r>
            <a:endParaRPr b="1">
              <a:solidFill>
                <a:srgbClr val="696E7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1" name="Shape 301"/>
        <p:cNvGrpSpPr/>
        <p:nvPr/>
      </p:nvGrpSpPr>
      <p:grpSpPr>
        <a:xfrm>
          <a:off x="0" y="0"/>
          <a:ext cx="0" cy="0"/>
          <a:chOff x="0" y="0"/>
          <a:chExt cx="0" cy="0"/>
        </a:xfrm>
      </p:grpSpPr>
      <p:sp>
        <p:nvSpPr>
          <p:cNvPr id="302" name="Google Shape;302;p53"/>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lang="ru" sz="2500"/>
              <a:t>    </a:t>
            </a:r>
            <a:r>
              <a:rPr b="1" lang="ru" sz="2000"/>
              <a:t>Санитарное тестирование или проверка согласованности/исправности</a:t>
            </a:r>
            <a:br>
              <a:rPr lang="ru" sz="1600"/>
            </a:br>
            <a:endParaRPr sz="1600">
              <a:solidFill>
                <a:srgbClr val="333333"/>
              </a:solidFill>
            </a:endParaRPr>
          </a:p>
          <a:p>
            <a:pPr indent="457200" lvl="0" marL="0" rtl="0">
              <a:lnSpc>
                <a:spcPct val="115000"/>
              </a:lnSpc>
              <a:spcBef>
                <a:spcPts val="0"/>
              </a:spcBef>
              <a:spcAft>
                <a:spcPts val="0"/>
              </a:spcAft>
              <a:buNone/>
            </a:pPr>
            <a:r>
              <a:rPr b="1" lang="ru" sz="1600">
                <a:solidFill>
                  <a:srgbClr val="000000"/>
                </a:solidFill>
              </a:rPr>
              <a:t>Санитарное тестирование</a:t>
            </a:r>
            <a:r>
              <a:rPr lang="ru" sz="1600">
                <a:solidFill>
                  <a:srgbClr val="000000"/>
                </a:solidFill>
              </a:rPr>
              <a:t> (Sanity Testing) - это узконаправленное тестирование, </a:t>
            </a:r>
            <a:br>
              <a:rPr lang="ru" sz="1600">
                <a:solidFill>
                  <a:srgbClr val="000000"/>
                </a:solidFill>
              </a:rPr>
            </a:br>
            <a:r>
              <a:rPr lang="ru" sz="1600">
                <a:solidFill>
                  <a:srgbClr val="000000"/>
                </a:solidFill>
              </a:rPr>
              <a:t>достаточное для доказательства того, что конкретная функция работает согласно заявленным </a:t>
            </a:r>
            <a:br>
              <a:rPr lang="ru" sz="1600">
                <a:solidFill>
                  <a:srgbClr val="000000"/>
                </a:solidFill>
              </a:rPr>
            </a:br>
            <a:r>
              <a:rPr lang="ru" sz="1600">
                <a:solidFill>
                  <a:srgbClr val="000000"/>
                </a:solidFill>
              </a:rPr>
              <a:t>в спецификации требованиям. </a:t>
            </a:r>
            <a:br>
              <a:rPr lang="ru" sz="1600">
                <a:solidFill>
                  <a:srgbClr val="000000"/>
                </a:solidFill>
              </a:rPr>
            </a:br>
            <a:r>
              <a:rPr lang="ru" sz="1600">
                <a:solidFill>
                  <a:srgbClr val="000000"/>
                </a:solidFill>
              </a:rPr>
              <a:t>Является подмножеством регрессионного тестирования. Используется для определения работоспособности определенной части приложения после изменений произведенных</a:t>
            </a:r>
            <a:br>
              <a:rPr lang="ru" sz="1600">
                <a:solidFill>
                  <a:srgbClr val="000000"/>
                </a:solidFill>
              </a:rPr>
            </a:br>
            <a:r>
              <a:rPr lang="ru" sz="1600">
                <a:solidFill>
                  <a:srgbClr val="000000"/>
                </a:solidFill>
              </a:rPr>
              <a:t>в ней или окружающей среде. Обычно выполняется вручную.</a:t>
            </a:r>
            <a:endParaRPr sz="1600">
              <a:solidFill>
                <a:srgbClr val="000000"/>
              </a:solidFill>
            </a:endParaRPr>
          </a:p>
          <a:p>
            <a:pPr indent="457200" lvl="0" marL="0" rtl="0">
              <a:lnSpc>
                <a:spcPct val="115000"/>
              </a:lnSpc>
              <a:spcBef>
                <a:spcPts val="1000"/>
              </a:spcBef>
              <a:spcAft>
                <a:spcPts val="0"/>
              </a:spcAft>
              <a:buNone/>
            </a:pPr>
            <a:r>
              <a:rPr b="1" lang="ru" sz="1600">
                <a:solidFill>
                  <a:srgbClr val="000000"/>
                </a:solidFill>
              </a:rPr>
              <a:t>Различие между дымовым и санитарным тестированием</a:t>
            </a:r>
            <a:endParaRPr b="1" sz="1600">
              <a:solidFill>
                <a:srgbClr val="000000"/>
              </a:solidFill>
            </a:endParaRPr>
          </a:p>
          <a:p>
            <a:pPr indent="457200" lvl="0" marL="0" rtl="0">
              <a:lnSpc>
                <a:spcPct val="115000"/>
              </a:lnSpc>
              <a:spcBef>
                <a:spcPts val="0"/>
              </a:spcBef>
              <a:spcAft>
                <a:spcPts val="0"/>
              </a:spcAft>
              <a:buClr>
                <a:schemeClr val="dk1"/>
              </a:buClr>
              <a:buSzPts val="1100"/>
              <a:buFont typeface="Arial"/>
              <a:buNone/>
            </a:pPr>
            <a:r>
              <a:rPr lang="ru" sz="1600">
                <a:solidFill>
                  <a:srgbClr val="000000"/>
                </a:solidFill>
              </a:rPr>
              <a:t>Эти виды тестирования имеют "Вектора движения", направления в разные стороны. Санитарное тестирование (</a:t>
            </a:r>
            <a:r>
              <a:rPr b="1" lang="ru" sz="1600">
                <a:solidFill>
                  <a:srgbClr val="000000"/>
                </a:solidFill>
              </a:rPr>
              <a:t>Sanity testing</a:t>
            </a:r>
            <a:r>
              <a:rPr lang="ru" sz="1600">
                <a:solidFill>
                  <a:srgbClr val="000000"/>
                </a:solidFill>
              </a:rPr>
              <a:t>) направлено </a:t>
            </a:r>
            <a:r>
              <a:rPr b="1" lang="ru" sz="1600">
                <a:solidFill>
                  <a:srgbClr val="000000"/>
                </a:solidFill>
              </a:rPr>
              <a:t>вглубь</a:t>
            </a:r>
            <a:r>
              <a:rPr lang="ru" sz="1600">
                <a:solidFill>
                  <a:srgbClr val="000000"/>
                </a:solidFill>
              </a:rPr>
              <a:t> проверяемой функции, в то время как дымовое (</a:t>
            </a:r>
            <a:r>
              <a:rPr b="1" lang="ru" sz="1600">
                <a:solidFill>
                  <a:srgbClr val="000000"/>
                </a:solidFill>
              </a:rPr>
              <a:t>Smoke testing</a:t>
            </a:r>
            <a:r>
              <a:rPr lang="ru" sz="1600">
                <a:solidFill>
                  <a:srgbClr val="000000"/>
                </a:solidFill>
              </a:rPr>
              <a:t>) направлено </a:t>
            </a:r>
            <a:r>
              <a:rPr b="1" lang="ru" sz="1600">
                <a:solidFill>
                  <a:srgbClr val="000000"/>
                </a:solidFill>
              </a:rPr>
              <a:t>вширь</a:t>
            </a:r>
            <a:r>
              <a:rPr lang="ru" sz="1600">
                <a:solidFill>
                  <a:srgbClr val="000000"/>
                </a:solidFill>
              </a:rPr>
              <a:t>, для покрытия тестами как можно большего функционала в кратчайшие сроки.</a:t>
            </a:r>
            <a:endParaRPr b="1" sz="1600">
              <a:solidFill>
                <a:srgbClr val="000000"/>
              </a:solidFill>
            </a:endParaRPr>
          </a:p>
        </p:txBody>
      </p:sp>
      <p:sp>
        <p:nvSpPr>
          <p:cNvPr id="303" name="Google Shape;303;p53"/>
          <p:cNvSpPr/>
          <p:nvPr/>
        </p:nvSpPr>
        <p:spPr>
          <a:xfrm>
            <a:off x="-2000" y="116875"/>
            <a:ext cx="3302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Виды связанные с изменениями</a:t>
            </a:r>
            <a:endParaRPr b="1">
              <a:solidFill>
                <a:srgbClr val="696E7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7" name="Shape 307"/>
        <p:cNvGrpSpPr/>
        <p:nvPr/>
      </p:nvGrpSpPr>
      <p:grpSpPr>
        <a:xfrm>
          <a:off x="0" y="0"/>
          <a:ext cx="0" cy="0"/>
          <a:chOff x="0" y="0"/>
          <a:chExt cx="0" cy="0"/>
        </a:xfrm>
      </p:grpSpPr>
      <p:sp>
        <p:nvSpPr>
          <p:cNvPr id="308" name="Google Shape;308;p54"/>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b="1" lang="ru" sz="2000"/>
              <a:t>Регрессионное тестирование</a:t>
            </a:r>
            <a:br>
              <a:rPr lang="ru" sz="1600"/>
            </a:br>
            <a:endParaRPr sz="1600">
              <a:solidFill>
                <a:srgbClr val="333333"/>
              </a:solidFill>
            </a:endParaRPr>
          </a:p>
          <a:p>
            <a:pPr indent="457200" lvl="0" marL="0" rtl="0">
              <a:lnSpc>
                <a:spcPct val="115000"/>
              </a:lnSpc>
              <a:spcBef>
                <a:spcPts val="0"/>
              </a:spcBef>
              <a:spcAft>
                <a:spcPts val="0"/>
              </a:spcAft>
              <a:buNone/>
            </a:pPr>
            <a:r>
              <a:rPr b="1" lang="ru" sz="1600">
                <a:solidFill>
                  <a:srgbClr val="333333"/>
                </a:solidFill>
              </a:rPr>
              <a:t>Регрессионное тестирование</a:t>
            </a:r>
            <a:r>
              <a:rPr lang="ru" sz="1600">
                <a:solidFill>
                  <a:srgbClr val="333333"/>
                </a:solidFill>
              </a:rPr>
              <a:t> (Regression Testing) - это вид тестирования, направленный на проверку изменений, сделанных в приложении или окружающей среде (починка дефекта, слияние кода, миграция на другую операционную систему, базу данных, веб-сервер или сервер приложения), для подтверждения того факта, что существующая ранее функциональность работает как и прежде. Регрессионными могут быть как функциональные, так и нефункциональные тесты.</a:t>
            </a:r>
            <a:endParaRPr sz="1600">
              <a:solidFill>
                <a:srgbClr val="333333"/>
              </a:solidFill>
            </a:endParaRPr>
          </a:p>
          <a:p>
            <a:pPr indent="457200" lvl="0" marL="0" rtl="0">
              <a:lnSpc>
                <a:spcPct val="115000"/>
              </a:lnSpc>
              <a:spcBef>
                <a:spcPts val="1000"/>
              </a:spcBef>
              <a:spcAft>
                <a:spcPts val="0"/>
              </a:spcAft>
              <a:buNone/>
            </a:pPr>
            <a:r>
              <a:rPr lang="ru" sz="1600">
                <a:solidFill>
                  <a:srgbClr val="333333"/>
                </a:solidFill>
              </a:rPr>
              <a:t>Сам по себе термин "регрессионное тестирование", в зависимости от контекста использования, может иметь разный смысл. Сэм Канер, к примеру, описал 3 основных типа регрессионного тестирования:</a:t>
            </a:r>
            <a:endParaRPr sz="1600">
              <a:solidFill>
                <a:srgbClr val="333333"/>
              </a:solidFill>
            </a:endParaRPr>
          </a:p>
          <a:p>
            <a:pPr indent="-330200" lvl="0" marL="457200" rtl="0">
              <a:lnSpc>
                <a:spcPct val="115000"/>
              </a:lnSpc>
              <a:spcBef>
                <a:spcPts val="1000"/>
              </a:spcBef>
              <a:spcAft>
                <a:spcPts val="0"/>
              </a:spcAft>
              <a:buClr>
                <a:srgbClr val="333333"/>
              </a:buClr>
              <a:buSzPts val="1600"/>
              <a:buChar char="●"/>
            </a:pPr>
            <a:r>
              <a:rPr lang="ru" sz="1600">
                <a:solidFill>
                  <a:srgbClr val="333333"/>
                </a:solidFill>
              </a:rPr>
              <a:t>Регрессия багов (Bug regression).</a:t>
            </a:r>
            <a:endParaRPr sz="1600">
              <a:solidFill>
                <a:srgbClr val="333333"/>
              </a:solidFill>
            </a:endParaRPr>
          </a:p>
          <a:p>
            <a:pPr indent="-330200" lvl="0" marL="457200" rtl="0">
              <a:lnSpc>
                <a:spcPct val="115000"/>
              </a:lnSpc>
              <a:spcBef>
                <a:spcPts val="0"/>
              </a:spcBef>
              <a:spcAft>
                <a:spcPts val="0"/>
              </a:spcAft>
              <a:buClr>
                <a:srgbClr val="333333"/>
              </a:buClr>
              <a:buSzPts val="1600"/>
              <a:buChar char="●"/>
            </a:pPr>
            <a:r>
              <a:rPr lang="ru" sz="1600">
                <a:solidFill>
                  <a:srgbClr val="333333"/>
                </a:solidFill>
              </a:rPr>
              <a:t>Регрессия старых багов (Old bugs regression).</a:t>
            </a:r>
            <a:endParaRPr sz="1600">
              <a:solidFill>
                <a:srgbClr val="333333"/>
              </a:solidFill>
            </a:endParaRPr>
          </a:p>
          <a:p>
            <a:pPr indent="-330200" lvl="0" marL="457200" rtl="0">
              <a:lnSpc>
                <a:spcPct val="115000"/>
              </a:lnSpc>
              <a:spcBef>
                <a:spcPts val="0"/>
              </a:spcBef>
              <a:spcAft>
                <a:spcPts val="0"/>
              </a:spcAft>
              <a:buClr>
                <a:srgbClr val="333333"/>
              </a:buClr>
              <a:buSzPts val="1600"/>
              <a:buChar char="●"/>
            </a:pPr>
            <a:r>
              <a:rPr lang="ru" sz="1600">
                <a:solidFill>
                  <a:srgbClr val="333333"/>
                </a:solidFill>
              </a:rPr>
              <a:t>Регрессия побочного эффекта (Side effect regression).</a:t>
            </a:r>
            <a:endParaRPr sz="15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r>
              <a:t/>
            </a:r>
            <a:endParaRPr sz="1500">
              <a:solidFill>
                <a:srgbClr val="333333"/>
              </a:solidFill>
            </a:endParaRPr>
          </a:p>
          <a:p>
            <a:pPr indent="0" lvl="0" marL="0" rtl="0">
              <a:lnSpc>
                <a:spcPct val="115000"/>
              </a:lnSpc>
              <a:spcBef>
                <a:spcPts val="1000"/>
              </a:spcBef>
              <a:spcAft>
                <a:spcPts val="0"/>
              </a:spcAft>
              <a:buNone/>
            </a:pPr>
            <a:br>
              <a:rPr lang="ru" sz="1500">
                <a:solidFill>
                  <a:srgbClr val="333333"/>
                </a:solidFill>
              </a:rPr>
            </a:br>
            <a:endParaRPr sz="1500">
              <a:solidFill>
                <a:srgbClr val="333333"/>
              </a:solidFill>
            </a:endParaRPr>
          </a:p>
          <a:p>
            <a:pPr indent="0" lvl="0" marL="0" rtl="0">
              <a:lnSpc>
                <a:spcPct val="115000"/>
              </a:lnSpc>
              <a:spcBef>
                <a:spcPts val="1000"/>
              </a:spcBef>
              <a:spcAft>
                <a:spcPts val="1000"/>
              </a:spcAft>
              <a:buNone/>
            </a:pPr>
            <a:r>
              <a:t/>
            </a:r>
            <a:endParaRPr sz="1500">
              <a:solidFill>
                <a:srgbClr val="333333"/>
              </a:solidFill>
            </a:endParaRPr>
          </a:p>
        </p:txBody>
      </p:sp>
      <p:sp>
        <p:nvSpPr>
          <p:cNvPr id="309" name="Google Shape;309;p54"/>
          <p:cNvSpPr/>
          <p:nvPr/>
        </p:nvSpPr>
        <p:spPr>
          <a:xfrm>
            <a:off x="-2000" y="116875"/>
            <a:ext cx="3302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Виды связанные с изменениями</a:t>
            </a:r>
            <a:endParaRPr b="1">
              <a:solidFill>
                <a:srgbClr val="696E7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3" name="Shape 313"/>
        <p:cNvGrpSpPr/>
        <p:nvPr/>
      </p:nvGrpSpPr>
      <p:grpSpPr>
        <a:xfrm>
          <a:off x="0" y="0"/>
          <a:ext cx="0" cy="0"/>
          <a:chOff x="0" y="0"/>
          <a:chExt cx="0" cy="0"/>
        </a:xfrm>
      </p:grpSpPr>
      <p:sp>
        <p:nvSpPr>
          <p:cNvPr id="314" name="Google Shape;314;p55"/>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177800" marR="0" rtl="0" algn="ctr">
              <a:lnSpc>
                <a:spcPct val="90000"/>
              </a:lnSpc>
              <a:spcBef>
                <a:spcPts val="0"/>
              </a:spcBef>
              <a:spcAft>
                <a:spcPts val="0"/>
              </a:spcAft>
              <a:buNone/>
            </a:pPr>
            <a:r>
              <a:rPr lang="ru" sz="2500"/>
              <a:t>    </a:t>
            </a:r>
            <a:r>
              <a:rPr b="1" lang="ru" sz="2000"/>
              <a:t>Т</a:t>
            </a:r>
            <a:r>
              <a:rPr b="1" lang="ru" sz="2000"/>
              <a:t>естирование сборки</a:t>
            </a:r>
            <a:br>
              <a:rPr lang="ru" sz="1600"/>
            </a:br>
            <a:endParaRPr sz="1600">
              <a:solidFill>
                <a:srgbClr val="333333"/>
              </a:solidFill>
            </a:endParaRPr>
          </a:p>
          <a:p>
            <a:pPr indent="457200" lvl="0" marL="0" rtl="0">
              <a:lnSpc>
                <a:spcPct val="115000"/>
              </a:lnSpc>
              <a:spcBef>
                <a:spcPts val="0"/>
              </a:spcBef>
              <a:spcAft>
                <a:spcPts val="1000"/>
              </a:spcAft>
              <a:buNone/>
            </a:pPr>
            <a:r>
              <a:rPr b="1" lang="ru" sz="1600">
                <a:solidFill>
                  <a:srgbClr val="333333"/>
                </a:solidFill>
              </a:rPr>
              <a:t>Тестирование сборки</a:t>
            </a:r>
            <a:r>
              <a:rPr lang="ru" sz="1600">
                <a:solidFill>
                  <a:srgbClr val="333333"/>
                </a:solidFill>
              </a:rPr>
              <a:t> (Build Verification Test) , направленное на определение соответствия выпущенной версии критериям качества для начала тестирования. По своим целям является аналогом дымового тестирования, направленного на приемку новой версии в дальнейшее тестирование или эксплуатацию. Вглубь оно может проникать дальше, в зависимости от требований к качеству выпущенной версии.</a:t>
            </a:r>
            <a:endParaRPr sz="1500">
              <a:solidFill>
                <a:srgbClr val="333333"/>
              </a:solidFill>
            </a:endParaRPr>
          </a:p>
        </p:txBody>
      </p:sp>
      <p:pic>
        <p:nvPicPr>
          <p:cNvPr id="315" name="Google Shape;315;p55"/>
          <p:cNvPicPr preferRelativeResize="0"/>
          <p:nvPr/>
        </p:nvPicPr>
        <p:blipFill>
          <a:blip r:embed="rId3">
            <a:alphaModFix/>
          </a:blip>
          <a:stretch>
            <a:fillRect/>
          </a:stretch>
        </p:blipFill>
        <p:spPr>
          <a:xfrm>
            <a:off x="784150" y="2803675"/>
            <a:ext cx="7577150" cy="2047875"/>
          </a:xfrm>
          <a:prstGeom prst="rect">
            <a:avLst/>
          </a:prstGeom>
          <a:noFill/>
          <a:ln>
            <a:noFill/>
          </a:ln>
        </p:spPr>
      </p:pic>
      <p:sp>
        <p:nvSpPr>
          <p:cNvPr id="316" name="Google Shape;316;p55"/>
          <p:cNvSpPr/>
          <p:nvPr/>
        </p:nvSpPr>
        <p:spPr>
          <a:xfrm>
            <a:off x="-2000" y="116875"/>
            <a:ext cx="3302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ru">
                <a:solidFill>
                  <a:srgbClr val="696E71"/>
                </a:solidFill>
                <a:latin typeface="Calibri"/>
                <a:ea typeface="Calibri"/>
                <a:cs typeface="Calibri"/>
                <a:sym typeface="Calibri"/>
              </a:rPr>
              <a:t>Виды связанные с изменениями</a:t>
            </a:r>
            <a:endParaRPr b="1">
              <a:solidFill>
                <a:srgbClr val="696E7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0" name="Shape 320"/>
        <p:cNvGrpSpPr/>
        <p:nvPr/>
      </p:nvGrpSpPr>
      <p:grpSpPr>
        <a:xfrm>
          <a:off x="0" y="0"/>
          <a:ext cx="0" cy="0"/>
          <a:chOff x="0" y="0"/>
          <a:chExt cx="0" cy="0"/>
        </a:xfrm>
      </p:grpSpPr>
      <p:sp>
        <p:nvSpPr>
          <p:cNvPr id="321" name="Google Shape;321;p56"/>
          <p:cNvSpPr txBox="1"/>
          <p:nvPr>
            <p:ph type="ctrTitle"/>
          </p:nvPr>
        </p:nvSpPr>
        <p:spPr>
          <a:xfrm>
            <a:off x="180000" y="2500800"/>
            <a:ext cx="8784000" cy="1311000"/>
          </a:xfrm>
          <a:prstGeom prst="rect">
            <a:avLst/>
          </a:prstGeom>
          <a:noFill/>
          <a:ln>
            <a:noFill/>
          </a:ln>
        </p:spPr>
        <p:txBody>
          <a:bodyPr anchorCtr="0" anchor="ctr" bIns="20775" lIns="41575" spcFirstLastPara="1" rIns="41575" wrap="square" tIns="20775">
            <a:noAutofit/>
          </a:bodyPr>
          <a:lstStyle/>
          <a:p>
            <a:pPr indent="0" lvl="0" marL="0" rtl="0">
              <a:lnSpc>
                <a:spcPct val="115000"/>
              </a:lnSpc>
              <a:spcBef>
                <a:spcPts val="0"/>
              </a:spcBef>
              <a:spcAft>
                <a:spcPts val="0"/>
              </a:spcAft>
              <a:buClr>
                <a:schemeClr val="dk1"/>
              </a:buClr>
              <a:buSzPts val="1100"/>
              <a:buFont typeface="Arial"/>
              <a:buNone/>
            </a:pPr>
            <a:r>
              <a:rPr lang="ru" sz="4500">
                <a:solidFill>
                  <a:srgbClr val="58595B"/>
                </a:solidFill>
              </a:rPr>
              <a:t>Спасибо за внимание!</a:t>
            </a:r>
            <a:endParaRPr sz="4500"/>
          </a:p>
        </p:txBody>
      </p:sp>
      <p:sp>
        <p:nvSpPr>
          <p:cNvPr id="322" name="Google Shape;322;p56"/>
          <p:cNvSpPr txBox="1"/>
          <p:nvPr/>
        </p:nvSpPr>
        <p:spPr>
          <a:xfrm>
            <a:off x="3872336" y="4679256"/>
            <a:ext cx="1398600" cy="189900"/>
          </a:xfrm>
          <a:prstGeom prst="rect">
            <a:avLst/>
          </a:prstGeom>
          <a:noFill/>
          <a:ln>
            <a:noFill/>
          </a:ln>
        </p:spPr>
        <p:txBody>
          <a:bodyPr anchorCtr="0" anchor="t" bIns="0" lIns="0" spcFirstLastPara="1" rIns="0" wrap="square" tIns="6925">
            <a:noAutofit/>
          </a:bodyPr>
          <a:lstStyle/>
          <a:p>
            <a:pPr indent="0" lvl="0" marL="0" marR="0" rtl="0" algn="l">
              <a:lnSpc>
                <a:spcPct val="100000"/>
              </a:lnSpc>
              <a:spcBef>
                <a:spcPts val="0"/>
              </a:spcBef>
              <a:spcAft>
                <a:spcPts val="0"/>
              </a:spcAft>
              <a:buClr>
                <a:srgbClr val="939598"/>
              </a:buClr>
              <a:buSzPts val="1100"/>
              <a:buFont typeface="Calibri"/>
              <a:buNone/>
            </a:pPr>
            <a:r>
              <a:rPr lang="ru" sz="1100" u="sng">
                <a:solidFill>
                  <a:schemeClr val="hlink"/>
                </a:solidFill>
                <a:latin typeface="Calibri"/>
                <a:ea typeface="Calibri"/>
                <a:cs typeface="Calibri"/>
                <a:sym typeface="Calibri"/>
                <a:hlinkClick r:id="rId3"/>
              </a:rPr>
              <a:t>www.andersenlab.com</a:t>
            </a:r>
            <a:endParaRPr sz="6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6" name="Shape 326"/>
        <p:cNvGrpSpPr/>
        <p:nvPr/>
      </p:nvGrpSpPr>
      <p:grpSpPr>
        <a:xfrm>
          <a:off x="0" y="0"/>
          <a:ext cx="0" cy="0"/>
          <a:chOff x="0" y="0"/>
          <a:chExt cx="0" cy="0"/>
        </a:xfrm>
      </p:grpSpPr>
      <p:sp>
        <p:nvSpPr>
          <p:cNvPr id="327" name="Google Shape;327;p57"/>
          <p:cNvSpPr txBox="1"/>
          <p:nvPr>
            <p:ph idx="1" type="body"/>
          </p:nvPr>
        </p:nvSpPr>
        <p:spPr>
          <a:xfrm>
            <a:off x="180000" y="503275"/>
            <a:ext cx="8784000" cy="4536600"/>
          </a:xfrm>
          <a:prstGeom prst="rect">
            <a:avLst/>
          </a:prstGeom>
          <a:noFill/>
          <a:ln>
            <a:noFill/>
          </a:ln>
        </p:spPr>
        <p:txBody>
          <a:bodyPr anchorCtr="0" anchor="t" bIns="20775" lIns="41575" spcFirstLastPara="1" rIns="41575" wrap="square" tIns="20775">
            <a:noAutofit/>
          </a:bodyPr>
          <a:lstStyle/>
          <a:p>
            <a:pPr indent="0" lvl="0" marL="457200" marR="0" rtl="0">
              <a:lnSpc>
                <a:spcPct val="90000"/>
              </a:lnSpc>
              <a:spcBef>
                <a:spcPts val="0"/>
              </a:spcBef>
              <a:spcAft>
                <a:spcPts val="0"/>
              </a:spcAft>
              <a:buNone/>
            </a:pPr>
            <a:r>
              <a:t/>
            </a:r>
            <a:endParaRPr sz="1600"/>
          </a:p>
          <a:p>
            <a:pPr indent="0" lvl="0" marL="457200" marR="0" rtl="0">
              <a:lnSpc>
                <a:spcPct val="90000"/>
              </a:lnSpc>
              <a:spcBef>
                <a:spcPts val="0"/>
              </a:spcBef>
              <a:spcAft>
                <a:spcPts val="0"/>
              </a:spcAft>
              <a:buNone/>
            </a:pPr>
            <a:r>
              <a:t/>
            </a:r>
            <a:endParaRPr sz="1600"/>
          </a:p>
          <a:p>
            <a:pPr indent="-317500" lvl="0" marL="457200" marR="0" rtl="0">
              <a:lnSpc>
                <a:spcPct val="100000"/>
              </a:lnSpc>
              <a:spcBef>
                <a:spcPts val="0"/>
              </a:spcBef>
              <a:spcAft>
                <a:spcPts val="0"/>
              </a:spcAft>
              <a:buClr>
                <a:srgbClr val="0000FF"/>
              </a:buClr>
              <a:buSzPts val="1400"/>
              <a:buChar char="-"/>
            </a:pPr>
            <a:r>
              <a:rPr lang="ru" sz="1400" u="sng">
                <a:solidFill>
                  <a:schemeClr val="hlink"/>
                </a:solidFill>
                <a:hlinkClick r:id="rId3"/>
              </a:rPr>
              <a:t>https://qaevolution.ru/yuzabiliti-testirovanie/kratkij-konspekt-poleznyx-znanij-po-testirovaniyu-dokumentacii/</a:t>
            </a:r>
            <a:r>
              <a:rPr lang="ru" sz="1400">
                <a:solidFill>
                  <a:srgbClr val="333333"/>
                </a:solidFill>
              </a:rPr>
              <a:t> </a:t>
            </a:r>
            <a:endParaRPr sz="1400">
              <a:solidFill>
                <a:srgbClr val="333333"/>
              </a:solidFill>
            </a:endParaRPr>
          </a:p>
          <a:p>
            <a:pPr indent="-317500" lvl="0" marL="457200" marR="0" rtl="0">
              <a:lnSpc>
                <a:spcPct val="100000"/>
              </a:lnSpc>
              <a:spcBef>
                <a:spcPts val="0"/>
              </a:spcBef>
              <a:spcAft>
                <a:spcPts val="0"/>
              </a:spcAft>
              <a:buClr>
                <a:srgbClr val="0000FF"/>
              </a:buClr>
              <a:buSzPts val="1400"/>
              <a:buChar char="-"/>
            </a:pPr>
            <a:r>
              <a:rPr lang="ru" sz="1400" u="sng">
                <a:solidFill>
                  <a:schemeClr val="hlink"/>
                </a:solidFill>
                <a:hlinkClick r:id="rId4"/>
              </a:rPr>
              <a:t>https://habr.com/post/346290/</a:t>
            </a:r>
            <a:r>
              <a:rPr lang="ru" sz="1400">
                <a:solidFill>
                  <a:srgbClr val="333333"/>
                </a:solidFill>
              </a:rPr>
              <a:t> </a:t>
            </a:r>
            <a:endParaRPr sz="1400">
              <a:solidFill>
                <a:srgbClr val="333333"/>
              </a:solidFill>
            </a:endParaRPr>
          </a:p>
          <a:p>
            <a:pPr indent="-317500" lvl="0" marL="457200" marR="0" rtl="0">
              <a:lnSpc>
                <a:spcPct val="100000"/>
              </a:lnSpc>
              <a:spcBef>
                <a:spcPts val="0"/>
              </a:spcBef>
              <a:spcAft>
                <a:spcPts val="0"/>
              </a:spcAft>
              <a:buClr>
                <a:srgbClr val="0000FF"/>
              </a:buClr>
              <a:buSzPts val="1400"/>
              <a:buChar char="-"/>
            </a:pPr>
            <a:r>
              <a:rPr lang="ru" sz="1400" u="sng">
                <a:solidFill>
                  <a:schemeClr val="hlink"/>
                </a:solidFill>
                <a:hlinkClick r:id="rId5"/>
              </a:rPr>
              <a:t>https://www.altexsoft.com/blog/business/software-documentation-types-and-best-practices/</a:t>
            </a:r>
            <a:r>
              <a:rPr lang="ru" sz="1400">
                <a:solidFill>
                  <a:srgbClr val="333333"/>
                </a:solidFill>
              </a:rPr>
              <a:t> </a:t>
            </a:r>
            <a:endParaRPr sz="1400">
              <a:solidFill>
                <a:srgbClr val="333333"/>
              </a:solidFill>
            </a:endParaRPr>
          </a:p>
          <a:p>
            <a:pPr indent="-317500" lvl="0" marL="457200" marR="0" rtl="0">
              <a:lnSpc>
                <a:spcPct val="100000"/>
              </a:lnSpc>
              <a:spcBef>
                <a:spcPts val="0"/>
              </a:spcBef>
              <a:spcAft>
                <a:spcPts val="0"/>
              </a:spcAft>
              <a:buClr>
                <a:srgbClr val="0000FF"/>
              </a:buClr>
              <a:buSzPts val="1400"/>
              <a:buChar char="-"/>
            </a:pPr>
            <a:r>
              <a:rPr lang="ru" sz="1400" u="sng">
                <a:solidFill>
                  <a:schemeClr val="hlink"/>
                </a:solidFill>
                <a:hlinkClick r:id="rId6"/>
              </a:rPr>
              <a:t>https://www.guru99.com/types-of-software-testing.html</a:t>
            </a:r>
            <a:r>
              <a:rPr lang="ru" sz="1400">
                <a:solidFill>
                  <a:srgbClr val="333333"/>
                </a:solidFill>
              </a:rPr>
              <a:t> </a:t>
            </a:r>
            <a:endParaRPr sz="1400">
              <a:solidFill>
                <a:srgbClr val="333333"/>
              </a:solidFill>
            </a:endParaRPr>
          </a:p>
          <a:p>
            <a:pPr indent="0" lvl="0" marL="457200" marR="0" rtl="0">
              <a:lnSpc>
                <a:spcPct val="100000"/>
              </a:lnSpc>
              <a:spcBef>
                <a:spcPts val="0"/>
              </a:spcBef>
              <a:spcAft>
                <a:spcPts val="0"/>
              </a:spcAft>
              <a:buNone/>
            </a:pPr>
            <a:r>
              <a:t/>
            </a:r>
            <a:endParaRPr sz="1600">
              <a:solidFill>
                <a:srgbClr val="333333"/>
              </a:solidFill>
            </a:endParaRPr>
          </a:p>
        </p:txBody>
      </p:sp>
      <p:sp>
        <p:nvSpPr>
          <p:cNvPr id="328" name="Google Shape;328;p57"/>
          <p:cNvSpPr/>
          <p:nvPr/>
        </p:nvSpPr>
        <p:spPr>
          <a:xfrm>
            <a:off x="-2000" y="116875"/>
            <a:ext cx="3302100" cy="386400"/>
          </a:xfrm>
          <a:prstGeom prst="roundRect">
            <a:avLst>
              <a:gd fmla="val 16667" name="adj"/>
            </a:avLst>
          </a:prstGeom>
          <a:solidFill>
            <a:srgbClr val="FEDA00"/>
          </a:solidFill>
          <a:ln cap="flat" cmpd="sng" w="9525">
            <a:solidFill>
              <a:srgbClr val="FEDA00"/>
            </a:solidFill>
            <a:prstDash val="solid"/>
            <a:round/>
            <a:headEnd len="sm" w="sm" type="none"/>
            <a:tailEnd len="sm" w="sm" type="none"/>
          </a:ln>
        </p:spPr>
        <p:txBody>
          <a:bodyPr anchorCtr="0" anchor="ctr" bIns="91425" lIns="91425" spcFirstLastPara="1" rIns="91425" wrap="square" tIns="91425">
            <a:noAutofit/>
          </a:bodyPr>
          <a:lstStyle/>
          <a:p>
            <a:pPr indent="0" lvl="0" marL="0" rtl="0">
              <a:spcBef>
                <a:spcPts val="0"/>
              </a:spcBef>
              <a:spcAft>
                <a:spcPts val="0"/>
              </a:spcAft>
              <a:buNone/>
            </a:pPr>
            <a:r>
              <a:rPr b="1" lang="ru">
                <a:solidFill>
                  <a:srgbClr val="696E71"/>
                </a:solidFill>
                <a:latin typeface="Calibri"/>
                <a:ea typeface="Calibri"/>
                <a:cs typeface="Calibri"/>
                <a:sym typeface="Calibri"/>
              </a:rPr>
              <a:t>      Список литературы</a:t>
            </a:r>
            <a:endParaRPr b="1">
              <a:solidFill>
                <a:srgbClr val="696E7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1_Office Theme">
  <a:themeElements>
    <a:clrScheme name="Тема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Office Theme">
  <a:themeElements>
    <a:clrScheme name="Тема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